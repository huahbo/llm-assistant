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notesSlides/notesSlide8.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9.xml" ContentType="application/vnd.openxmlformats-officedocument.presentationml.notesSlide+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notesSlides/notesSlide11.xml" ContentType="application/vnd.openxmlformats-officedocument.presentationml.notesSlide+xml"/>
  <Override PartName="/ppt/tags/tag50.xml" ContentType="application/vnd.openxmlformats-officedocument.presentationml.tags+xml"/>
  <Override PartName="/ppt/notesSlides/notesSlide1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tags/tag71.xml" ContentType="application/vnd.openxmlformats-officedocument.presentationml.tags+xml"/>
  <Override PartName="/ppt/notesSlides/notesSlide14.xml" ContentType="application/vnd.openxmlformats-officedocument.presentationml.notesSlide+xml"/>
  <Override PartName="/ppt/tags/tag72.xml" ContentType="application/vnd.openxmlformats-officedocument.presentationml.tags+xml"/>
  <Override PartName="/ppt/notesSlides/notesSlide15.xml" ContentType="application/vnd.openxmlformats-officedocument.presentationml.notesSlide+xml"/>
  <Override PartName="/ppt/tags/tag73.xml" ContentType="application/vnd.openxmlformats-officedocument.presentationml.tags+xml"/>
  <Override PartName="/ppt/notesSlides/notesSlide16.xml" ContentType="application/vnd.openxmlformats-officedocument.presentationml.notesSlide+xml"/>
  <Override PartName="/ppt/tags/tag74.xml" ContentType="application/vnd.openxmlformats-officedocument.presentationml.tags+xml"/>
  <Override PartName="/ppt/notesSlides/notesSlide17.xml" ContentType="application/vnd.openxmlformats-officedocument.presentationml.notesSlide+xml"/>
  <Override PartName="/ppt/tags/tag75.xml" ContentType="application/vnd.openxmlformats-officedocument.presentationml.tags+xml"/>
  <Override PartName="/ppt/notesSlides/notesSlide18.xml" ContentType="application/vnd.openxmlformats-officedocument.presentationml.notesSlide+xml"/>
  <Override PartName="/ppt/tags/tag76.xml" ContentType="application/vnd.openxmlformats-officedocument.presentationml.tags+xml"/>
  <Override PartName="/ppt/notesSlides/notesSlide19.xml" ContentType="application/vnd.openxmlformats-officedocument.presentationml.notesSlide+xml"/>
  <Override PartName="/ppt/tags/tag77.xml" ContentType="application/vnd.openxmlformats-officedocument.presentationml.tags+xml"/>
  <Override PartName="/ppt/notesSlides/notesSlide20.xml" ContentType="application/vnd.openxmlformats-officedocument.presentationml.notesSlide+xml"/>
  <Override PartName="/ppt/tags/tag78.xml" ContentType="application/vnd.openxmlformats-officedocument.presentationml.tags+xml"/>
  <Override PartName="/ppt/notesSlides/notesSlide21.xml" ContentType="application/vnd.openxmlformats-officedocument.presentationml.notesSlide+xml"/>
  <Override PartName="/ppt/tags/tag79.xml" ContentType="application/vnd.openxmlformats-officedocument.presentationml.tags+xml"/>
  <Override PartName="/ppt/notesSlides/notesSlide22.xml" ContentType="application/vnd.openxmlformats-officedocument.presentationml.notesSlide+xml"/>
  <Override PartName="/ppt/tags/tag80.xml" ContentType="application/vnd.openxmlformats-officedocument.presentationml.tags+xml"/>
  <Override PartName="/ppt/notesSlides/notesSlide23.xml" ContentType="application/vnd.openxmlformats-officedocument.presentationml.notesSlide+xml"/>
  <Override PartName="/ppt/tags/tag81.xml" ContentType="application/vnd.openxmlformats-officedocument.presentationml.tags+xml"/>
  <Override PartName="/ppt/notesSlides/notesSlide24.xml" ContentType="application/vnd.openxmlformats-officedocument.presentationml.notesSlide+xml"/>
  <Override PartName="/ppt/tags/tag82.xml" ContentType="application/vnd.openxmlformats-officedocument.presentationml.tags+xml"/>
  <Override PartName="/ppt/notesSlides/notesSlide25.xml" ContentType="application/vnd.openxmlformats-officedocument.presentationml.notesSlide+xml"/>
  <Override PartName="/ppt/tags/tag83.xml" ContentType="application/vnd.openxmlformats-officedocument.presentationml.tags+xml"/>
  <Override PartName="/ppt/notesSlides/notesSlide26.xml" ContentType="application/vnd.openxmlformats-officedocument.presentationml.notesSlide+xml"/>
  <Override PartName="/ppt/tags/tag84.xml" ContentType="application/vnd.openxmlformats-officedocument.presentationml.tags+xml"/>
  <Override PartName="/ppt/notesSlides/notesSlide27.xml" ContentType="application/vnd.openxmlformats-officedocument.presentationml.notesSlide+xml"/>
  <Override PartName="/ppt/tags/tag85.xml" ContentType="application/vnd.openxmlformats-officedocument.presentationml.tags+xml"/>
  <Override PartName="/ppt/notesSlides/notesSlide28.xml" ContentType="application/vnd.openxmlformats-officedocument.presentationml.notesSlide+xml"/>
  <Override PartName="/ppt/tags/tag86.xml" ContentType="application/vnd.openxmlformats-officedocument.presentationml.tags+xml"/>
  <Override PartName="/ppt/notesSlides/notesSlide29.xml" ContentType="application/vnd.openxmlformats-officedocument.presentationml.notesSlide+xml"/>
  <Override PartName="/ppt/tags/tag87.xml" ContentType="application/vnd.openxmlformats-officedocument.presentationml.tags+xml"/>
  <Override PartName="/ppt/notesSlides/notesSlide30.xml" ContentType="application/vnd.openxmlformats-officedocument.presentationml.notesSlide+xml"/>
  <Override PartName="/ppt/tags/tag88.xml" ContentType="application/vnd.openxmlformats-officedocument.presentationml.tags+xml"/>
  <Override PartName="/ppt/notesSlides/notesSlide31.xml" ContentType="application/vnd.openxmlformats-officedocument.presentationml.notesSlide+xml"/>
  <Override PartName="/ppt/tags/tag89.xml" ContentType="application/vnd.openxmlformats-officedocument.presentationml.tags+xml"/>
  <Override PartName="/ppt/notesSlides/notesSlide32.xml" ContentType="application/vnd.openxmlformats-officedocument.presentationml.notesSlide+xml"/>
  <Override PartName="/ppt/tags/tag90.xml" ContentType="application/vnd.openxmlformats-officedocument.presentationml.tags+xml"/>
  <Override PartName="/ppt/notesSlides/notesSlide33.xml" ContentType="application/vnd.openxmlformats-officedocument.presentationml.notesSlide+xml"/>
  <Override PartName="/ppt/tags/tag91.xml" ContentType="application/vnd.openxmlformats-officedocument.presentationml.tags+xml"/>
  <Override PartName="/ppt/notesSlides/notesSlide34.xml" ContentType="application/vnd.openxmlformats-officedocument.presentationml.notesSlide+xml"/>
  <Override PartName="/ppt/tags/tag92.xml" ContentType="application/vnd.openxmlformats-officedocument.presentationml.tags+xml"/>
  <Override PartName="/ppt/notesSlides/notesSlide35.xml" ContentType="application/vnd.openxmlformats-officedocument.presentationml.notesSlide+xml"/>
  <Override PartName="/ppt/tags/tag93.xml" ContentType="application/vnd.openxmlformats-officedocument.presentationml.tags+xml"/>
  <Override PartName="/ppt/notesSlides/notesSlide36.xml" ContentType="application/vnd.openxmlformats-officedocument.presentationml.notesSlide+xml"/>
  <Override PartName="/ppt/tags/tag94.xml" ContentType="application/vnd.openxmlformats-officedocument.presentationml.tags+xml"/>
  <Override PartName="/ppt/notesSlides/notesSlide37.xml" ContentType="application/vnd.openxmlformats-officedocument.presentationml.notesSlide+xml"/>
  <Override PartName="/ppt/tags/tag95.xml" ContentType="application/vnd.openxmlformats-officedocument.presentationml.tags+xml"/>
  <Override PartName="/ppt/notesSlides/notesSlide38.xml" ContentType="application/vnd.openxmlformats-officedocument.presentationml.notesSlide+xml"/>
  <Override PartName="/ppt/tags/tag96.xml" ContentType="application/vnd.openxmlformats-officedocument.presentationml.tags+xml"/>
  <Override PartName="/ppt/notesSlides/notesSlide39.xml" ContentType="application/vnd.openxmlformats-officedocument.presentationml.notesSlide+xml"/>
  <Override PartName="/ppt/tags/tag97.xml" ContentType="application/vnd.openxmlformats-officedocument.presentationml.tags+xml"/>
  <Override PartName="/ppt/notesSlides/notesSlide40.xml" ContentType="application/vnd.openxmlformats-officedocument.presentationml.notesSlide+xml"/>
  <Override PartName="/ppt/tags/tag98.xml" ContentType="application/vnd.openxmlformats-officedocument.presentationml.tags+xml"/>
  <Override PartName="/ppt/notesSlides/notesSlide41.xml" ContentType="application/vnd.openxmlformats-officedocument.presentationml.notesSlide+xml"/>
  <Override PartName="/ppt/tags/tag99.xml" ContentType="application/vnd.openxmlformats-officedocument.presentationml.tags+xml"/>
  <Override PartName="/ppt/notesSlides/notesSlide42.xml" ContentType="application/vnd.openxmlformats-officedocument.presentationml.notesSlide+xml"/>
  <Override PartName="/ppt/tags/tag100.xml" ContentType="application/vnd.openxmlformats-officedocument.presentationml.tags+xml"/>
  <Override PartName="/ppt/notesSlides/notesSlide43.xml" ContentType="application/vnd.openxmlformats-officedocument.presentationml.notesSlide+xml"/>
  <Override PartName="/ppt/tags/tag101.xml" ContentType="application/vnd.openxmlformats-officedocument.presentationml.tags+xml"/>
  <Override PartName="/ppt/notesSlides/notesSlide44.xml" ContentType="application/vnd.openxmlformats-officedocument.presentationml.notesSlide+xml"/>
  <Override PartName="/ppt/tags/tag102.xml" ContentType="application/vnd.openxmlformats-officedocument.presentationml.tags+xml"/>
  <Override PartName="/ppt/notesSlides/notesSlide45.xml" ContentType="application/vnd.openxmlformats-officedocument.presentationml.notesSlide+xml"/>
  <Override PartName="/ppt/tags/tag103.xml" ContentType="application/vnd.openxmlformats-officedocument.presentationml.tags+xml"/>
  <Override PartName="/ppt/notesSlides/notesSlide46.xml" ContentType="application/vnd.openxmlformats-officedocument.presentationml.notesSlide+xml"/>
  <Override PartName="/ppt/tags/tag104.xml" ContentType="application/vnd.openxmlformats-officedocument.presentationml.tags+xml"/>
  <Override PartName="/ppt/notesSlides/notesSlide47.xml" ContentType="application/vnd.openxmlformats-officedocument.presentationml.notesSlide+xml"/>
  <Override PartName="/ppt/tags/tag105.xml" ContentType="application/vnd.openxmlformats-officedocument.presentationml.tags+xml"/>
  <Override PartName="/ppt/notesSlides/notesSlide48.xml" ContentType="application/vnd.openxmlformats-officedocument.presentationml.notesSlide+xml"/>
  <Override PartName="/ppt/tags/tag106.xml" ContentType="application/vnd.openxmlformats-officedocument.presentationml.tags+xml"/>
  <Override PartName="/ppt/notesSlides/notesSlide49.xml" ContentType="application/vnd.openxmlformats-officedocument.presentationml.notesSlide+xml"/>
  <Override PartName="/ppt/tags/tag107.xml" ContentType="application/vnd.openxmlformats-officedocument.presentationml.tags+xml"/>
  <Override PartName="/ppt/notesSlides/notesSlide50.xml" ContentType="application/vnd.openxmlformats-officedocument.presentationml.notesSlide+xml"/>
  <Override PartName="/ppt/tags/tag108.xml" ContentType="application/vnd.openxmlformats-officedocument.presentationml.tags+xml"/>
  <Override PartName="/ppt/notesSlides/notesSlide51.xml" ContentType="application/vnd.openxmlformats-officedocument.presentationml.notesSlide+xml"/>
  <Override PartName="/ppt/tags/tag109.xml" ContentType="application/vnd.openxmlformats-officedocument.presentationml.tags+xml"/>
  <Override PartName="/ppt/notesSlides/notesSlide52.xml" ContentType="application/vnd.openxmlformats-officedocument.presentationml.notesSlide+xml"/>
  <Override PartName="/ppt/tags/tag110.xml" ContentType="application/vnd.openxmlformats-officedocument.presentationml.tags+xml"/>
  <Override PartName="/ppt/notesSlides/notesSlide53.xml" ContentType="application/vnd.openxmlformats-officedocument.presentationml.notesSlide+xml"/>
  <Override PartName="/ppt/tags/tag111.xml" ContentType="application/vnd.openxmlformats-officedocument.presentationml.tags+xml"/>
  <Override PartName="/ppt/notesSlides/notesSlide54.xml" ContentType="application/vnd.openxmlformats-officedocument.presentationml.notesSlide+xml"/>
  <Override PartName="/ppt/tags/tag112.xml" ContentType="application/vnd.openxmlformats-officedocument.presentationml.tags+xml"/>
  <Override PartName="/ppt/notesSlides/notesSlide55.xml" ContentType="application/vnd.openxmlformats-officedocument.presentationml.notesSlide+xml"/>
  <Override PartName="/ppt/tags/tag113.xml" ContentType="application/vnd.openxmlformats-officedocument.presentationml.tags+xml"/>
  <Override PartName="/ppt/notesSlides/notesSlide56.xml" ContentType="application/vnd.openxmlformats-officedocument.presentationml.notesSlide+xml"/>
  <Override PartName="/ppt/tags/tag114.xml" ContentType="application/vnd.openxmlformats-officedocument.presentationml.tags+xml"/>
  <Override PartName="/ppt/notesSlides/notesSlide57.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58.xml" ContentType="application/vnd.openxmlformats-officedocument.presentationml.notesSlide+xml"/>
  <Override PartName="/ppt/tags/tag135.xml" ContentType="application/vnd.openxmlformats-officedocument.presentationml.tags+xml"/>
  <Override PartName="/ppt/notesSlides/notesSlide59.xml" ContentType="application/vnd.openxmlformats-officedocument.presentationml.notesSlide+xml"/>
  <Override PartName="/ppt/tags/tag136.xml" ContentType="application/vnd.openxmlformats-officedocument.presentationml.tags+xml"/>
  <Override PartName="/ppt/notesSlides/notesSlide60.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61.xml" ContentType="application/vnd.openxmlformats-officedocument.presentationml.notesSlide+xml"/>
  <Override PartName="/ppt/tags/tag157.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66"/>
  </p:notesMasterIdLst>
  <p:sldIdLst>
    <p:sldId id="256" r:id="rId3"/>
    <p:sldId id="1164" r:id="rId4"/>
    <p:sldId id="1143" r:id="rId5"/>
    <p:sldId id="1237" r:id="rId6"/>
    <p:sldId id="1238" r:id="rId7"/>
    <p:sldId id="1239" r:id="rId8"/>
    <p:sldId id="1240" r:id="rId9"/>
    <p:sldId id="1188" r:id="rId10"/>
    <p:sldId id="1233" r:id="rId11"/>
    <p:sldId id="1224" r:id="rId12"/>
    <p:sldId id="1225" r:id="rId13"/>
    <p:sldId id="1226" r:id="rId14"/>
    <p:sldId id="1234" r:id="rId15"/>
    <p:sldId id="1241" r:id="rId16"/>
    <p:sldId id="1288" r:id="rId17"/>
    <p:sldId id="1287" r:id="rId18"/>
    <p:sldId id="1245" r:id="rId19"/>
    <p:sldId id="1246" r:id="rId20"/>
    <p:sldId id="1242" r:id="rId21"/>
    <p:sldId id="1255" r:id="rId22"/>
    <p:sldId id="1247" r:id="rId23"/>
    <p:sldId id="1248" r:id="rId24"/>
    <p:sldId id="1243" r:id="rId25"/>
    <p:sldId id="1249" r:id="rId26"/>
    <p:sldId id="1256" r:id="rId27"/>
    <p:sldId id="1250" r:id="rId28"/>
    <p:sldId id="1251" r:id="rId29"/>
    <p:sldId id="1257" r:id="rId30"/>
    <p:sldId id="1261" r:id="rId31"/>
    <p:sldId id="1262" r:id="rId32"/>
    <p:sldId id="1263" r:id="rId33"/>
    <p:sldId id="1264" r:id="rId34"/>
    <p:sldId id="1268" r:id="rId35"/>
    <p:sldId id="1269" r:id="rId36"/>
    <p:sldId id="1270" r:id="rId37"/>
    <p:sldId id="1271" r:id="rId38"/>
    <p:sldId id="1272" r:id="rId39"/>
    <p:sldId id="1273" r:id="rId40"/>
    <p:sldId id="1274" r:id="rId41"/>
    <p:sldId id="1275" r:id="rId42"/>
    <p:sldId id="1276" r:id="rId43"/>
    <p:sldId id="1277" r:id="rId44"/>
    <p:sldId id="1278" r:id="rId45"/>
    <p:sldId id="1279" r:id="rId46"/>
    <p:sldId id="1280" r:id="rId47"/>
    <p:sldId id="1281" r:id="rId48"/>
    <p:sldId id="1282" r:id="rId49"/>
    <p:sldId id="1283" r:id="rId50"/>
    <p:sldId id="1284" r:id="rId51"/>
    <p:sldId id="1285" r:id="rId52"/>
    <p:sldId id="1286" r:id="rId53"/>
    <p:sldId id="1266" r:id="rId54"/>
    <p:sldId id="1289" r:id="rId55"/>
    <p:sldId id="1267" r:id="rId56"/>
    <p:sldId id="1290" r:id="rId57"/>
    <p:sldId id="1293" r:id="rId58"/>
    <p:sldId id="1292" r:id="rId59"/>
    <p:sldId id="1235" r:id="rId60"/>
    <p:sldId id="1231" r:id="rId61"/>
    <p:sldId id="1244" r:id="rId62"/>
    <p:sldId id="1236" r:id="rId63"/>
    <p:sldId id="1232" r:id="rId64"/>
    <p:sldId id="306" r:id="rId65"/>
  </p:sldIdLst>
  <p:sldSz cx="12192000" cy="6858000"/>
  <p:notesSz cx="6858000" cy="9144000"/>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A4E4304-33BE-47D1-869B-CF52FCCDDBF3}">
          <p14:sldIdLst>
            <p14:sldId id="256"/>
          </p14:sldIdLst>
        </p14:section>
        <p14:section name="课题研究目标及任务" id="{2EAA28EA-FCDA-419A-B022-E39AE81B04B5}">
          <p14:sldIdLst>
            <p14:sldId id="1164"/>
            <p14:sldId id="1143"/>
            <p14:sldId id="1237"/>
            <p14:sldId id="1238"/>
            <p14:sldId id="1239"/>
            <p14:sldId id="1240"/>
            <p14:sldId id="1188"/>
            <p14:sldId id="1233"/>
            <p14:sldId id="1224"/>
            <p14:sldId id="1225"/>
            <p14:sldId id="1226"/>
            <p14:sldId id="1234"/>
            <p14:sldId id="1241"/>
            <p14:sldId id="1288"/>
            <p14:sldId id="1287"/>
            <p14:sldId id="1245"/>
            <p14:sldId id="1246"/>
            <p14:sldId id="1242"/>
            <p14:sldId id="1255"/>
            <p14:sldId id="1247"/>
            <p14:sldId id="1248"/>
            <p14:sldId id="1243"/>
            <p14:sldId id="1249"/>
            <p14:sldId id="1256"/>
            <p14:sldId id="1250"/>
            <p14:sldId id="1251"/>
            <p14:sldId id="1257"/>
            <p14:sldId id="1261"/>
            <p14:sldId id="1262"/>
            <p14:sldId id="1263"/>
            <p14:sldId id="1264"/>
            <p14:sldId id="1268"/>
            <p14:sldId id="1269"/>
            <p14:sldId id="1270"/>
            <p14:sldId id="1271"/>
            <p14:sldId id="1272"/>
            <p14:sldId id="1273"/>
            <p14:sldId id="1274"/>
            <p14:sldId id="1275"/>
            <p14:sldId id="1276"/>
            <p14:sldId id="1277"/>
            <p14:sldId id="1278"/>
            <p14:sldId id="1279"/>
            <p14:sldId id="1280"/>
            <p14:sldId id="1281"/>
            <p14:sldId id="1282"/>
            <p14:sldId id="1283"/>
            <p14:sldId id="1284"/>
            <p14:sldId id="1285"/>
            <p14:sldId id="1286"/>
            <p14:sldId id="1266"/>
            <p14:sldId id="1289"/>
            <p14:sldId id="1267"/>
            <p14:sldId id="1290"/>
            <p14:sldId id="1293"/>
            <p14:sldId id="1292"/>
            <p14:sldId id="1235"/>
            <p14:sldId id="1231"/>
            <p14:sldId id="1244"/>
            <p14:sldId id="1236"/>
            <p14:sldId id="1232"/>
          </p14:sldIdLst>
        </p14:section>
        <p14:section name="总体进展与取得成果" id="{7BFD7A7D-1328-4877-A3DB-ACD2055827D6}">
          <p14:sldIdLst>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4472C4"/>
    <a:srgbClr val="0054A3"/>
    <a:srgbClr val="CCE2F2"/>
    <a:srgbClr val="0070BF"/>
    <a:srgbClr val="288DCE"/>
    <a:srgbClr val="DAE3F3"/>
    <a:srgbClr val="FE0000"/>
    <a:srgbClr val="ADCFE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5026" autoAdjust="0"/>
  </p:normalViewPr>
  <p:slideViewPr>
    <p:cSldViewPr snapToGrid="0">
      <p:cViewPr varScale="1">
        <p:scale>
          <a:sx n="160" d="100"/>
          <a:sy n="160" d="100"/>
        </p:scale>
        <p:origin x="312" y="0"/>
      </p:cViewPr>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6ED157-D45E-4CCA-847F-5A0EBDE23948}" type="datetimeFigureOut">
              <a:rPr lang="zh-CN" altLang="en-US" smtClean="0"/>
              <a:t>2025/11/19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B6BC6-0C8D-45BC-8926-9D37B464F2C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A17A4-43BB-4AD9-86D2-686535B37B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7DC7C-EA85-41EA-BE8E-3BC04B9579C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7DC7C-EA85-41EA-BE8E-3BC04B9579C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7DC7C-EA85-41EA-BE8E-3BC04B9579C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E267E-7EBA-A633-430E-44C5FDDBAD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B408D0-2624-A289-BF6A-488D8137BC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FCEE1A-C940-2267-53F1-5C43D7D28B8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0B77A32-DF88-A9DA-96DA-65CDFD7ED1B9}"/>
              </a:ext>
            </a:extLst>
          </p:cNvPr>
          <p:cNvSpPr>
            <a:spLocks noGrp="1"/>
          </p:cNvSpPr>
          <p:nvPr>
            <p:ph type="sldNum" sz="quarter" idx="5"/>
          </p:nvPr>
        </p:nvSpPr>
        <p:spPr/>
        <p:txBody>
          <a:bodyPr/>
          <a:lstStyle/>
          <a:p>
            <a:fld id="{4D7B6BC6-0C8D-45BC-8926-9D37B464F2C5}" type="slidenum">
              <a:rPr lang="zh-CN" altLang="en-US" smtClean="0"/>
              <a:t>15</a:t>
            </a:fld>
            <a:endParaRPr lang="zh-CN" altLang="en-US"/>
          </a:p>
        </p:txBody>
      </p:sp>
    </p:spTree>
    <p:extLst>
      <p:ext uri="{BB962C8B-B14F-4D97-AF65-F5344CB8AC3E}">
        <p14:creationId xmlns:p14="http://schemas.microsoft.com/office/powerpoint/2010/main" val="976713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A51-9025-0830-F9BE-07B2FA1E2B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84E4E6-50E5-13A1-FF61-AF021837B3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3A00EC-3DF9-D11E-B90F-65FF29C8FB0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AB49AAB-8BF1-B74D-BD67-6FD772951CA9}"/>
              </a:ext>
            </a:extLst>
          </p:cNvPr>
          <p:cNvSpPr>
            <a:spLocks noGrp="1"/>
          </p:cNvSpPr>
          <p:nvPr>
            <p:ph type="sldNum" sz="quarter" idx="5"/>
          </p:nvPr>
        </p:nvSpPr>
        <p:spPr/>
        <p:txBody>
          <a:bodyPr/>
          <a:lstStyle/>
          <a:p>
            <a:fld id="{4D7B6BC6-0C8D-45BC-8926-9D37B464F2C5}" type="slidenum">
              <a:rPr lang="zh-CN" altLang="en-US" smtClean="0"/>
              <a:t>16</a:t>
            </a:fld>
            <a:endParaRPr lang="zh-CN" altLang="en-US"/>
          </a:p>
        </p:txBody>
      </p:sp>
    </p:spTree>
    <p:extLst>
      <p:ext uri="{BB962C8B-B14F-4D97-AF65-F5344CB8AC3E}">
        <p14:creationId xmlns:p14="http://schemas.microsoft.com/office/powerpoint/2010/main" val="460423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EF686-EAAD-050F-68C0-337E718834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496B04-9612-3078-2C30-F4116479DE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C46F4A-9EE0-766A-FFF0-6A796FCD2FF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E263634-C811-9F0A-0E1D-4332DF1EC554}"/>
              </a:ext>
            </a:extLst>
          </p:cNvPr>
          <p:cNvSpPr>
            <a:spLocks noGrp="1"/>
          </p:cNvSpPr>
          <p:nvPr>
            <p:ph type="sldNum" sz="quarter" idx="5"/>
          </p:nvPr>
        </p:nvSpPr>
        <p:spPr/>
        <p:txBody>
          <a:bodyPr/>
          <a:lstStyle/>
          <a:p>
            <a:fld id="{4D7B6BC6-0C8D-45BC-8926-9D37B464F2C5}" type="slidenum">
              <a:rPr lang="zh-CN" altLang="en-US" smtClean="0"/>
              <a:t>17</a:t>
            </a:fld>
            <a:endParaRPr lang="zh-CN" altLang="en-US"/>
          </a:p>
        </p:txBody>
      </p:sp>
    </p:spTree>
    <p:extLst>
      <p:ext uri="{BB962C8B-B14F-4D97-AF65-F5344CB8AC3E}">
        <p14:creationId xmlns:p14="http://schemas.microsoft.com/office/powerpoint/2010/main" val="4208634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15CCD-9135-8DDD-6920-3F904FD3DA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D802A1-B6BC-AC7F-D5E3-B6FCFC2048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F7B4F2-1F62-4C7A-FF59-17335ADE4F4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1FCAE37-2C51-E6B0-34D8-3AD8B8D10222}"/>
              </a:ext>
            </a:extLst>
          </p:cNvPr>
          <p:cNvSpPr>
            <a:spLocks noGrp="1"/>
          </p:cNvSpPr>
          <p:nvPr>
            <p:ph type="sldNum" sz="quarter" idx="5"/>
          </p:nvPr>
        </p:nvSpPr>
        <p:spPr/>
        <p:txBody>
          <a:bodyPr/>
          <a:lstStyle/>
          <a:p>
            <a:fld id="{4D7B6BC6-0C8D-45BC-8926-9D37B464F2C5}" type="slidenum">
              <a:rPr lang="zh-CN" altLang="en-US" smtClean="0"/>
              <a:t>18</a:t>
            </a:fld>
            <a:endParaRPr lang="zh-CN" altLang="en-US"/>
          </a:p>
        </p:txBody>
      </p:sp>
    </p:spTree>
    <p:extLst>
      <p:ext uri="{BB962C8B-B14F-4D97-AF65-F5344CB8AC3E}">
        <p14:creationId xmlns:p14="http://schemas.microsoft.com/office/powerpoint/2010/main" val="2046046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D3E9-F7C0-EF27-3D9C-B5E200F115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4C8AC6-1D64-AFE3-4145-0B4EFE4BDB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5DF7E4-F993-B02B-6FF9-AB302427CDF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D7D1680-3945-717C-1DA1-08339F4A69E4}"/>
              </a:ext>
            </a:extLst>
          </p:cNvPr>
          <p:cNvSpPr>
            <a:spLocks noGrp="1"/>
          </p:cNvSpPr>
          <p:nvPr>
            <p:ph type="sldNum" sz="quarter" idx="5"/>
          </p:nvPr>
        </p:nvSpPr>
        <p:spPr/>
        <p:txBody>
          <a:bodyPr/>
          <a:lstStyle/>
          <a:p>
            <a:fld id="{4D7B6BC6-0C8D-45BC-8926-9D37B464F2C5}" type="slidenum">
              <a:rPr lang="zh-CN" altLang="en-US" smtClean="0"/>
              <a:t>20</a:t>
            </a:fld>
            <a:endParaRPr lang="zh-CN" altLang="en-US"/>
          </a:p>
        </p:txBody>
      </p:sp>
    </p:spTree>
    <p:extLst>
      <p:ext uri="{BB962C8B-B14F-4D97-AF65-F5344CB8AC3E}">
        <p14:creationId xmlns:p14="http://schemas.microsoft.com/office/powerpoint/2010/main" val="661909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11150-1F09-4B14-52AC-2B08E435D6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26724D-F625-5E51-FF55-A35D0F0E33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8FB385-3F4F-1FC1-0C8B-4833DCD6A6A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E4E7618D-1E5B-0F26-8FA6-BD50DC66FF82}"/>
              </a:ext>
            </a:extLst>
          </p:cNvPr>
          <p:cNvSpPr>
            <a:spLocks noGrp="1"/>
          </p:cNvSpPr>
          <p:nvPr>
            <p:ph type="sldNum" sz="quarter" idx="5"/>
          </p:nvPr>
        </p:nvSpPr>
        <p:spPr/>
        <p:txBody>
          <a:bodyPr/>
          <a:lstStyle/>
          <a:p>
            <a:fld id="{4D7B6BC6-0C8D-45BC-8926-9D37B464F2C5}" type="slidenum">
              <a:rPr lang="zh-CN" altLang="en-US" smtClean="0"/>
              <a:t>21</a:t>
            </a:fld>
            <a:endParaRPr lang="zh-CN" altLang="en-US"/>
          </a:p>
        </p:txBody>
      </p:sp>
    </p:spTree>
    <p:extLst>
      <p:ext uri="{BB962C8B-B14F-4D97-AF65-F5344CB8AC3E}">
        <p14:creationId xmlns:p14="http://schemas.microsoft.com/office/powerpoint/2010/main" val="1978140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6151-5CFD-A8CD-9418-D27F2E5B2C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645804-77C0-7714-64D5-18EAF95D43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7C179A-7009-AB46-E16F-4D25CD0506C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86F7488-C489-9E1F-F5E5-1066280155A0}"/>
              </a:ext>
            </a:extLst>
          </p:cNvPr>
          <p:cNvSpPr>
            <a:spLocks noGrp="1"/>
          </p:cNvSpPr>
          <p:nvPr>
            <p:ph type="sldNum" sz="quarter" idx="5"/>
          </p:nvPr>
        </p:nvSpPr>
        <p:spPr/>
        <p:txBody>
          <a:bodyPr/>
          <a:lstStyle/>
          <a:p>
            <a:fld id="{4D7B6BC6-0C8D-45BC-8926-9D37B464F2C5}" type="slidenum">
              <a:rPr lang="zh-CN" altLang="en-US" smtClean="0"/>
              <a:t>22</a:t>
            </a:fld>
            <a:endParaRPr lang="zh-CN" altLang="en-US"/>
          </a:p>
        </p:txBody>
      </p:sp>
    </p:spTree>
    <p:extLst>
      <p:ext uri="{BB962C8B-B14F-4D97-AF65-F5344CB8AC3E}">
        <p14:creationId xmlns:p14="http://schemas.microsoft.com/office/powerpoint/2010/main" val="3646808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F468-99B2-FC3A-9933-8EEBF42634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7F0809-78FE-0066-9E5D-95868F8B1E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B44479-63F5-D371-CC49-370268FE605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0721514-3CA4-220E-58D4-9574FD6AA9B7}"/>
              </a:ext>
            </a:extLst>
          </p:cNvPr>
          <p:cNvSpPr>
            <a:spLocks noGrp="1"/>
          </p:cNvSpPr>
          <p:nvPr>
            <p:ph type="sldNum" sz="quarter" idx="5"/>
          </p:nvPr>
        </p:nvSpPr>
        <p:spPr/>
        <p:txBody>
          <a:bodyPr/>
          <a:lstStyle/>
          <a:p>
            <a:fld id="{4D7B6BC6-0C8D-45BC-8926-9D37B464F2C5}" type="slidenum">
              <a:rPr lang="zh-CN" altLang="en-US" smtClean="0"/>
              <a:t>24</a:t>
            </a:fld>
            <a:endParaRPr lang="zh-CN" altLang="en-US"/>
          </a:p>
        </p:txBody>
      </p:sp>
    </p:spTree>
    <p:extLst>
      <p:ext uri="{BB962C8B-B14F-4D97-AF65-F5344CB8AC3E}">
        <p14:creationId xmlns:p14="http://schemas.microsoft.com/office/powerpoint/2010/main" val="15071257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0631-45CC-AAFF-5BB1-249D87DB5A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148E3C-96B5-B64E-34CF-13ABB15483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15EB88-1EAE-5EF5-F0FD-46EA710973F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B21EF9F-6AFB-0C0F-0ECB-CC97DBD74687}"/>
              </a:ext>
            </a:extLst>
          </p:cNvPr>
          <p:cNvSpPr>
            <a:spLocks noGrp="1"/>
          </p:cNvSpPr>
          <p:nvPr>
            <p:ph type="sldNum" sz="quarter" idx="5"/>
          </p:nvPr>
        </p:nvSpPr>
        <p:spPr/>
        <p:txBody>
          <a:bodyPr/>
          <a:lstStyle/>
          <a:p>
            <a:fld id="{4D7B6BC6-0C8D-45BC-8926-9D37B464F2C5}" type="slidenum">
              <a:rPr lang="zh-CN" altLang="en-US" smtClean="0"/>
              <a:t>25</a:t>
            </a:fld>
            <a:endParaRPr lang="zh-CN" altLang="en-US"/>
          </a:p>
        </p:txBody>
      </p:sp>
    </p:spTree>
    <p:extLst>
      <p:ext uri="{BB962C8B-B14F-4D97-AF65-F5344CB8AC3E}">
        <p14:creationId xmlns:p14="http://schemas.microsoft.com/office/powerpoint/2010/main" val="33811974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CE15-64CD-4064-4F7E-6FF25AFCB1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A9261D-CF87-4B0F-C548-61E6CF664C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FD2FFB-C33E-B650-4C3F-BA2E86E73B4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8929849-9A76-BEB9-8D4A-B2D143D0F191}"/>
              </a:ext>
            </a:extLst>
          </p:cNvPr>
          <p:cNvSpPr>
            <a:spLocks noGrp="1"/>
          </p:cNvSpPr>
          <p:nvPr>
            <p:ph type="sldNum" sz="quarter" idx="5"/>
          </p:nvPr>
        </p:nvSpPr>
        <p:spPr/>
        <p:txBody>
          <a:bodyPr/>
          <a:lstStyle/>
          <a:p>
            <a:fld id="{4D7B6BC6-0C8D-45BC-8926-9D37B464F2C5}" type="slidenum">
              <a:rPr lang="zh-CN" altLang="en-US" smtClean="0"/>
              <a:t>26</a:t>
            </a:fld>
            <a:endParaRPr lang="zh-CN" altLang="en-US"/>
          </a:p>
        </p:txBody>
      </p:sp>
    </p:spTree>
    <p:extLst>
      <p:ext uri="{BB962C8B-B14F-4D97-AF65-F5344CB8AC3E}">
        <p14:creationId xmlns:p14="http://schemas.microsoft.com/office/powerpoint/2010/main" val="547722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A4B0-F40C-756C-7EF2-E9784EFCDE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DC0879-F43E-4D41-BACD-D8D90FDC1F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A58395-EA16-BBFF-7426-3DFE3AA6DD2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7946240-217F-0742-DC2F-E504F9DE5368}"/>
              </a:ext>
            </a:extLst>
          </p:cNvPr>
          <p:cNvSpPr>
            <a:spLocks noGrp="1"/>
          </p:cNvSpPr>
          <p:nvPr>
            <p:ph type="sldNum" sz="quarter" idx="5"/>
          </p:nvPr>
        </p:nvSpPr>
        <p:spPr/>
        <p:txBody>
          <a:bodyPr/>
          <a:lstStyle/>
          <a:p>
            <a:fld id="{4D7B6BC6-0C8D-45BC-8926-9D37B464F2C5}" type="slidenum">
              <a:rPr lang="zh-CN" altLang="en-US" smtClean="0"/>
              <a:t>27</a:t>
            </a:fld>
            <a:endParaRPr lang="zh-CN" altLang="en-US"/>
          </a:p>
        </p:txBody>
      </p:sp>
    </p:spTree>
    <p:extLst>
      <p:ext uri="{BB962C8B-B14F-4D97-AF65-F5344CB8AC3E}">
        <p14:creationId xmlns:p14="http://schemas.microsoft.com/office/powerpoint/2010/main" val="3582406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B3367-AAD1-EDD0-2658-6ED18C768D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B1D789-4053-C25A-7AAA-D47AB3A2B4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1B20EA-3FE4-6111-5FD7-80655F98A06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4163277-BED2-79CD-4BBB-36287E8EFE90}"/>
              </a:ext>
            </a:extLst>
          </p:cNvPr>
          <p:cNvSpPr>
            <a:spLocks noGrp="1"/>
          </p:cNvSpPr>
          <p:nvPr>
            <p:ph type="sldNum" sz="quarter" idx="5"/>
          </p:nvPr>
        </p:nvSpPr>
        <p:spPr/>
        <p:txBody>
          <a:bodyPr/>
          <a:lstStyle/>
          <a:p>
            <a:fld id="{4D7B6BC6-0C8D-45BC-8926-9D37B464F2C5}" type="slidenum">
              <a:rPr lang="zh-CN" altLang="en-US" smtClean="0"/>
              <a:t>28</a:t>
            </a:fld>
            <a:endParaRPr lang="zh-CN" altLang="en-US"/>
          </a:p>
        </p:txBody>
      </p:sp>
    </p:spTree>
    <p:extLst>
      <p:ext uri="{BB962C8B-B14F-4D97-AF65-F5344CB8AC3E}">
        <p14:creationId xmlns:p14="http://schemas.microsoft.com/office/powerpoint/2010/main" val="958332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DCF0-88F4-4801-1A0B-E25CD45C8D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E48D4C-6B54-F8D6-22FE-01FD21B00A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923C0E-1890-3919-709B-0DD7EA5D4B9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0833870-9D62-21B1-3BC9-48F542F48321}"/>
              </a:ext>
            </a:extLst>
          </p:cNvPr>
          <p:cNvSpPr>
            <a:spLocks noGrp="1"/>
          </p:cNvSpPr>
          <p:nvPr>
            <p:ph type="sldNum" sz="quarter" idx="5"/>
          </p:nvPr>
        </p:nvSpPr>
        <p:spPr/>
        <p:txBody>
          <a:bodyPr/>
          <a:lstStyle/>
          <a:p>
            <a:fld id="{4D7B6BC6-0C8D-45BC-8926-9D37B464F2C5}" type="slidenum">
              <a:rPr lang="zh-CN" altLang="en-US" smtClean="0"/>
              <a:t>29</a:t>
            </a:fld>
            <a:endParaRPr lang="zh-CN" altLang="en-US"/>
          </a:p>
        </p:txBody>
      </p:sp>
    </p:spTree>
    <p:extLst>
      <p:ext uri="{BB962C8B-B14F-4D97-AF65-F5344CB8AC3E}">
        <p14:creationId xmlns:p14="http://schemas.microsoft.com/office/powerpoint/2010/main" val="6771099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81E2-CE96-DE10-0394-BDF8FCE008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1AB249-1DE3-4B92-0570-CCD469B976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E936B8-D70C-9B7F-A7BB-45D662E9F8C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31D66AE-F14E-51B0-F0ED-DC06F739CA4F}"/>
              </a:ext>
            </a:extLst>
          </p:cNvPr>
          <p:cNvSpPr>
            <a:spLocks noGrp="1"/>
          </p:cNvSpPr>
          <p:nvPr>
            <p:ph type="sldNum" sz="quarter" idx="5"/>
          </p:nvPr>
        </p:nvSpPr>
        <p:spPr/>
        <p:txBody>
          <a:bodyPr/>
          <a:lstStyle/>
          <a:p>
            <a:fld id="{4D7B6BC6-0C8D-45BC-8926-9D37B464F2C5}" type="slidenum">
              <a:rPr lang="zh-CN" altLang="en-US" smtClean="0"/>
              <a:t>30</a:t>
            </a:fld>
            <a:endParaRPr lang="zh-CN" altLang="en-US"/>
          </a:p>
        </p:txBody>
      </p:sp>
    </p:spTree>
    <p:extLst>
      <p:ext uri="{BB962C8B-B14F-4D97-AF65-F5344CB8AC3E}">
        <p14:creationId xmlns:p14="http://schemas.microsoft.com/office/powerpoint/2010/main" val="2133653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1CA9-5D64-961E-DB26-D3B5638E21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A9E923-F610-BED3-873A-DB1475F67C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A57977-290F-3EC7-ABCB-BFD1F48C4FD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88F51FB-4C38-F042-4824-5DC73352BE18}"/>
              </a:ext>
            </a:extLst>
          </p:cNvPr>
          <p:cNvSpPr>
            <a:spLocks noGrp="1"/>
          </p:cNvSpPr>
          <p:nvPr>
            <p:ph type="sldNum" sz="quarter" idx="5"/>
          </p:nvPr>
        </p:nvSpPr>
        <p:spPr/>
        <p:txBody>
          <a:bodyPr/>
          <a:lstStyle/>
          <a:p>
            <a:fld id="{4D7B6BC6-0C8D-45BC-8926-9D37B464F2C5}" type="slidenum">
              <a:rPr lang="zh-CN" altLang="en-US" smtClean="0"/>
              <a:t>31</a:t>
            </a:fld>
            <a:endParaRPr lang="zh-CN" altLang="en-US"/>
          </a:p>
        </p:txBody>
      </p:sp>
    </p:spTree>
    <p:extLst>
      <p:ext uri="{BB962C8B-B14F-4D97-AF65-F5344CB8AC3E}">
        <p14:creationId xmlns:p14="http://schemas.microsoft.com/office/powerpoint/2010/main" val="18677698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9568C-E550-DE1D-C836-0AC76A0DE9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94BB16-2697-1B62-E667-438B77FF2E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A8B261-6BB0-B477-F389-FEA3AF93051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131C25FE-CC3F-AA2C-B340-EC24AFDDC3AF}"/>
              </a:ext>
            </a:extLst>
          </p:cNvPr>
          <p:cNvSpPr>
            <a:spLocks noGrp="1"/>
          </p:cNvSpPr>
          <p:nvPr>
            <p:ph type="sldNum" sz="quarter" idx="5"/>
          </p:nvPr>
        </p:nvSpPr>
        <p:spPr/>
        <p:txBody>
          <a:bodyPr/>
          <a:lstStyle/>
          <a:p>
            <a:fld id="{4D7B6BC6-0C8D-45BC-8926-9D37B464F2C5}" type="slidenum">
              <a:rPr lang="zh-CN" altLang="en-US" smtClean="0"/>
              <a:t>32</a:t>
            </a:fld>
            <a:endParaRPr lang="zh-CN" altLang="en-US"/>
          </a:p>
        </p:txBody>
      </p:sp>
    </p:spTree>
    <p:extLst>
      <p:ext uri="{BB962C8B-B14F-4D97-AF65-F5344CB8AC3E}">
        <p14:creationId xmlns:p14="http://schemas.microsoft.com/office/powerpoint/2010/main" val="3563697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AD898-3616-97CB-9DD5-A6589F3A09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BB67D1-90B0-A7F4-AE32-CA6D07C628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2DDCBC-E8B9-3232-596E-B310776EDF0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75C8F99-FE60-3133-2B63-ABB851F7023B}"/>
              </a:ext>
            </a:extLst>
          </p:cNvPr>
          <p:cNvSpPr>
            <a:spLocks noGrp="1"/>
          </p:cNvSpPr>
          <p:nvPr>
            <p:ph type="sldNum" sz="quarter" idx="5"/>
          </p:nvPr>
        </p:nvSpPr>
        <p:spPr/>
        <p:txBody>
          <a:bodyPr/>
          <a:lstStyle/>
          <a:p>
            <a:fld id="{4D7B6BC6-0C8D-45BC-8926-9D37B464F2C5}" type="slidenum">
              <a:rPr lang="zh-CN" altLang="en-US" smtClean="0"/>
              <a:t>33</a:t>
            </a:fld>
            <a:endParaRPr lang="zh-CN" altLang="en-US"/>
          </a:p>
        </p:txBody>
      </p:sp>
    </p:spTree>
    <p:extLst>
      <p:ext uri="{BB962C8B-B14F-4D97-AF65-F5344CB8AC3E}">
        <p14:creationId xmlns:p14="http://schemas.microsoft.com/office/powerpoint/2010/main" val="2249810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BE65-0B2B-32A3-43A8-C738E4E8EC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2C524F-300F-3A1C-C444-FC098FE726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A4CF17-4F85-DD46-02CD-C56884CDA6D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D7983E8-64C9-5BB5-D53C-D40A8CB27697}"/>
              </a:ext>
            </a:extLst>
          </p:cNvPr>
          <p:cNvSpPr>
            <a:spLocks noGrp="1"/>
          </p:cNvSpPr>
          <p:nvPr>
            <p:ph type="sldNum" sz="quarter" idx="5"/>
          </p:nvPr>
        </p:nvSpPr>
        <p:spPr/>
        <p:txBody>
          <a:bodyPr/>
          <a:lstStyle/>
          <a:p>
            <a:fld id="{4D7B6BC6-0C8D-45BC-8926-9D37B464F2C5}" type="slidenum">
              <a:rPr lang="zh-CN" altLang="en-US" smtClean="0"/>
              <a:t>34</a:t>
            </a:fld>
            <a:endParaRPr lang="zh-CN" altLang="en-US"/>
          </a:p>
        </p:txBody>
      </p:sp>
    </p:spTree>
    <p:extLst>
      <p:ext uri="{BB962C8B-B14F-4D97-AF65-F5344CB8AC3E}">
        <p14:creationId xmlns:p14="http://schemas.microsoft.com/office/powerpoint/2010/main" val="2771207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C4414-BD1B-B2D0-0256-6BCDA8A7D2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904A0E-79AA-97E8-2F4E-24B779F051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77A158-519B-8F9C-588B-53BC7858418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9FDB0AC-3124-D467-6514-7F7CFBC84B9F}"/>
              </a:ext>
            </a:extLst>
          </p:cNvPr>
          <p:cNvSpPr>
            <a:spLocks noGrp="1"/>
          </p:cNvSpPr>
          <p:nvPr>
            <p:ph type="sldNum" sz="quarter" idx="5"/>
          </p:nvPr>
        </p:nvSpPr>
        <p:spPr/>
        <p:txBody>
          <a:bodyPr/>
          <a:lstStyle/>
          <a:p>
            <a:fld id="{4D7B6BC6-0C8D-45BC-8926-9D37B464F2C5}" type="slidenum">
              <a:rPr lang="zh-CN" altLang="en-US" smtClean="0"/>
              <a:t>35</a:t>
            </a:fld>
            <a:endParaRPr lang="zh-CN" altLang="en-US"/>
          </a:p>
        </p:txBody>
      </p:sp>
    </p:spTree>
    <p:extLst>
      <p:ext uri="{BB962C8B-B14F-4D97-AF65-F5344CB8AC3E}">
        <p14:creationId xmlns:p14="http://schemas.microsoft.com/office/powerpoint/2010/main" val="36284657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72883-CCA7-8628-4B88-33873D159A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4FB79D-14F0-0373-65A8-50A7AC39BF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09D01E-77BF-5135-05F4-4F72E943B98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BDA2595-FC76-306F-79BD-ACA6464E5CA8}"/>
              </a:ext>
            </a:extLst>
          </p:cNvPr>
          <p:cNvSpPr>
            <a:spLocks noGrp="1"/>
          </p:cNvSpPr>
          <p:nvPr>
            <p:ph type="sldNum" sz="quarter" idx="5"/>
          </p:nvPr>
        </p:nvSpPr>
        <p:spPr/>
        <p:txBody>
          <a:bodyPr/>
          <a:lstStyle/>
          <a:p>
            <a:fld id="{4D7B6BC6-0C8D-45BC-8926-9D37B464F2C5}" type="slidenum">
              <a:rPr lang="zh-CN" altLang="en-US" smtClean="0"/>
              <a:t>36</a:t>
            </a:fld>
            <a:endParaRPr lang="zh-CN" altLang="en-US"/>
          </a:p>
        </p:txBody>
      </p:sp>
    </p:spTree>
    <p:extLst>
      <p:ext uri="{BB962C8B-B14F-4D97-AF65-F5344CB8AC3E}">
        <p14:creationId xmlns:p14="http://schemas.microsoft.com/office/powerpoint/2010/main" val="12786697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C28B8-647E-2D73-81CD-C694A877DF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173496-7B7C-A1A3-4E2B-7256EA8CF3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38D5F2-51E7-9F16-47FF-B6C69451047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C09E0E2-6B1B-8ADD-A8B8-CFB0D848BF9F}"/>
              </a:ext>
            </a:extLst>
          </p:cNvPr>
          <p:cNvSpPr>
            <a:spLocks noGrp="1"/>
          </p:cNvSpPr>
          <p:nvPr>
            <p:ph type="sldNum" sz="quarter" idx="5"/>
          </p:nvPr>
        </p:nvSpPr>
        <p:spPr/>
        <p:txBody>
          <a:bodyPr/>
          <a:lstStyle/>
          <a:p>
            <a:fld id="{4D7B6BC6-0C8D-45BC-8926-9D37B464F2C5}" type="slidenum">
              <a:rPr lang="zh-CN" altLang="en-US" smtClean="0"/>
              <a:t>37</a:t>
            </a:fld>
            <a:endParaRPr lang="zh-CN" altLang="en-US"/>
          </a:p>
        </p:txBody>
      </p:sp>
    </p:spTree>
    <p:extLst>
      <p:ext uri="{BB962C8B-B14F-4D97-AF65-F5344CB8AC3E}">
        <p14:creationId xmlns:p14="http://schemas.microsoft.com/office/powerpoint/2010/main" val="1156954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429E2-5ABF-6CFE-EEE0-FDBFE58541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8574CD-F79F-F9D8-D1EF-C2181771C3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459BC5-C460-86D1-2194-5B60F5D5734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8F7C5F1-9635-4C3E-1FED-CB89567E5792}"/>
              </a:ext>
            </a:extLst>
          </p:cNvPr>
          <p:cNvSpPr>
            <a:spLocks noGrp="1"/>
          </p:cNvSpPr>
          <p:nvPr>
            <p:ph type="sldNum" sz="quarter" idx="5"/>
          </p:nvPr>
        </p:nvSpPr>
        <p:spPr/>
        <p:txBody>
          <a:bodyPr/>
          <a:lstStyle/>
          <a:p>
            <a:fld id="{4D7B6BC6-0C8D-45BC-8926-9D37B464F2C5}" type="slidenum">
              <a:rPr lang="zh-CN" altLang="en-US" smtClean="0"/>
              <a:t>38</a:t>
            </a:fld>
            <a:endParaRPr lang="zh-CN" altLang="en-US"/>
          </a:p>
        </p:txBody>
      </p:sp>
    </p:spTree>
    <p:extLst>
      <p:ext uri="{BB962C8B-B14F-4D97-AF65-F5344CB8AC3E}">
        <p14:creationId xmlns:p14="http://schemas.microsoft.com/office/powerpoint/2010/main" val="2463364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BE91-E6B0-02F2-528D-3B0AEFFA61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4D4B1A-4FDC-CD96-302D-77D9F1B3F9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D65BB9-43A4-D397-EBC5-698E79BD032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41B72FE-A24C-CF1A-2027-E938838A9DFD}"/>
              </a:ext>
            </a:extLst>
          </p:cNvPr>
          <p:cNvSpPr>
            <a:spLocks noGrp="1"/>
          </p:cNvSpPr>
          <p:nvPr>
            <p:ph type="sldNum" sz="quarter" idx="5"/>
          </p:nvPr>
        </p:nvSpPr>
        <p:spPr/>
        <p:txBody>
          <a:bodyPr/>
          <a:lstStyle/>
          <a:p>
            <a:fld id="{4D7B6BC6-0C8D-45BC-8926-9D37B464F2C5}" type="slidenum">
              <a:rPr lang="zh-CN" altLang="en-US" smtClean="0"/>
              <a:t>39</a:t>
            </a:fld>
            <a:endParaRPr lang="zh-CN" altLang="en-US"/>
          </a:p>
        </p:txBody>
      </p:sp>
    </p:spTree>
    <p:extLst>
      <p:ext uri="{BB962C8B-B14F-4D97-AF65-F5344CB8AC3E}">
        <p14:creationId xmlns:p14="http://schemas.microsoft.com/office/powerpoint/2010/main" val="9266310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248C-BDBF-48DD-7024-A9F3B279F9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99049B-EA73-F74E-A704-6C9AE55C05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C1CDF2-6FAB-85E2-B5E4-F36A7F0CE4C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853ECA6-8351-51AC-0AF6-AD4BED6A8687}"/>
              </a:ext>
            </a:extLst>
          </p:cNvPr>
          <p:cNvSpPr>
            <a:spLocks noGrp="1"/>
          </p:cNvSpPr>
          <p:nvPr>
            <p:ph type="sldNum" sz="quarter" idx="5"/>
          </p:nvPr>
        </p:nvSpPr>
        <p:spPr/>
        <p:txBody>
          <a:bodyPr/>
          <a:lstStyle/>
          <a:p>
            <a:fld id="{4D7B6BC6-0C8D-45BC-8926-9D37B464F2C5}" type="slidenum">
              <a:rPr lang="zh-CN" altLang="en-US" smtClean="0"/>
              <a:t>40</a:t>
            </a:fld>
            <a:endParaRPr lang="zh-CN" altLang="en-US"/>
          </a:p>
        </p:txBody>
      </p:sp>
    </p:spTree>
    <p:extLst>
      <p:ext uri="{BB962C8B-B14F-4D97-AF65-F5344CB8AC3E}">
        <p14:creationId xmlns:p14="http://schemas.microsoft.com/office/powerpoint/2010/main" val="33761915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0A83-EB2A-D5D0-F51E-744ACB1EEF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F00611-054F-E894-4014-47A3EE9AE1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10E0FD-D41B-6B5D-2B6A-B75470B9C38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9ECF21C-5168-AAAE-38DF-BA01B844A8B6}"/>
              </a:ext>
            </a:extLst>
          </p:cNvPr>
          <p:cNvSpPr>
            <a:spLocks noGrp="1"/>
          </p:cNvSpPr>
          <p:nvPr>
            <p:ph type="sldNum" sz="quarter" idx="5"/>
          </p:nvPr>
        </p:nvSpPr>
        <p:spPr/>
        <p:txBody>
          <a:bodyPr/>
          <a:lstStyle/>
          <a:p>
            <a:fld id="{4D7B6BC6-0C8D-45BC-8926-9D37B464F2C5}" type="slidenum">
              <a:rPr lang="zh-CN" altLang="en-US" smtClean="0"/>
              <a:t>41</a:t>
            </a:fld>
            <a:endParaRPr lang="zh-CN" altLang="en-US"/>
          </a:p>
        </p:txBody>
      </p:sp>
    </p:spTree>
    <p:extLst>
      <p:ext uri="{BB962C8B-B14F-4D97-AF65-F5344CB8AC3E}">
        <p14:creationId xmlns:p14="http://schemas.microsoft.com/office/powerpoint/2010/main" val="874192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8C8D-E89D-002C-DB9C-A486829BBA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B1AAE3-14C9-6FC0-DD88-D5B70E6497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DA6F5A-C2E1-091F-54CE-61198174C4E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B63566B-52C4-9B39-F295-DC840E547D01}"/>
              </a:ext>
            </a:extLst>
          </p:cNvPr>
          <p:cNvSpPr>
            <a:spLocks noGrp="1"/>
          </p:cNvSpPr>
          <p:nvPr>
            <p:ph type="sldNum" sz="quarter" idx="5"/>
          </p:nvPr>
        </p:nvSpPr>
        <p:spPr/>
        <p:txBody>
          <a:bodyPr/>
          <a:lstStyle/>
          <a:p>
            <a:fld id="{4D7B6BC6-0C8D-45BC-8926-9D37B464F2C5}" type="slidenum">
              <a:rPr lang="zh-CN" altLang="en-US" smtClean="0"/>
              <a:t>42</a:t>
            </a:fld>
            <a:endParaRPr lang="zh-CN" altLang="en-US"/>
          </a:p>
        </p:txBody>
      </p:sp>
    </p:spTree>
    <p:extLst>
      <p:ext uri="{BB962C8B-B14F-4D97-AF65-F5344CB8AC3E}">
        <p14:creationId xmlns:p14="http://schemas.microsoft.com/office/powerpoint/2010/main" val="538264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F33CD-113A-E07E-AFE7-A3A19F8394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E9CF31-1736-BB6E-C4C8-373B5D56F2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8C69ED-FB38-301E-6949-5A3AF001D57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6A9199-D050-34B2-EFA6-13E228298703}"/>
              </a:ext>
            </a:extLst>
          </p:cNvPr>
          <p:cNvSpPr>
            <a:spLocks noGrp="1"/>
          </p:cNvSpPr>
          <p:nvPr>
            <p:ph type="sldNum" sz="quarter" idx="5"/>
          </p:nvPr>
        </p:nvSpPr>
        <p:spPr/>
        <p:txBody>
          <a:bodyPr/>
          <a:lstStyle/>
          <a:p>
            <a:fld id="{4D7B6BC6-0C8D-45BC-8926-9D37B464F2C5}" type="slidenum">
              <a:rPr lang="zh-CN" altLang="en-US" smtClean="0"/>
              <a:t>43</a:t>
            </a:fld>
            <a:endParaRPr lang="zh-CN" altLang="en-US"/>
          </a:p>
        </p:txBody>
      </p:sp>
    </p:spTree>
    <p:extLst>
      <p:ext uri="{BB962C8B-B14F-4D97-AF65-F5344CB8AC3E}">
        <p14:creationId xmlns:p14="http://schemas.microsoft.com/office/powerpoint/2010/main" val="39824364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FDB6-1ED6-22A4-0891-D4465A0006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36E6CA-4706-8459-C624-DE390CA344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8AD288-CC70-DFA1-9120-4295EBB1041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978DFEA-569F-8734-04A7-45EC3AF0F1A3}"/>
              </a:ext>
            </a:extLst>
          </p:cNvPr>
          <p:cNvSpPr>
            <a:spLocks noGrp="1"/>
          </p:cNvSpPr>
          <p:nvPr>
            <p:ph type="sldNum" sz="quarter" idx="5"/>
          </p:nvPr>
        </p:nvSpPr>
        <p:spPr/>
        <p:txBody>
          <a:bodyPr/>
          <a:lstStyle/>
          <a:p>
            <a:fld id="{4D7B6BC6-0C8D-45BC-8926-9D37B464F2C5}" type="slidenum">
              <a:rPr lang="zh-CN" altLang="en-US" smtClean="0"/>
              <a:t>44</a:t>
            </a:fld>
            <a:endParaRPr lang="zh-CN" altLang="en-US"/>
          </a:p>
        </p:txBody>
      </p:sp>
    </p:spTree>
    <p:extLst>
      <p:ext uri="{BB962C8B-B14F-4D97-AF65-F5344CB8AC3E}">
        <p14:creationId xmlns:p14="http://schemas.microsoft.com/office/powerpoint/2010/main" val="16856161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85F9C-9F08-4CA8-8B78-A3D518F612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15F5D-C783-A6E7-A80C-C49984D5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2B7788-6951-7035-74B1-878BC4A7EF2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D5947FD-D770-005A-A84D-99C5CA0B1BCC}"/>
              </a:ext>
            </a:extLst>
          </p:cNvPr>
          <p:cNvSpPr>
            <a:spLocks noGrp="1"/>
          </p:cNvSpPr>
          <p:nvPr>
            <p:ph type="sldNum" sz="quarter" idx="5"/>
          </p:nvPr>
        </p:nvSpPr>
        <p:spPr/>
        <p:txBody>
          <a:bodyPr/>
          <a:lstStyle/>
          <a:p>
            <a:fld id="{4D7B6BC6-0C8D-45BC-8926-9D37B464F2C5}" type="slidenum">
              <a:rPr lang="zh-CN" altLang="en-US" smtClean="0"/>
              <a:t>45</a:t>
            </a:fld>
            <a:endParaRPr lang="zh-CN" altLang="en-US"/>
          </a:p>
        </p:txBody>
      </p:sp>
    </p:spTree>
    <p:extLst>
      <p:ext uri="{BB962C8B-B14F-4D97-AF65-F5344CB8AC3E}">
        <p14:creationId xmlns:p14="http://schemas.microsoft.com/office/powerpoint/2010/main" val="20975122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5B05-5616-459B-7114-A697513AF5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67B8D9-7C6D-86C7-73CD-4917DB40BF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BE7C89-62B9-C323-B083-16861CC7432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19D6B10C-6E10-4C90-195D-BE6ACBE0118A}"/>
              </a:ext>
            </a:extLst>
          </p:cNvPr>
          <p:cNvSpPr>
            <a:spLocks noGrp="1"/>
          </p:cNvSpPr>
          <p:nvPr>
            <p:ph type="sldNum" sz="quarter" idx="5"/>
          </p:nvPr>
        </p:nvSpPr>
        <p:spPr/>
        <p:txBody>
          <a:bodyPr/>
          <a:lstStyle/>
          <a:p>
            <a:fld id="{4D7B6BC6-0C8D-45BC-8926-9D37B464F2C5}" type="slidenum">
              <a:rPr lang="zh-CN" altLang="en-US" smtClean="0"/>
              <a:t>46</a:t>
            </a:fld>
            <a:endParaRPr lang="zh-CN" altLang="en-US"/>
          </a:p>
        </p:txBody>
      </p:sp>
    </p:spTree>
    <p:extLst>
      <p:ext uri="{BB962C8B-B14F-4D97-AF65-F5344CB8AC3E}">
        <p14:creationId xmlns:p14="http://schemas.microsoft.com/office/powerpoint/2010/main" val="30727977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7EF84-E0BA-87D0-776A-3056789207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430009-E358-5837-597D-F8B3C57989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99260B-A49E-C193-3CA1-7816D4FD919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89BD377-3DA8-279E-C36D-897AC6A20745}"/>
              </a:ext>
            </a:extLst>
          </p:cNvPr>
          <p:cNvSpPr>
            <a:spLocks noGrp="1"/>
          </p:cNvSpPr>
          <p:nvPr>
            <p:ph type="sldNum" sz="quarter" idx="5"/>
          </p:nvPr>
        </p:nvSpPr>
        <p:spPr/>
        <p:txBody>
          <a:bodyPr/>
          <a:lstStyle/>
          <a:p>
            <a:fld id="{4D7B6BC6-0C8D-45BC-8926-9D37B464F2C5}" type="slidenum">
              <a:rPr lang="zh-CN" altLang="en-US" smtClean="0"/>
              <a:t>47</a:t>
            </a:fld>
            <a:endParaRPr lang="zh-CN" altLang="en-US"/>
          </a:p>
        </p:txBody>
      </p:sp>
    </p:spTree>
    <p:extLst>
      <p:ext uri="{BB962C8B-B14F-4D97-AF65-F5344CB8AC3E}">
        <p14:creationId xmlns:p14="http://schemas.microsoft.com/office/powerpoint/2010/main" val="24931302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31806-49D6-F092-4CC4-1421CFBA6B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B2BDDE-8724-0DA1-6184-A4381B9FFF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ED469C-82E1-24EE-651F-52FCF5DD0C3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4F3F4A1-43A2-860B-7AAF-1799824EB2DA}"/>
              </a:ext>
            </a:extLst>
          </p:cNvPr>
          <p:cNvSpPr>
            <a:spLocks noGrp="1"/>
          </p:cNvSpPr>
          <p:nvPr>
            <p:ph type="sldNum" sz="quarter" idx="5"/>
          </p:nvPr>
        </p:nvSpPr>
        <p:spPr/>
        <p:txBody>
          <a:bodyPr/>
          <a:lstStyle/>
          <a:p>
            <a:fld id="{4D7B6BC6-0C8D-45BC-8926-9D37B464F2C5}" type="slidenum">
              <a:rPr lang="zh-CN" altLang="en-US" smtClean="0"/>
              <a:t>48</a:t>
            </a:fld>
            <a:endParaRPr lang="zh-CN" altLang="en-US"/>
          </a:p>
        </p:txBody>
      </p:sp>
    </p:spTree>
    <p:extLst>
      <p:ext uri="{BB962C8B-B14F-4D97-AF65-F5344CB8AC3E}">
        <p14:creationId xmlns:p14="http://schemas.microsoft.com/office/powerpoint/2010/main" val="10049135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89A33-A1D6-C5BF-EC59-1E7EED9FB6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80F776-8434-BB65-264D-FB06791104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FD746C-44BA-5478-02CE-1CEE8224E53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B64C883-009F-8A6B-5FB8-000E862C59CF}"/>
              </a:ext>
            </a:extLst>
          </p:cNvPr>
          <p:cNvSpPr>
            <a:spLocks noGrp="1"/>
          </p:cNvSpPr>
          <p:nvPr>
            <p:ph type="sldNum" sz="quarter" idx="5"/>
          </p:nvPr>
        </p:nvSpPr>
        <p:spPr/>
        <p:txBody>
          <a:bodyPr/>
          <a:lstStyle/>
          <a:p>
            <a:fld id="{4D7B6BC6-0C8D-45BC-8926-9D37B464F2C5}" type="slidenum">
              <a:rPr lang="zh-CN" altLang="en-US" smtClean="0"/>
              <a:t>49</a:t>
            </a:fld>
            <a:endParaRPr lang="zh-CN" altLang="en-US"/>
          </a:p>
        </p:txBody>
      </p:sp>
    </p:spTree>
    <p:extLst>
      <p:ext uri="{BB962C8B-B14F-4D97-AF65-F5344CB8AC3E}">
        <p14:creationId xmlns:p14="http://schemas.microsoft.com/office/powerpoint/2010/main" val="8801373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2223C-C310-4615-7BAB-D7EBE6AC84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222B1A-161A-FA90-2310-06DC1F0C29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A20873-0BEF-5B8B-F649-76FB74A43C7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EC5DDBD6-4D58-2188-D860-FA7234B64DB8}"/>
              </a:ext>
            </a:extLst>
          </p:cNvPr>
          <p:cNvSpPr>
            <a:spLocks noGrp="1"/>
          </p:cNvSpPr>
          <p:nvPr>
            <p:ph type="sldNum" sz="quarter" idx="5"/>
          </p:nvPr>
        </p:nvSpPr>
        <p:spPr/>
        <p:txBody>
          <a:bodyPr/>
          <a:lstStyle/>
          <a:p>
            <a:fld id="{4D7B6BC6-0C8D-45BC-8926-9D37B464F2C5}" type="slidenum">
              <a:rPr lang="zh-CN" altLang="en-US" smtClean="0"/>
              <a:t>50</a:t>
            </a:fld>
            <a:endParaRPr lang="zh-CN" altLang="en-US"/>
          </a:p>
        </p:txBody>
      </p:sp>
    </p:spTree>
    <p:extLst>
      <p:ext uri="{BB962C8B-B14F-4D97-AF65-F5344CB8AC3E}">
        <p14:creationId xmlns:p14="http://schemas.microsoft.com/office/powerpoint/2010/main" val="18914233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7B624-04AD-EED5-AB10-3392DCE336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9139B8-1E17-50DB-17EB-CEA1DD3863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5BAB17-7ACB-080D-E54F-3D3B5B36153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784A6A2-6AF5-5533-49B0-0EC58007E4D1}"/>
              </a:ext>
            </a:extLst>
          </p:cNvPr>
          <p:cNvSpPr>
            <a:spLocks noGrp="1"/>
          </p:cNvSpPr>
          <p:nvPr>
            <p:ph type="sldNum" sz="quarter" idx="5"/>
          </p:nvPr>
        </p:nvSpPr>
        <p:spPr/>
        <p:txBody>
          <a:bodyPr/>
          <a:lstStyle/>
          <a:p>
            <a:fld id="{4D7B6BC6-0C8D-45BC-8926-9D37B464F2C5}" type="slidenum">
              <a:rPr lang="zh-CN" altLang="en-US" smtClean="0"/>
              <a:t>51</a:t>
            </a:fld>
            <a:endParaRPr lang="zh-CN" altLang="en-US"/>
          </a:p>
        </p:txBody>
      </p:sp>
    </p:spTree>
    <p:extLst>
      <p:ext uri="{BB962C8B-B14F-4D97-AF65-F5344CB8AC3E}">
        <p14:creationId xmlns:p14="http://schemas.microsoft.com/office/powerpoint/2010/main" val="21671152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B2A2-6B6D-0E0C-1A6C-BB0FCE8EE8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FC5B86-9933-2969-F3FF-BC473C7A59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0E1D8F-A113-0DBE-C29E-19CA9755210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A762F29-B654-A210-6CC7-F9242BDA02E1}"/>
              </a:ext>
            </a:extLst>
          </p:cNvPr>
          <p:cNvSpPr>
            <a:spLocks noGrp="1"/>
          </p:cNvSpPr>
          <p:nvPr>
            <p:ph type="sldNum" sz="quarter" idx="5"/>
          </p:nvPr>
        </p:nvSpPr>
        <p:spPr/>
        <p:txBody>
          <a:bodyPr/>
          <a:lstStyle/>
          <a:p>
            <a:fld id="{4D7B6BC6-0C8D-45BC-8926-9D37B464F2C5}" type="slidenum">
              <a:rPr lang="zh-CN" altLang="en-US" smtClean="0"/>
              <a:t>52</a:t>
            </a:fld>
            <a:endParaRPr lang="zh-CN" altLang="en-US"/>
          </a:p>
        </p:txBody>
      </p:sp>
    </p:spTree>
    <p:extLst>
      <p:ext uri="{BB962C8B-B14F-4D97-AF65-F5344CB8AC3E}">
        <p14:creationId xmlns:p14="http://schemas.microsoft.com/office/powerpoint/2010/main" val="6371723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266BD-C438-161A-FCDD-D480B4C987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827AC2-CAEC-D3B8-F09C-92BB15B21F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874FA8-FCEF-F3D3-8ED1-61D7DCADAA4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C00FE73-2778-E22C-38F3-DFA07986473C}"/>
              </a:ext>
            </a:extLst>
          </p:cNvPr>
          <p:cNvSpPr>
            <a:spLocks noGrp="1"/>
          </p:cNvSpPr>
          <p:nvPr>
            <p:ph type="sldNum" sz="quarter" idx="5"/>
          </p:nvPr>
        </p:nvSpPr>
        <p:spPr/>
        <p:txBody>
          <a:bodyPr/>
          <a:lstStyle/>
          <a:p>
            <a:fld id="{4D7B6BC6-0C8D-45BC-8926-9D37B464F2C5}" type="slidenum">
              <a:rPr lang="zh-CN" altLang="en-US" smtClean="0"/>
              <a:t>53</a:t>
            </a:fld>
            <a:endParaRPr lang="zh-CN" altLang="en-US"/>
          </a:p>
        </p:txBody>
      </p:sp>
    </p:spTree>
    <p:extLst>
      <p:ext uri="{BB962C8B-B14F-4D97-AF65-F5344CB8AC3E}">
        <p14:creationId xmlns:p14="http://schemas.microsoft.com/office/powerpoint/2010/main" val="28308440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F19-63AB-DBA7-54A1-E3407C3749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70735B-7E85-55CE-AE50-024779FF41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7BD66F-8D06-D756-594C-C41FBBCDC45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879B880-790D-6588-E2F8-F68E78153F0A}"/>
              </a:ext>
            </a:extLst>
          </p:cNvPr>
          <p:cNvSpPr>
            <a:spLocks noGrp="1"/>
          </p:cNvSpPr>
          <p:nvPr>
            <p:ph type="sldNum" sz="quarter" idx="5"/>
          </p:nvPr>
        </p:nvSpPr>
        <p:spPr/>
        <p:txBody>
          <a:bodyPr/>
          <a:lstStyle/>
          <a:p>
            <a:fld id="{4D7B6BC6-0C8D-45BC-8926-9D37B464F2C5}" type="slidenum">
              <a:rPr lang="zh-CN" altLang="en-US" smtClean="0"/>
              <a:t>54</a:t>
            </a:fld>
            <a:endParaRPr lang="zh-CN" altLang="en-US"/>
          </a:p>
        </p:txBody>
      </p:sp>
    </p:spTree>
    <p:extLst>
      <p:ext uri="{BB962C8B-B14F-4D97-AF65-F5344CB8AC3E}">
        <p14:creationId xmlns:p14="http://schemas.microsoft.com/office/powerpoint/2010/main" val="36155737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56BCC-CA7C-167A-3C3F-C815308A5C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0C9486-C1CA-E2DD-957B-7779EE264A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CBBF04-C92D-9C00-22C9-481F824B94B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3F56360-C7A9-F402-E071-E00943E321D3}"/>
              </a:ext>
            </a:extLst>
          </p:cNvPr>
          <p:cNvSpPr>
            <a:spLocks noGrp="1"/>
          </p:cNvSpPr>
          <p:nvPr>
            <p:ph type="sldNum" sz="quarter" idx="5"/>
          </p:nvPr>
        </p:nvSpPr>
        <p:spPr/>
        <p:txBody>
          <a:bodyPr/>
          <a:lstStyle/>
          <a:p>
            <a:fld id="{4D7B6BC6-0C8D-45BC-8926-9D37B464F2C5}" type="slidenum">
              <a:rPr lang="zh-CN" altLang="en-US" smtClean="0"/>
              <a:t>55</a:t>
            </a:fld>
            <a:endParaRPr lang="zh-CN" altLang="en-US"/>
          </a:p>
        </p:txBody>
      </p:sp>
    </p:spTree>
    <p:extLst>
      <p:ext uri="{BB962C8B-B14F-4D97-AF65-F5344CB8AC3E}">
        <p14:creationId xmlns:p14="http://schemas.microsoft.com/office/powerpoint/2010/main" val="42818070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F3D7-960F-EBEC-58AD-236027F162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9A6114-38DC-E85C-202B-24EBEA34DA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C3B0BF-6B14-1689-B598-42F428B6F94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F0CD3CB-F023-2F05-5825-DEE94E4A37D7}"/>
              </a:ext>
            </a:extLst>
          </p:cNvPr>
          <p:cNvSpPr>
            <a:spLocks noGrp="1"/>
          </p:cNvSpPr>
          <p:nvPr>
            <p:ph type="sldNum" sz="quarter" idx="5"/>
          </p:nvPr>
        </p:nvSpPr>
        <p:spPr/>
        <p:txBody>
          <a:bodyPr/>
          <a:lstStyle/>
          <a:p>
            <a:fld id="{4D7B6BC6-0C8D-45BC-8926-9D37B464F2C5}" type="slidenum">
              <a:rPr lang="zh-CN" altLang="en-US" smtClean="0"/>
              <a:t>56</a:t>
            </a:fld>
            <a:endParaRPr lang="zh-CN" altLang="en-US"/>
          </a:p>
        </p:txBody>
      </p:sp>
    </p:spTree>
    <p:extLst>
      <p:ext uri="{BB962C8B-B14F-4D97-AF65-F5344CB8AC3E}">
        <p14:creationId xmlns:p14="http://schemas.microsoft.com/office/powerpoint/2010/main" val="34204322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40C71-DB8F-32BF-3EA0-240F1F807A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29BD06-5E08-ED6E-826C-14FAD8105D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D736EB-A517-95BB-6210-36D10B8D924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93D4050-1104-2CDF-C0F1-7E87E564C5BF}"/>
              </a:ext>
            </a:extLst>
          </p:cNvPr>
          <p:cNvSpPr>
            <a:spLocks noGrp="1"/>
          </p:cNvSpPr>
          <p:nvPr>
            <p:ph type="sldNum" sz="quarter" idx="5"/>
          </p:nvPr>
        </p:nvSpPr>
        <p:spPr/>
        <p:txBody>
          <a:bodyPr/>
          <a:lstStyle/>
          <a:p>
            <a:fld id="{4D7B6BC6-0C8D-45BC-8926-9D37B464F2C5}" type="slidenum">
              <a:rPr lang="zh-CN" altLang="en-US" smtClean="0"/>
              <a:t>57</a:t>
            </a:fld>
            <a:endParaRPr lang="zh-CN" altLang="en-US"/>
          </a:p>
        </p:txBody>
      </p:sp>
    </p:spTree>
    <p:extLst>
      <p:ext uri="{BB962C8B-B14F-4D97-AF65-F5344CB8AC3E}">
        <p14:creationId xmlns:p14="http://schemas.microsoft.com/office/powerpoint/2010/main" val="11813233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7DC7C-EA85-41EA-BE8E-3BC04B9579C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7DC7C-EA85-41EA-BE8E-3BC04B9579C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D7B6BC6-0C8D-45BC-8926-9D37B464F2C5}"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endParaRPr lang="zh-CN" altLang="zh-CN" sz="1800" u="none" strike="noStrike" kern="100" dirty="0">
              <a:effectLst/>
              <a:uFill>
                <a:solidFill>
                  <a:srgbClr val="FF0000"/>
                </a:solidFill>
              </a:uFill>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FCFA17A4-43BB-4AD9-86D2-686535B37B33}" type="slidenum">
              <a:rPr lang="zh-CN" altLang="en-US" smtClean="0"/>
              <a:t>63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aseline="0">
                <a:ea typeface="微软雅黑" panose="020B0503020204020204" pitchFamily="34"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baseline="0">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baseline="0">
                <a:ea typeface="微软雅黑" panose="020B0503020204020204" pitchFamily="34" charset="-122"/>
              </a:defRPr>
            </a:lvl1p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lvl1pPr>
              <a:defRPr baseline="0">
                <a:ea typeface="微软雅黑" panose="020B0503020204020204" pitchFamily="34" charset="-122"/>
              </a:defRPr>
            </a:lvl1pPr>
          </a:lstStyle>
          <a:p>
            <a:endParaRPr lang="zh-CN" altLang="en-US"/>
          </a:p>
        </p:txBody>
      </p:sp>
      <p:sp>
        <p:nvSpPr>
          <p:cNvPr id="6" name="Slide Number Placeholder 5"/>
          <p:cNvSpPr>
            <a:spLocks noGrp="1"/>
          </p:cNvSpPr>
          <p:nvPr>
            <p:ph type="sldNum" sz="quarter" idx="12"/>
          </p:nvPr>
        </p:nvSpPr>
        <p:spPr/>
        <p:txBody>
          <a:bodyPr/>
          <a:lstStyle>
            <a:lvl1pPr>
              <a:defRPr baseline="0">
                <a:ea typeface="微软雅黑" panose="020B0503020204020204" pitchFamily="34" charset="-122"/>
              </a:defRPr>
            </a:lvl1pPr>
          </a:lstStyle>
          <a:p>
            <a:fld id="{EB98E537-25EF-43DC-B8D6-11C85BFF54C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98E537-25EF-43DC-B8D6-11C85BFF54C2}"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873F466-D59D-4636-99A7-543134132DF6}" type="datetimeFigureOut">
              <a:rPr lang="zh-CN" altLang="en-US" smtClean="0"/>
              <a:t>2025/11/19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98E537-25EF-43DC-B8D6-11C85BFF54C2}"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11/19/2025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p:cNvSpPr/>
          <p:nvPr userDrawn="1"/>
        </p:nvSpPr>
        <p:spPr>
          <a:xfrm>
            <a:off x="0" y="6812282"/>
            <a:ext cx="12192000" cy="45719"/>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nvSpPr>
        <p:spPr>
          <a:xfrm>
            <a:off x="0" y="613681"/>
            <a:ext cx="12192000" cy="690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9" name="组合 18"/>
          <p:cNvGrpSpPr/>
          <p:nvPr userDrawn="1"/>
        </p:nvGrpSpPr>
        <p:grpSpPr>
          <a:xfrm>
            <a:off x="-1587" y="581252"/>
            <a:ext cx="4204154" cy="104778"/>
            <a:chOff x="-95247" y="364688"/>
            <a:chExt cx="4204154" cy="104778"/>
          </a:xfrm>
        </p:grpSpPr>
        <p:sp>
          <p:nvSpPr>
            <p:cNvPr id="16" name="流程图: 手动输入 15"/>
            <p:cNvSpPr/>
            <p:nvPr userDrawn="1"/>
          </p:nvSpPr>
          <p:spPr>
            <a:xfrm rot="5400000">
              <a:off x="3603853" y="-35589"/>
              <a:ext cx="104777" cy="905331"/>
            </a:xfrm>
            <a:prstGeom prst="flowChartManualInpu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userDrawn="1"/>
          </p:nvSpPr>
          <p:spPr>
            <a:xfrm rot="10800000">
              <a:off x="-95247" y="364689"/>
              <a:ext cx="3298823" cy="10477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gr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slideLayout" Target="../slideLayouts/slideLayout1.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2.png"/><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27.xml"/></Relationships>
</file>

<file path=ppt/slides/_rels/slide9.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tags" Target="../tags/tag45.xml"/><Relationship Id="rId3" Type="http://schemas.openxmlformats.org/officeDocument/2006/relationships/tags" Target="../tags/tag30.xml"/><Relationship Id="rId21" Type="http://schemas.openxmlformats.org/officeDocument/2006/relationships/slideLayout" Target="../slideLayouts/slideLayout1.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tags" Target="../tags/tag47.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image" Target="../media/image2.png"/><Relationship Id="rId10" Type="http://schemas.openxmlformats.org/officeDocument/2006/relationships/tags" Target="../tags/tag37.xml"/><Relationship Id="rId19" Type="http://schemas.openxmlformats.org/officeDocument/2006/relationships/tags" Target="../tags/tag46.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4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4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13.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slideLayout" Target="../slideLayouts/slideLayout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image" Target="../media/image2.png"/><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7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7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73.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74.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75.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9.xml"/><Relationship Id="rId7" Type="http://schemas.openxmlformats.org/officeDocument/2006/relationships/image" Target="../media/image11.png"/><Relationship Id="rId2" Type="http://schemas.openxmlformats.org/officeDocument/2006/relationships/slideLayout" Target="../slideLayouts/slideLayout14.xml"/><Relationship Id="rId1" Type="http://schemas.openxmlformats.org/officeDocument/2006/relationships/tags" Target="../tags/tag7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ags" Target="../tags/tag7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tags" Target="../tags/tag7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tags" Target="../tags/tag79.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4.xml"/><Relationship Id="rId1" Type="http://schemas.openxmlformats.org/officeDocument/2006/relationships/tags" Target="../tags/tag80.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4.xml"/><Relationship Id="rId1" Type="http://schemas.openxmlformats.org/officeDocument/2006/relationships/tags" Target="../tags/tag81.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tags" Target="../tags/tag8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tags" Target="../tags/tag83.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tags" Target="../tags/tag84.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tags" Target="../tags/tag85.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tags" Target="../tags/tag86.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tags" Target="../tags/tag8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tags" Target="../tags/tag8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4.xml"/><Relationship Id="rId1" Type="http://schemas.openxmlformats.org/officeDocument/2006/relationships/tags" Target="../tags/tag8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9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tags" Target="../tags/tag9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tags" Target="../tags/tag9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ags" Target="../tags/tag9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4.xml"/><Relationship Id="rId1" Type="http://schemas.openxmlformats.org/officeDocument/2006/relationships/tags" Target="../tags/tag94.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4.xml"/><Relationship Id="rId1" Type="http://schemas.openxmlformats.org/officeDocument/2006/relationships/tags" Target="../tags/tag95.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4.xml"/><Relationship Id="rId1" Type="http://schemas.openxmlformats.org/officeDocument/2006/relationships/tags" Target="../tags/tag96.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tags" Target="../tags/tag9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4.xml"/><Relationship Id="rId1" Type="http://schemas.openxmlformats.org/officeDocument/2006/relationships/tags" Target="../tags/tag98.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4.xml"/><Relationship Id="rId1" Type="http://schemas.openxmlformats.org/officeDocument/2006/relationships/tags" Target="../tags/tag9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tags" Target="../tags/tag100.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tags" Target="../tags/tag101.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4.xml"/><Relationship Id="rId1" Type="http://schemas.openxmlformats.org/officeDocument/2006/relationships/tags" Target="../tags/tag102.xml"/><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4.xml"/><Relationship Id="rId1" Type="http://schemas.openxmlformats.org/officeDocument/2006/relationships/tags" Target="../tags/tag103.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4.xml"/><Relationship Id="rId1" Type="http://schemas.openxmlformats.org/officeDocument/2006/relationships/tags" Target="../tags/tag104.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4.xml"/><Relationship Id="rId1" Type="http://schemas.openxmlformats.org/officeDocument/2006/relationships/tags" Target="../tags/tag105.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4.xml"/><Relationship Id="rId1" Type="http://schemas.openxmlformats.org/officeDocument/2006/relationships/tags" Target="../tags/tag106.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4.xml"/><Relationship Id="rId1" Type="http://schemas.openxmlformats.org/officeDocument/2006/relationships/tags" Target="../tags/tag107.xm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tags" Target="../tags/tag108.xm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4.xml"/><Relationship Id="rId1" Type="http://schemas.openxmlformats.org/officeDocument/2006/relationships/tags" Target="../tags/tag109.xml"/><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4.xml"/><Relationship Id="rId1" Type="http://schemas.openxmlformats.org/officeDocument/2006/relationships/tags" Target="../tags/tag110.xml"/><Relationship Id="rId5" Type="http://schemas.openxmlformats.org/officeDocument/2006/relationships/image" Target="../media/image41.png"/><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4.xml"/><Relationship Id="rId1" Type="http://schemas.openxmlformats.org/officeDocument/2006/relationships/tags" Target="../tags/tag111.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4.xml"/><Relationship Id="rId1" Type="http://schemas.openxmlformats.org/officeDocument/2006/relationships/tags" Target="../tags/tag112.xml"/><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4.xml"/><Relationship Id="rId1" Type="http://schemas.openxmlformats.org/officeDocument/2006/relationships/tags" Target="../tags/tag1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4.xml"/><Relationship Id="rId1" Type="http://schemas.openxmlformats.org/officeDocument/2006/relationships/tags" Target="../tags/tag114.xml"/></Relationships>
</file>

<file path=ppt/slides/_rels/slide58.xml.rels><?xml version="1.0" encoding="UTF-8" standalone="yes"?>
<Relationships xmlns="http://schemas.openxmlformats.org/package/2006/relationships"><Relationship Id="rId8" Type="http://schemas.openxmlformats.org/officeDocument/2006/relationships/tags" Target="../tags/tag122.xml"/><Relationship Id="rId13" Type="http://schemas.openxmlformats.org/officeDocument/2006/relationships/tags" Target="../tags/tag127.xml"/><Relationship Id="rId18" Type="http://schemas.openxmlformats.org/officeDocument/2006/relationships/tags" Target="../tags/tag132.xml"/><Relationship Id="rId3" Type="http://schemas.openxmlformats.org/officeDocument/2006/relationships/tags" Target="../tags/tag117.xml"/><Relationship Id="rId21" Type="http://schemas.openxmlformats.org/officeDocument/2006/relationships/slideLayout" Target="../slideLayouts/slideLayout1.xml"/><Relationship Id="rId7" Type="http://schemas.openxmlformats.org/officeDocument/2006/relationships/tags" Target="../tags/tag121.xml"/><Relationship Id="rId12" Type="http://schemas.openxmlformats.org/officeDocument/2006/relationships/tags" Target="../tags/tag126.xml"/><Relationship Id="rId17" Type="http://schemas.openxmlformats.org/officeDocument/2006/relationships/tags" Target="../tags/tag131.xml"/><Relationship Id="rId2" Type="http://schemas.openxmlformats.org/officeDocument/2006/relationships/tags" Target="../tags/tag116.xml"/><Relationship Id="rId16" Type="http://schemas.openxmlformats.org/officeDocument/2006/relationships/tags" Target="../tags/tag130.xml"/><Relationship Id="rId20" Type="http://schemas.openxmlformats.org/officeDocument/2006/relationships/tags" Target="../tags/tag134.xml"/><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tags" Target="../tags/tag125.xml"/><Relationship Id="rId5" Type="http://schemas.openxmlformats.org/officeDocument/2006/relationships/tags" Target="../tags/tag119.xml"/><Relationship Id="rId15" Type="http://schemas.openxmlformats.org/officeDocument/2006/relationships/tags" Target="../tags/tag129.xml"/><Relationship Id="rId23" Type="http://schemas.openxmlformats.org/officeDocument/2006/relationships/image" Target="../media/image2.png"/><Relationship Id="rId10" Type="http://schemas.openxmlformats.org/officeDocument/2006/relationships/tags" Target="../tags/tag124.xml"/><Relationship Id="rId19" Type="http://schemas.openxmlformats.org/officeDocument/2006/relationships/tags" Target="../tags/tag133.xml"/><Relationship Id="rId4" Type="http://schemas.openxmlformats.org/officeDocument/2006/relationships/tags" Target="../tags/tag118.xml"/><Relationship Id="rId9" Type="http://schemas.openxmlformats.org/officeDocument/2006/relationships/tags" Target="../tags/tag123.xml"/><Relationship Id="rId14" Type="http://schemas.openxmlformats.org/officeDocument/2006/relationships/tags" Target="../tags/tag128.xml"/><Relationship Id="rId2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4.xml"/><Relationship Id="rId1" Type="http://schemas.openxmlformats.org/officeDocument/2006/relationships/tags" Target="../tags/tag13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4.xml"/><Relationship Id="rId1" Type="http://schemas.openxmlformats.org/officeDocument/2006/relationships/tags" Target="../tags/tag136.xml"/></Relationships>
</file>

<file path=ppt/slides/_rels/slide61.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tags" Target="../tags/tag154.xml"/><Relationship Id="rId3" Type="http://schemas.openxmlformats.org/officeDocument/2006/relationships/tags" Target="../tags/tag139.xml"/><Relationship Id="rId21" Type="http://schemas.openxmlformats.org/officeDocument/2006/relationships/slideLayout" Target="../slideLayouts/slideLayout1.xml"/><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tags" Target="../tags/tag153.xml"/><Relationship Id="rId2" Type="http://schemas.openxmlformats.org/officeDocument/2006/relationships/tags" Target="../tags/tag138.xml"/><Relationship Id="rId16" Type="http://schemas.openxmlformats.org/officeDocument/2006/relationships/tags" Target="../tags/tag152.xml"/><Relationship Id="rId20" Type="http://schemas.openxmlformats.org/officeDocument/2006/relationships/tags" Target="../tags/tag156.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23" Type="http://schemas.openxmlformats.org/officeDocument/2006/relationships/image" Target="../media/image2.png"/><Relationship Id="rId10" Type="http://schemas.openxmlformats.org/officeDocument/2006/relationships/tags" Target="../tags/tag146.xml"/><Relationship Id="rId19" Type="http://schemas.openxmlformats.org/officeDocument/2006/relationships/tags" Target="../tags/tag155.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4.xml"/><Relationship Id="rId1" Type="http://schemas.openxmlformats.org/officeDocument/2006/relationships/tags" Target="../tags/tag157.xml"/></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电路,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t="15432" b="28468"/>
          <a:stretch>
            <a:fillRect/>
          </a:stretch>
        </p:blipFill>
        <p:spPr>
          <a:xfrm>
            <a:off x="0" y="5945"/>
            <a:ext cx="12192000" cy="2792458"/>
          </a:xfrm>
          <a:prstGeom prst="rect">
            <a:avLst/>
          </a:prstGeom>
        </p:spPr>
      </p:pic>
      <p:sp>
        <p:nvSpPr>
          <p:cNvPr id="39" name="矩形 38"/>
          <p:cNvSpPr/>
          <p:nvPr/>
        </p:nvSpPr>
        <p:spPr>
          <a:xfrm rot="10800000" flipV="1">
            <a:off x="0" y="0"/>
            <a:ext cx="12192000" cy="2798403"/>
          </a:xfrm>
          <a:prstGeom prst="rect">
            <a:avLst/>
          </a:prstGeom>
          <a:gradFill>
            <a:gsLst>
              <a:gs pos="34000">
                <a:srgbClr val="14818A">
                  <a:alpha val="50000"/>
                </a:srgbClr>
              </a:gs>
              <a:gs pos="85000">
                <a:srgbClr val="2163B0">
                  <a:alpha val="80000"/>
                </a:srgbClr>
              </a:gs>
              <a:gs pos="0">
                <a:srgbClr val="00B050">
                  <a:alpha val="28000"/>
                </a:srgb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245717" y="2841528"/>
            <a:ext cx="11700566" cy="891540"/>
          </a:xfrm>
          <a:prstGeom prst="rect">
            <a:avLst/>
          </a:prstGeom>
          <a:noFill/>
          <a:ln>
            <a:noFill/>
          </a:ln>
        </p:spPr>
        <p:txBody>
          <a:bodyPr wrap="square">
            <a:spAutoFit/>
          </a:bodyPr>
          <a:lstStyle/>
          <a:p>
            <a:pPr>
              <a:lnSpc>
                <a:spcPct val="130000"/>
              </a:lnSpc>
            </a:pPr>
            <a:r>
              <a:rPr lang="zh-CN" altLang="en-US" sz="4000" b="1" dirty="0">
                <a:ln w="6350">
                  <a:noFill/>
                </a:ln>
                <a:solidFill>
                  <a:srgbClr val="002060"/>
                </a:solidFill>
                <a:latin typeface="微软雅黑" panose="020B0503020204020204" pitchFamily="34" charset="-122"/>
                <a:ea typeface="微软雅黑" panose="020B0503020204020204" pitchFamily="34" charset="-122"/>
              </a:rPr>
              <a:t>项目：</a:t>
            </a:r>
            <a:r>
              <a:rPr lang="en-US" altLang="zh-CN" sz="4000" b="1" dirty="0">
                <a:ln w="6350">
                  <a:noFill/>
                </a:ln>
                <a:solidFill>
                  <a:srgbClr val="002060"/>
                </a:solidFill>
                <a:latin typeface="微软雅黑" panose="020B0503020204020204" pitchFamily="34" charset="-122"/>
                <a:ea typeface="微软雅黑" panose="020B0503020204020204" pitchFamily="34" charset="-122"/>
              </a:rPr>
              <a:t>XXXX</a:t>
            </a:r>
          </a:p>
        </p:txBody>
      </p:sp>
      <p:sp>
        <p:nvSpPr>
          <p:cNvPr id="42" name="矩形 41"/>
          <p:cNvSpPr/>
          <p:nvPr/>
        </p:nvSpPr>
        <p:spPr>
          <a:xfrm>
            <a:off x="359629" y="4499453"/>
            <a:ext cx="4472940" cy="45719"/>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flipH="1">
            <a:off x="0" y="2705100"/>
            <a:ext cx="12192000" cy="93303"/>
          </a:xfrm>
          <a:prstGeom prst="rect">
            <a:avLst/>
          </a:prstGeom>
          <a:gradFill>
            <a:gsLst>
              <a:gs pos="19000">
                <a:srgbClr val="FFC000"/>
              </a:gs>
              <a:gs pos="92000">
                <a:srgbClr val="FFC000">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358140"/>
            <a:ext cx="12192000" cy="454707"/>
          </a:xfrm>
          <a:prstGeom prst="rect">
            <a:avLst/>
          </a:prstGeom>
          <a:gradFill>
            <a:gsLst>
              <a:gs pos="19000">
                <a:schemeClr val="accent2">
                  <a:lumMod val="75000"/>
                </a:schemeClr>
              </a:gs>
              <a:gs pos="92000">
                <a:srgbClr val="FFC000">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169129" y="334207"/>
            <a:ext cx="10115331" cy="497205"/>
            <a:chOff x="870694" y="1219505"/>
            <a:chExt cx="10115331" cy="497205"/>
          </a:xfrm>
        </p:grpSpPr>
        <p:sp>
          <p:nvSpPr>
            <p:cNvPr id="59" name="矩形 58"/>
            <p:cNvSpPr/>
            <p:nvPr/>
          </p:nvSpPr>
          <p:spPr>
            <a:xfrm>
              <a:off x="1372126" y="1219505"/>
              <a:ext cx="9613899" cy="497205"/>
            </a:xfrm>
            <a:prstGeom prst="rect">
              <a:avLst/>
            </a:prstGeom>
          </p:spPr>
          <p:txBody>
            <a:bodyPr wrap="square">
              <a:spAutoFit/>
            </a:bodyPr>
            <a:lstStyle/>
            <a:p>
              <a:pPr fontAlgn="base">
                <a:lnSpc>
                  <a:spcPct val="120000"/>
                </a:lnSpc>
                <a:spcAft>
                  <a:spcPct val="0"/>
                </a:spcAft>
                <a:buClr>
                  <a:srgbClr val="EEECE1"/>
                </a:buClr>
                <a:buSzPct val="75000"/>
                <a:defRPr/>
              </a:pPr>
              <a:r>
                <a:rPr lang="zh-CN"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rPr>
                <a:t>郑州水务集团有限公司科技研发项目</a:t>
              </a:r>
              <a:r>
                <a:rPr lang="en-US" altLang="zh-CN"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rPr>
                <a:t> </a:t>
              </a:r>
              <a:r>
                <a:rPr lang="zh-CN"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rPr>
                <a:t>结题验收汇报</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nvGrpSpPr>
            <p:cNvPr id="63" name="组合 62"/>
            <p:cNvGrpSpPr/>
            <p:nvPr/>
          </p:nvGrpSpPr>
          <p:grpSpPr>
            <a:xfrm>
              <a:off x="870694" y="1386046"/>
              <a:ext cx="501432" cy="139700"/>
              <a:chOff x="2009884" y="1422400"/>
              <a:chExt cx="501432" cy="139700"/>
            </a:xfrm>
          </p:grpSpPr>
          <p:sp>
            <p:nvSpPr>
              <p:cNvPr id="60" name="等腰三角形 59"/>
              <p:cNvSpPr/>
              <p:nvPr/>
            </p:nvSpPr>
            <p:spPr>
              <a:xfrm rot="5400000">
                <a:off x="2381250" y="1432034"/>
                <a:ext cx="139700" cy="12043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等腰三角形 60"/>
              <p:cNvSpPr/>
              <p:nvPr/>
            </p:nvSpPr>
            <p:spPr>
              <a:xfrm rot="5400000">
                <a:off x="2190750" y="1432034"/>
                <a:ext cx="139700" cy="120432"/>
              </a:xfrm>
              <a:prstGeom prst="triangle">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nvSpPr>
            <p:spPr>
              <a:xfrm rot="5400000">
                <a:off x="2000250" y="1432034"/>
                <a:ext cx="139700" cy="120432"/>
              </a:xfrm>
              <a:prstGeom prst="triangle">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9" name="表格 6"/>
          <p:cNvGraphicFramePr>
            <a:graphicFrameLocks noGrp="1"/>
          </p:cNvGraphicFramePr>
          <p:nvPr/>
        </p:nvGraphicFramePr>
        <p:xfrm>
          <a:off x="359629" y="4724050"/>
          <a:ext cx="11586654" cy="1185882"/>
        </p:xfrm>
        <a:graphic>
          <a:graphicData uri="http://schemas.openxmlformats.org/drawingml/2006/table">
            <a:tbl>
              <a:tblPr firstRow="1" bandRow="1"/>
              <a:tblGrid>
                <a:gridCol w="1864587">
                  <a:extLst>
                    <a:ext uri="{9D8B030D-6E8A-4147-A177-3AD203B41FA5}">
                      <a16:colId xmlns:a16="http://schemas.microsoft.com/office/drawing/2014/main" val="20000"/>
                    </a:ext>
                  </a:extLst>
                </a:gridCol>
                <a:gridCol w="9722067">
                  <a:extLst>
                    <a:ext uri="{9D8B030D-6E8A-4147-A177-3AD203B41FA5}">
                      <a16:colId xmlns:a16="http://schemas.microsoft.com/office/drawing/2014/main" val="20001"/>
                    </a:ext>
                  </a:extLst>
                </a:gridCol>
              </a:tblGrid>
              <a:tr h="432000">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pPr marL="0" marR="0" lvl="0" indent="0" algn="dist" defTabSz="914400" rtl="0" eaLnBrk="1" fontAlgn="auto" latinLnBrk="0" hangingPunct="1">
                        <a:lnSpc>
                          <a:spcPct val="130000"/>
                        </a:lnSpc>
                        <a:spcBef>
                          <a:spcPts val="0"/>
                        </a:spcBef>
                        <a:spcAft>
                          <a:spcPts val="0"/>
                        </a:spcAft>
                        <a:buClrTx/>
                        <a:buSzTx/>
                        <a:buFontTx/>
                        <a:buNone/>
                        <a:defRPr/>
                      </a:pPr>
                      <a:r>
                        <a:rPr lang="zh-CN" altLang="en-US" sz="1800" b="1" kern="1200" dirty="0">
                          <a:solidFill>
                            <a:srgbClr val="0070C0"/>
                          </a:solidFill>
                          <a:latin typeface="微软雅黑" panose="020B0503020204020204" pitchFamily="34" charset="-122"/>
                          <a:ea typeface="微软雅黑" panose="020B0503020204020204" pitchFamily="34" charset="-122"/>
                          <a:cs typeface="+mn-cs"/>
                          <a:sym typeface="+mn-lt"/>
                        </a:rPr>
                        <a:t>项目负责人：</a:t>
                      </a:r>
                      <a:endParaRPr lang="en-US" altLang="zh-CN" sz="1800" b="1" kern="1200" noProof="0" dirty="0">
                        <a:solidFill>
                          <a:srgbClr val="0070C0"/>
                        </a:solidFill>
                        <a:latin typeface="微软雅黑" panose="020B0503020204020204" pitchFamily="34" charset="-122"/>
                        <a:ea typeface="微软雅黑" panose="020B0503020204020204" pitchFamily="34" charset="-122"/>
                        <a:cs typeface="+mn-cs"/>
                        <a:sym typeface="+mn-lt"/>
                      </a:endParaRP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lang="en-US" altLang="zh-CN" sz="1800" b="1" kern="1200" dirty="0">
                          <a:solidFill>
                            <a:srgbClr val="0070C0"/>
                          </a:solidFill>
                          <a:latin typeface="微软雅黑" panose="020B0503020204020204" pitchFamily="34" charset="-122"/>
                          <a:ea typeface="微软雅黑" panose="020B0503020204020204" pitchFamily="34" charset="-122"/>
                          <a:cs typeface="+mn-cs"/>
                          <a:sym typeface="+mn-lt"/>
                        </a:rPr>
                        <a:t>XXXX</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2000">
                <a:tc>
                  <a:txBody>
                    <a:bodyPr/>
                    <a:lstStyle/>
                    <a:p>
                      <a:pPr marL="0" marR="0" lvl="0" indent="0" algn="dist" defTabSz="914400" rtl="0" eaLnBrk="1" fontAlgn="auto" latinLnBrk="0" hangingPunct="1">
                        <a:lnSpc>
                          <a:spcPct val="130000"/>
                        </a:lnSpc>
                        <a:spcBef>
                          <a:spcPts val="0"/>
                        </a:spcBef>
                        <a:spcAft>
                          <a:spcPts val="0"/>
                        </a:spcAft>
                        <a:buClrTx/>
                        <a:buSzTx/>
                        <a:buFontTx/>
                        <a:buNone/>
                        <a:defRPr/>
                      </a:pPr>
                      <a:r>
                        <a:rPr lang="zh-CN" altLang="en-US" sz="1800" b="1" kern="1200" dirty="0">
                          <a:solidFill>
                            <a:srgbClr val="0070C0"/>
                          </a:solidFill>
                          <a:latin typeface="微软雅黑" panose="020B0503020204020204" pitchFamily="34" charset="-122"/>
                          <a:ea typeface="微软雅黑" panose="020B0503020204020204" pitchFamily="34" charset="-122"/>
                          <a:cs typeface="+mn-cs"/>
                          <a:sym typeface="+mn-lt"/>
                        </a:rPr>
                        <a:t>项目承担单位：</a:t>
                      </a:r>
                      <a:endParaRPr lang="en-US" altLang="zh-CN" sz="1800" b="1" kern="1200" noProof="0" dirty="0">
                        <a:solidFill>
                          <a:srgbClr val="0070C0"/>
                        </a:solidFill>
                        <a:latin typeface="微软雅黑" panose="020B0503020204020204" pitchFamily="34" charset="-122"/>
                        <a:ea typeface="微软雅黑" panose="020B0503020204020204" pitchFamily="34" charset="-122"/>
                        <a:cs typeface="+mn-cs"/>
                        <a:sym typeface="+mn-lt"/>
                      </a:endParaRP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30000"/>
                        </a:lnSpc>
                        <a:spcBef>
                          <a:spcPts val="0"/>
                        </a:spcBef>
                        <a:spcAft>
                          <a:spcPts val="0"/>
                        </a:spcAft>
                        <a:buClrTx/>
                        <a:buSzTx/>
                        <a:buFontTx/>
                        <a:buNone/>
                        <a:defRPr/>
                      </a:pPr>
                      <a:r>
                        <a:rPr lang="en-US" altLang="zh-CN" sz="1800" b="1" kern="1200" dirty="0">
                          <a:solidFill>
                            <a:srgbClr val="0070C0"/>
                          </a:solidFill>
                          <a:latin typeface="微软雅黑" panose="020B0503020204020204" pitchFamily="34" charset="-122"/>
                          <a:ea typeface="微软雅黑" panose="020B0503020204020204" pitchFamily="34" charset="-122"/>
                          <a:cs typeface="+mn-cs"/>
                          <a:sym typeface="+mn-lt"/>
                        </a:rPr>
                        <a:t>XXXX</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marL="0" marR="0" lvl="0" indent="0" algn="dist" defTabSz="914400" rtl="0" eaLnBrk="1" fontAlgn="auto" latinLnBrk="0" hangingPunct="1">
                        <a:lnSpc>
                          <a:spcPct val="130000"/>
                        </a:lnSpc>
                        <a:spcBef>
                          <a:spcPts val="0"/>
                        </a:spcBef>
                        <a:spcAft>
                          <a:spcPts val="0"/>
                        </a:spcAft>
                        <a:buClrTx/>
                        <a:buSzTx/>
                        <a:buFontTx/>
                        <a:buNone/>
                        <a:defRPr/>
                      </a:pPr>
                      <a:r>
                        <a:rPr lang="zh-CN" altLang="en-US" sz="1800" b="1" kern="1200" dirty="0">
                          <a:solidFill>
                            <a:srgbClr val="0070C0"/>
                          </a:solidFill>
                          <a:latin typeface="微软雅黑" panose="020B0503020204020204" pitchFamily="34" charset="-122"/>
                          <a:ea typeface="微软雅黑" panose="020B0503020204020204" pitchFamily="34" charset="-122"/>
                          <a:cs typeface="+mn-cs"/>
                          <a:sym typeface="+mn-lt"/>
                        </a:rPr>
                        <a:t>项目协作单位：</a:t>
                      </a:r>
                      <a:endParaRPr lang="en-US" altLang="zh-CN" sz="1800" b="1" kern="1200" noProof="0" dirty="0">
                        <a:solidFill>
                          <a:srgbClr val="0070C0"/>
                        </a:solidFill>
                        <a:latin typeface="微软雅黑" panose="020B0503020204020204" pitchFamily="34" charset="-122"/>
                        <a:ea typeface="微软雅黑" panose="020B0503020204020204" pitchFamily="34" charset="-122"/>
                        <a:cs typeface="+mn-cs"/>
                        <a:sym typeface="+mn-lt"/>
                      </a:endParaRP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30000"/>
                        </a:lnSpc>
                        <a:spcBef>
                          <a:spcPts val="0"/>
                        </a:spcBef>
                        <a:spcAft>
                          <a:spcPts val="0"/>
                        </a:spcAft>
                        <a:buClrTx/>
                        <a:buSzTx/>
                        <a:buFontTx/>
                        <a:buNone/>
                        <a:defRPr/>
                      </a:pPr>
                      <a:r>
                        <a:rPr lang="en-US" altLang="zh-CN" sz="1800" b="1" kern="1200" dirty="0">
                          <a:solidFill>
                            <a:srgbClr val="0070C0"/>
                          </a:solidFill>
                          <a:latin typeface="微软雅黑" panose="020B0503020204020204" pitchFamily="34" charset="-122"/>
                          <a:ea typeface="微软雅黑" panose="020B0503020204020204" pitchFamily="34" charset="-122"/>
                          <a:cs typeface="+mn-cs"/>
                          <a:sym typeface="+mn-lt"/>
                        </a:rPr>
                        <a:t>XXXX</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3">
            <a:extLst>
              <a:ext uri="{28A0092B-C50C-407E-A947-70E740481C1C}">
                <a14:useLocalDpi xmlns:a14="http://schemas.microsoft.com/office/drawing/2010/main" val="0"/>
              </a:ext>
            </a:extLst>
          </a:blip>
          <a:srcRect l="4394" r="7885"/>
          <a:stretch>
            <a:fillRect/>
          </a:stretch>
        </p:blipFill>
        <p:spPr>
          <a:xfrm>
            <a:off x="0" y="-2097"/>
            <a:ext cx="6096000" cy="6851228"/>
          </a:xfrm>
          <a:prstGeom prst="rect">
            <a:avLst/>
          </a:prstGeom>
        </p:spPr>
      </p:pic>
      <p:sp>
        <p:nvSpPr>
          <p:cNvPr id="43" name="矩形 42"/>
          <p:cNvSpPr/>
          <p:nvPr/>
        </p:nvSpPr>
        <p:spPr>
          <a:xfrm>
            <a:off x="4893546" y="0"/>
            <a:ext cx="729845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386"/>
            <a:ext cx="4893547" cy="685122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066442" y="1720840"/>
            <a:ext cx="760663"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汇报目录</a:t>
            </a:r>
          </a:p>
        </p:txBody>
      </p:sp>
      <p:grpSp>
        <p:nvGrpSpPr>
          <p:cNvPr id="61" name="组合 60"/>
          <p:cNvGrpSpPr/>
          <p:nvPr>
            <p:custDataLst>
              <p:tags r:id="rId1"/>
            </p:custDataLst>
          </p:nvPr>
        </p:nvGrpSpPr>
        <p:grpSpPr>
          <a:xfrm>
            <a:off x="5879370" y="1083295"/>
            <a:ext cx="5195030" cy="720969"/>
            <a:chOff x="5879370" y="608315"/>
            <a:chExt cx="5195030" cy="720969"/>
          </a:xfrm>
        </p:grpSpPr>
        <p:grpSp>
          <p:nvGrpSpPr>
            <p:cNvPr id="62" name="组合 61"/>
            <p:cNvGrpSpPr/>
            <p:nvPr/>
          </p:nvGrpSpPr>
          <p:grpSpPr>
            <a:xfrm>
              <a:off x="6463210" y="707240"/>
              <a:ext cx="4611190" cy="568369"/>
              <a:chOff x="5969724" y="1809726"/>
              <a:chExt cx="3852000" cy="568369"/>
            </a:xfrm>
          </p:grpSpPr>
          <p:sp>
            <p:nvSpPr>
              <p:cNvPr id="63" name="矩形 62"/>
              <p:cNvSpPr/>
              <p:nvPr>
                <p:custDataLst>
                  <p:tags r:id="rId19"/>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4" name="矩形 63"/>
              <p:cNvSpPr/>
              <p:nvPr>
                <p:custDataLst>
                  <p:tags r:id="rId20"/>
                </p:custDataLst>
              </p:nvPr>
            </p:nvSpPr>
            <p:spPr>
              <a:xfrm>
                <a:off x="6155956" y="1816911"/>
                <a:ext cx="3046681"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项目背景介绍</a:t>
                </a:r>
              </a:p>
            </p:txBody>
          </p:sp>
        </p:grpSp>
        <p:sp>
          <p:nvSpPr>
            <p:cNvPr id="65" name="椭圆 64"/>
            <p:cNvSpPr/>
            <p:nvPr>
              <p:custDataLst>
                <p:tags r:id="rId18"/>
              </p:custDataLst>
            </p:nvPr>
          </p:nvSpPr>
          <p:spPr>
            <a:xfrm>
              <a:off x="5879370" y="608315"/>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C00000"/>
                  </a:solidFill>
                  <a:latin typeface="微软雅黑" panose="020B0503020204020204" pitchFamily="34" charset="-122"/>
                  <a:ea typeface="微软雅黑" panose="020B0503020204020204" pitchFamily="34" charset="-122"/>
                  <a:cs typeface="+mn-ea"/>
                  <a:sym typeface="+mn-lt"/>
                </a:rPr>
                <a:t>一</a:t>
              </a:r>
              <a:endParaRPr lang="zh-CN" altLang="en-US" sz="28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2"/>
            </p:custDataLst>
          </p:nvPr>
        </p:nvGrpSpPr>
        <p:grpSpPr>
          <a:xfrm>
            <a:off x="5879370" y="2000318"/>
            <a:ext cx="5195028" cy="720969"/>
            <a:chOff x="5879370" y="1525338"/>
            <a:chExt cx="5195028" cy="720969"/>
          </a:xfrm>
        </p:grpSpPr>
        <p:grpSp>
          <p:nvGrpSpPr>
            <p:cNvPr id="67" name="组合 66"/>
            <p:cNvGrpSpPr/>
            <p:nvPr/>
          </p:nvGrpSpPr>
          <p:grpSpPr>
            <a:xfrm>
              <a:off x="6463209" y="1645681"/>
              <a:ext cx="4611189" cy="568369"/>
              <a:chOff x="5969724" y="1809726"/>
              <a:chExt cx="3852000" cy="568369"/>
            </a:xfrm>
          </p:grpSpPr>
          <p:sp>
            <p:nvSpPr>
              <p:cNvPr id="68" name="矩形 67"/>
              <p:cNvSpPr/>
              <p:nvPr>
                <p:custDataLst>
                  <p:tags r:id="rId16"/>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9" name="矩形 68"/>
              <p:cNvSpPr/>
              <p:nvPr>
                <p:custDataLst>
                  <p:tags r:id="rId17"/>
                </p:custDataLst>
              </p:nvPr>
            </p:nvSpPr>
            <p:spPr>
              <a:xfrm>
                <a:off x="6155957" y="1816911"/>
                <a:ext cx="1340986"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实施方案</a:t>
                </a:r>
              </a:p>
            </p:txBody>
          </p:sp>
        </p:grpSp>
        <p:sp>
          <p:nvSpPr>
            <p:cNvPr id="70" name="椭圆 69"/>
            <p:cNvSpPr/>
            <p:nvPr>
              <p:custDataLst>
                <p:tags r:id="rId15"/>
              </p:custDataLst>
            </p:nvPr>
          </p:nvSpPr>
          <p:spPr>
            <a:xfrm>
              <a:off x="5879370" y="152533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二</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custDataLst>
              <p:tags r:id="rId3"/>
            </p:custDataLst>
          </p:nvPr>
        </p:nvGrpSpPr>
        <p:grpSpPr>
          <a:xfrm>
            <a:off x="5879370" y="2944178"/>
            <a:ext cx="5195028" cy="720969"/>
            <a:chOff x="5879370" y="2469198"/>
            <a:chExt cx="5195028" cy="720969"/>
          </a:xfrm>
        </p:grpSpPr>
        <p:grpSp>
          <p:nvGrpSpPr>
            <p:cNvPr id="72" name="组合 71"/>
            <p:cNvGrpSpPr/>
            <p:nvPr/>
          </p:nvGrpSpPr>
          <p:grpSpPr>
            <a:xfrm>
              <a:off x="6463212" y="2584122"/>
              <a:ext cx="4611186" cy="568369"/>
              <a:chOff x="5969726" y="1809726"/>
              <a:chExt cx="3852000" cy="568369"/>
            </a:xfrm>
          </p:grpSpPr>
          <p:sp>
            <p:nvSpPr>
              <p:cNvPr id="73" name="矩形 72"/>
              <p:cNvSpPr/>
              <p:nvPr>
                <p:custDataLst>
                  <p:tags r:id="rId13"/>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custDataLst>
                  <p:tags r:id="rId14"/>
                </p:custDataLst>
              </p:nvPr>
            </p:nvSpPr>
            <p:spPr>
              <a:xfrm>
                <a:off x="6155957" y="1816911"/>
                <a:ext cx="2826257"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总体进展与取得成果</a:t>
                </a:r>
              </a:p>
            </p:txBody>
          </p:sp>
        </p:grpSp>
        <p:sp>
          <p:nvSpPr>
            <p:cNvPr id="75" name="椭圆 74"/>
            <p:cNvSpPr/>
            <p:nvPr>
              <p:custDataLst>
                <p:tags r:id="rId12"/>
              </p:custDataLst>
            </p:nvPr>
          </p:nvSpPr>
          <p:spPr>
            <a:xfrm>
              <a:off x="5879370" y="246919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三</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6" name="组合 75"/>
          <p:cNvGrpSpPr/>
          <p:nvPr>
            <p:custDataLst>
              <p:tags r:id="rId4"/>
            </p:custDataLst>
          </p:nvPr>
        </p:nvGrpSpPr>
        <p:grpSpPr>
          <a:xfrm>
            <a:off x="5879370" y="3861204"/>
            <a:ext cx="5195027" cy="720969"/>
            <a:chOff x="5879370" y="3386224"/>
            <a:chExt cx="5195027" cy="720969"/>
          </a:xfrm>
        </p:grpSpPr>
        <p:grpSp>
          <p:nvGrpSpPr>
            <p:cNvPr id="77" name="组合 76"/>
            <p:cNvGrpSpPr/>
            <p:nvPr/>
          </p:nvGrpSpPr>
          <p:grpSpPr>
            <a:xfrm>
              <a:off x="6463212" y="3522563"/>
              <a:ext cx="4611185" cy="568369"/>
              <a:chOff x="5969726" y="1809726"/>
              <a:chExt cx="3852000" cy="568369"/>
            </a:xfrm>
          </p:grpSpPr>
          <p:sp>
            <p:nvSpPr>
              <p:cNvPr id="78" name="矩形 77"/>
              <p:cNvSpPr/>
              <p:nvPr>
                <p:custDataLst>
                  <p:tags r:id="rId10"/>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矩形 78"/>
              <p:cNvSpPr/>
              <p:nvPr>
                <p:custDataLst>
                  <p:tags r:id="rId11"/>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组织实施情况</a:t>
                </a:r>
              </a:p>
            </p:txBody>
          </p:sp>
        </p:grpSp>
        <p:sp>
          <p:nvSpPr>
            <p:cNvPr id="80" name="椭圆 79"/>
            <p:cNvSpPr/>
            <p:nvPr>
              <p:custDataLst>
                <p:tags r:id="rId9"/>
              </p:custDataLst>
            </p:nvPr>
          </p:nvSpPr>
          <p:spPr>
            <a:xfrm>
              <a:off x="5879370" y="3386224"/>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四</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81" name="组合 80"/>
          <p:cNvGrpSpPr/>
          <p:nvPr>
            <p:custDataLst>
              <p:tags r:id="rId5"/>
            </p:custDataLst>
          </p:nvPr>
        </p:nvGrpSpPr>
        <p:grpSpPr>
          <a:xfrm>
            <a:off x="5879370" y="4815906"/>
            <a:ext cx="5195026" cy="720969"/>
            <a:chOff x="5879370" y="4340926"/>
            <a:chExt cx="5195026" cy="720969"/>
          </a:xfrm>
        </p:grpSpPr>
        <p:grpSp>
          <p:nvGrpSpPr>
            <p:cNvPr id="82" name="组合 81"/>
            <p:cNvGrpSpPr/>
            <p:nvPr/>
          </p:nvGrpSpPr>
          <p:grpSpPr>
            <a:xfrm>
              <a:off x="6463212" y="4461004"/>
              <a:ext cx="4611184" cy="568369"/>
              <a:chOff x="5969726" y="1809726"/>
              <a:chExt cx="3852000" cy="568369"/>
            </a:xfrm>
          </p:grpSpPr>
          <p:sp>
            <p:nvSpPr>
              <p:cNvPr id="83" name="矩形 82"/>
              <p:cNvSpPr/>
              <p:nvPr>
                <p:custDataLst>
                  <p:tags r:id="rId7"/>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4" name="矩形 83"/>
              <p:cNvSpPr/>
              <p:nvPr>
                <p:custDataLst>
                  <p:tags r:id="rId8"/>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经费执行情况</a:t>
                </a:r>
              </a:p>
            </p:txBody>
          </p:sp>
        </p:grpSp>
        <p:sp>
          <p:nvSpPr>
            <p:cNvPr id="85" name="椭圆 84"/>
            <p:cNvSpPr/>
            <p:nvPr>
              <p:custDataLst>
                <p:tags r:id="rId6"/>
              </p:custDataLst>
            </p:nvPr>
          </p:nvSpPr>
          <p:spPr>
            <a:xfrm>
              <a:off x="5879370" y="4340926"/>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五</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1.1 </a:t>
            </a:r>
            <a:r>
              <a:rPr sz="2400" b="1" dirty="0">
                <a:solidFill>
                  <a:srgbClr val="002060"/>
                </a:solidFill>
                <a:latin typeface="微软雅黑" panose="020B0503020204020204" pitchFamily="34" charset="-122"/>
                <a:ea typeface="微软雅黑" panose="020B0503020204020204" pitchFamily="34" charset="-122"/>
              </a:rPr>
              <a:t>背</a:t>
            </a:r>
            <a:r>
              <a:rPr lang="en-US" altLang="zh-CN" sz="2400" b="1" dirty="0">
                <a:solidFill>
                  <a:srgbClr val="002060"/>
                </a:solidFill>
                <a:latin typeface="微软雅黑" panose="020B0503020204020204" pitchFamily="34" charset="-122"/>
                <a:ea typeface="微软雅黑" panose="020B0503020204020204" pitchFamily="34" charset="-122"/>
              </a:rPr>
              <a:t> </a:t>
            </a:r>
            <a:r>
              <a:rPr sz="2400" b="1" dirty="0">
                <a:solidFill>
                  <a:srgbClr val="002060"/>
                </a:solidFill>
                <a:latin typeface="微软雅黑" panose="020B0503020204020204" pitchFamily="34" charset="-122"/>
                <a:ea typeface="微软雅黑" panose="020B0503020204020204" pitchFamily="34" charset="-122"/>
              </a:rPr>
              <a:t>景</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1.2 </a:t>
            </a:r>
            <a:r>
              <a:rPr sz="2400" b="1" dirty="0">
                <a:solidFill>
                  <a:srgbClr val="002060"/>
                </a:solidFill>
                <a:latin typeface="微软雅黑" panose="020B0503020204020204" pitchFamily="34" charset="-122"/>
                <a:ea typeface="微软雅黑" panose="020B0503020204020204" pitchFamily="34" charset="-122"/>
              </a:rPr>
              <a:t>目标与必要性</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1.3 </a:t>
            </a:r>
            <a:r>
              <a:rPr sz="2400" b="1" dirty="0">
                <a:solidFill>
                  <a:srgbClr val="002060"/>
                </a:solidFill>
                <a:latin typeface="微软雅黑" panose="020B0503020204020204" pitchFamily="34" charset="-122"/>
                <a:ea typeface="微软雅黑" panose="020B0503020204020204" pitchFamily="34" charset="-122"/>
              </a:rPr>
              <a:t>国内外研究现状</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1.4 </a:t>
            </a:r>
            <a:r>
              <a:rPr sz="2400" b="1" dirty="0">
                <a:solidFill>
                  <a:srgbClr val="002060"/>
                </a:solidFill>
                <a:latin typeface="微软雅黑" panose="020B0503020204020204" pitchFamily="34" charset="-122"/>
                <a:ea typeface="微软雅黑" panose="020B0503020204020204" pitchFamily="34" charset="-122"/>
              </a:rPr>
              <a:t>存在问题与发展趋势</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1.5 </a:t>
            </a:r>
            <a:r>
              <a:rPr sz="2400" b="1" dirty="0">
                <a:solidFill>
                  <a:srgbClr val="002060"/>
                </a:solidFill>
                <a:latin typeface="微软雅黑" panose="020B0503020204020204" pitchFamily="34" charset="-122"/>
                <a:ea typeface="微软雅黑" panose="020B0503020204020204" pitchFamily="34" charset="-122"/>
              </a:rPr>
              <a:t>主要研究内容（包含：主要研究内容、技术路线图）</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8</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1.6 </a:t>
            </a:r>
            <a:r>
              <a:rPr sz="2400" b="1" dirty="0">
                <a:solidFill>
                  <a:srgbClr val="002060"/>
                </a:solidFill>
                <a:latin typeface="微软雅黑" panose="020B0503020204020204" pitchFamily="34" charset="-122"/>
                <a:ea typeface="微软雅黑" panose="020B0503020204020204" pitchFamily="34" charset="-122"/>
              </a:rPr>
              <a:t>考核指标</a:t>
            </a:r>
            <a:endParaRPr sz="2400" b="1" spc="200" dirty="0">
              <a:solidFill>
                <a:srgbClr val="002060"/>
              </a:solidFill>
              <a:latin typeface="微软雅黑" panose="020B0503020204020204" pitchFamily="34" charset="-122"/>
              <a:ea typeface="微软雅黑" panose="020B0503020204020204" pitchFamily="34" charset="-122"/>
            </a:endParaRPr>
          </a:p>
        </p:txBody>
      </p:sp>
      <p:graphicFrame>
        <p:nvGraphicFramePr>
          <p:cNvPr id="69" name="表格 68"/>
          <p:cNvGraphicFramePr>
            <a:graphicFrameLocks noGrp="1"/>
          </p:cNvGraphicFramePr>
          <p:nvPr/>
        </p:nvGraphicFramePr>
        <p:xfrm>
          <a:off x="404525" y="853131"/>
          <a:ext cx="11342795" cy="5664927"/>
        </p:xfrm>
        <a:graphic>
          <a:graphicData uri="http://schemas.openxmlformats.org/drawingml/2006/table">
            <a:tbl>
              <a:tblPr bandRow="1">
                <a:tableStyleId>{BC89EF96-8CEA-46FF-86C4-4CE0E7609802}</a:tableStyleId>
              </a:tblPr>
              <a:tblGrid>
                <a:gridCol w="549397">
                  <a:extLst>
                    <a:ext uri="{9D8B030D-6E8A-4147-A177-3AD203B41FA5}">
                      <a16:colId xmlns:a16="http://schemas.microsoft.com/office/drawing/2014/main" val="20000"/>
                    </a:ext>
                  </a:extLst>
                </a:gridCol>
                <a:gridCol w="909623">
                  <a:extLst>
                    <a:ext uri="{9D8B030D-6E8A-4147-A177-3AD203B41FA5}">
                      <a16:colId xmlns:a16="http://schemas.microsoft.com/office/drawing/2014/main" val="20001"/>
                    </a:ext>
                  </a:extLst>
                </a:gridCol>
                <a:gridCol w="4414520">
                  <a:extLst>
                    <a:ext uri="{9D8B030D-6E8A-4147-A177-3AD203B41FA5}">
                      <a16:colId xmlns:a16="http://schemas.microsoft.com/office/drawing/2014/main" val="20002"/>
                    </a:ext>
                  </a:extLst>
                </a:gridCol>
                <a:gridCol w="5469255">
                  <a:extLst>
                    <a:ext uri="{9D8B030D-6E8A-4147-A177-3AD203B41FA5}">
                      <a16:colId xmlns:a16="http://schemas.microsoft.com/office/drawing/2014/main" val="20003"/>
                    </a:ext>
                  </a:extLst>
                </a:gridCol>
              </a:tblGrid>
              <a:tr h="455930">
                <a:tc gridSpan="3">
                  <a:txBody>
                    <a:bodyPr/>
                    <a:lstStyle/>
                    <a:p>
                      <a:pPr algn="ctr" fontAlgn="ct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预期成果</a:t>
                      </a:r>
                    </a:p>
                  </a:txBody>
                  <a:tcPr marL="0" marR="0" marT="44929" marB="44929" anchor="ctr">
                    <a:solidFill>
                      <a:srgbClr val="0054A3">
                        <a:alpha val="60000"/>
                      </a:srgbClr>
                    </a:solidFill>
                  </a:tcPr>
                </a:tc>
                <a:tc hMerge="1">
                  <a:txBody>
                    <a:bodyPr/>
                    <a:lstStyle/>
                    <a:p>
                      <a:endParaRPr lang="zh-CN"/>
                    </a:p>
                  </a:txBody>
                  <a:tcPr marL="0" marR="0" marT="44929" marB="44929" anchor="ctr">
                    <a:solidFill>
                      <a:srgbClr val="CCE2F2"/>
                    </a:solidFill>
                  </a:tcPr>
                </a:tc>
                <a:tc hMerge="1">
                  <a:txBody>
                    <a:bodyPr/>
                    <a:lstStyle/>
                    <a:p>
                      <a:endParaRPr lang="zh-CN"/>
                    </a:p>
                  </a:txBody>
                  <a:tcPr marL="0" marR="0" marT="44929" marB="44929" anchor="ctr">
                    <a:solidFill>
                      <a:srgbClr val="0054A3">
                        <a:alpha val="6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zh-CN" alt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考核指标</a:t>
                      </a:r>
                      <a:endParaRPr lang="en-US" sz="24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a:txBody>
                  <a:tcPr marL="0" marR="0" marT="2645" marB="0" anchor="ctr">
                    <a:solidFill>
                      <a:srgbClr val="0054A3">
                        <a:alpha val="60000"/>
                      </a:srgbClr>
                    </a:solidFill>
                  </a:tcPr>
                </a:tc>
                <a:extLst>
                  <a:ext uri="{0D108BD9-81ED-4DB2-BD59-A6C34878D82A}">
                    <a16:rowId xmlns:a16="http://schemas.microsoft.com/office/drawing/2014/main" val="10000"/>
                  </a:ext>
                </a:extLst>
              </a:tr>
              <a:tr h="633162">
                <a:tc rowSpan="7">
                  <a:txBody>
                    <a:bodyPr/>
                    <a:lstStyle/>
                    <a:p>
                      <a:pPr marL="0" algn="ctr" defTabSz="914400" rtl="0" eaLnBrk="1" fontAlgn="ctr" latinLnBrk="0" hangingPunct="1"/>
                      <a:r>
                        <a:rPr lang="zh-CN" altLang="en-US" sz="1600" b="1" kern="0" spc="30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rPr>
                        <a:t>主要成果</a:t>
                      </a:r>
                    </a:p>
                  </a:txBody>
                  <a:tcPr vert="eaVert"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rPr>
                        <a:t>1</a:t>
                      </a: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just" fontAlgn="ctr">
                        <a:lnSpc>
                          <a:spcPct val="100000"/>
                        </a:lnSpc>
                        <a:buClrTx/>
                        <a:buSzTx/>
                        <a:buFontTx/>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909838">
                <a:tc vMerge="1">
                  <a:txBody>
                    <a:bodyPr/>
                    <a:lstStyle/>
                    <a:p>
                      <a:endParaRPr lang="zh-CN"/>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rPr>
                        <a:t>2</a:t>
                      </a: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endPar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just" fontAlgn="ctr">
                        <a:lnSpc>
                          <a:spcPct val="100000"/>
                        </a:lnSpc>
                        <a:buClrTx/>
                        <a:buSzTx/>
                        <a:buFontTx/>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799891">
                <a:tc vMerge="1">
                  <a:txBody>
                    <a:bodyPr/>
                    <a:lstStyle/>
                    <a:p>
                      <a:endParaRPr lang="zh-CN"/>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rPr>
                        <a:t>3</a:t>
                      </a: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just" fontAlgn="ctr">
                        <a:lnSpc>
                          <a:spcPct val="100000"/>
                        </a:lnSpc>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633162">
                <a:tc vMerge="1">
                  <a:txBody>
                    <a:bodyPr/>
                    <a:lstStyle/>
                    <a:p>
                      <a:endParaRPr lang="zh-CN"/>
                    </a:p>
                  </a:txBody>
                  <a:tcPr anchor="ctr"/>
                </a:tc>
                <a:tc>
                  <a:txBody>
                    <a:body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rPr>
                        <a:t>4</a:t>
                      </a: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p>
                      <a:pPr algn="just" fontAlgn="ctr">
                        <a:lnSpc>
                          <a:spcPct val="100000"/>
                        </a:lnSpc>
                        <a:buClrTx/>
                        <a:buSzTx/>
                        <a:buFontTx/>
                      </a:pP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799891">
                <a:tc vMerge="1">
                  <a:txBody>
                    <a:bodyPr/>
                    <a:lstStyle/>
                    <a:p>
                      <a:endParaRPr lang="zh-CN"/>
                    </a:p>
                  </a:txBody>
                  <a:tcPr anchor="ctr"/>
                </a:tc>
                <a:tc>
                  <a:txBody>
                    <a:body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rPr>
                        <a:t>5</a:t>
                      </a:r>
                      <a:endParaRPr lang="zh-CN" altLang="en-US"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tc>
                  <a:txBody>
                    <a:bodyPr/>
                    <a:lstStyle/>
                    <a:p>
                      <a:pPr algn="just" fontAlgn="ctr">
                        <a:lnSpc>
                          <a:spcPct val="100000"/>
                        </a:lnSpc>
                        <a:buClrTx/>
                        <a:buSzTx/>
                        <a:buFontTx/>
                      </a:pPr>
                      <a:endParaRPr lang="en-US" altLang="zh-CN" sz="1600" b="1" kern="0" dirty="0">
                        <a:solidFill>
                          <a:schemeClr val="tx1"/>
                        </a:solidFill>
                        <a:effectLst>
                          <a:glow rad="63500">
                            <a:schemeClr val="bg1"/>
                          </a:glow>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633162">
                <a:tc vMerge="1">
                  <a:txBody>
                    <a:bodyPr/>
                    <a:lstStyle/>
                    <a:p>
                      <a:endParaRPr lang="zh-CN"/>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rPr>
                        <a:t>6</a:t>
                      </a:r>
                      <a:endParaRPr lang="zh-CN" altLang="en-US"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endParaRPr lang="zh-CN" altLang="en-US"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just" defTabSz="914400" rtl="0" eaLnBrk="1" fontAlgn="ctr" latinLnBrk="0" hangingPunct="1">
                        <a:lnSpc>
                          <a:spcPct val="100000"/>
                        </a:lnSpc>
                        <a:buClrTx/>
                        <a:buSzTx/>
                        <a:buFontTx/>
                      </a:pPr>
                      <a:endParaRPr lang="zh-CN" altLang="en-US"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799891">
                <a:tc vMerge="1">
                  <a:txBody>
                    <a:bodyPr/>
                    <a:lstStyle/>
                    <a:p>
                      <a:endParaRPr lang="zh-CN"/>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fontAlgn="ctr" latinLnBrk="0" hangingPunct="1">
                        <a:lnSpc>
                          <a:spcPct val="100000"/>
                        </a:lnSpc>
                      </a:pPr>
                      <a:r>
                        <a:rPr lang="en-US" altLang="zh-CN"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rPr>
                        <a:t>7</a:t>
                      </a:r>
                      <a:endParaRPr lang="zh-CN" altLang="en-US"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endParaRPr lang="en-US" altLang="zh-CN"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just" defTabSz="914400" rtl="0" eaLnBrk="1" fontAlgn="ctr" latinLnBrk="0" hangingPunct="1">
                        <a:lnSpc>
                          <a:spcPct val="100000"/>
                        </a:lnSpc>
                        <a:buClrTx/>
                        <a:buSzTx/>
                        <a:buFontTx/>
                      </a:pPr>
                      <a:endParaRPr lang="zh-CN" altLang="en-US" sz="1600" b="1" kern="0" dirty="0">
                        <a:solidFill>
                          <a:schemeClr val="tx1"/>
                        </a:solidFill>
                        <a:effectLst>
                          <a:glow rad="63500">
                            <a:schemeClr val="bg1"/>
                          </a:glow>
                        </a:effectLst>
                        <a:latin typeface="Arial" panose="020B0604020202020204" pitchFamily="34" charset="0"/>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3">
            <a:extLst>
              <a:ext uri="{28A0092B-C50C-407E-A947-70E740481C1C}">
                <a14:useLocalDpi xmlns:a14="http://schemas.microsoft.com/office/drawing/2010/main" val="0"/>
              </a:ext>
            </a:extLst>
          </a:blip>
          <a:srcRect l="4394" r="7885"/>
          <a:stretch>
            <a:fillRect/>
          </a:stretch>
        </p:blipFill>
        <p:spPr>
          <a:xfrm>
            <a:off x="0" y="-2097"/>
            <a:ext cx="6096000" cy="6851228"/>
          </a:xfrm>
          <a:prstGeom prst="rect">
            <a:avLst/>
          </a:prstGeom>
        </p:spPr>
      </p:pic>
      <p:sp>
        <p:nvSpPr>
          <p:cNvPr id="43" name="矩形 42"/>
          <p:cNvSpPr/>
          <p:nvPr/>
        </p:nvSpPr>
        <p:spPr>
          <a:xfrm>
            <a:off x="4893546" y="0"/>
            <a:ext cx="729845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386"/>
            <a:ext cx="4893547" cy="685122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066442" y="1720840"/>
            <a:ext cx="760663"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汇报目录</a:t>
            </a:r>
          </a:p>
        </p:txBody>
      </p:sp>
      <p:grpSp>
        <p:nvGrpSpPr>
          <p:cNvPr id="61" name="组合 60"/>
          <p:cNvGrpSpPr/>
          <p:nvPr>
            <p:custDataLst>
              <p:tags r:id="rId1"/>
            </p:custDataLst>
          </p:nvPr>
        </p:nvGrpSpPr>
        <p:grpSpPr>
          <a:xfrm>
            <a:off x="5879370" y="1083295"/>
            <a:ext cx="5195030" cy="720969"/>
            <a:chOff x="5879370" y="608315"/>
            <a:chExt cx="5195030" cy="720969"/>
          </a:xfrm>
        </p:grpSpPr>
        <p:grpSp>
          <p:nvGrpSpPr>
            <p:cNvPr id="62" name="组合 61"/>
            <p:cNvGrpSpPr/>
            <p:nvPr/>
          </p:nvGrpSpPr>
          <p:grpSpPr>
            <a:xfrm>
              <a:off x="6463210" y="707240"/>
              <a:ext cx="4611190" cy="568369"/>
              <a:chOff x="5969724" y="1809726"/>
              <a:chExt cx="3852000" cy="568369"/>
            </a:xfrm>
          </p:grpSpPr>
          <p:sp>
            <p:nvSpPr>
              <p:cNvPr id="63" name="矩形 62"/>
              <p:cNvSpPr/>
              <p:nvPr>
                <p:custDataLst>
                  <p:tags r:id="rId19"/>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4" name="矩形 63"/>
              <p:cNvSpPr/>
              <p:nvPr>
                <p:custDataLst>
                  <p:tags r:id="rId20"/>
                </p:custDataLst>
              </p:nvPr>
            </p:nvSpPr>
            <p:spPr>
              <a:xfrm>
                <a:off x="6155956" y="1816911"/>
                <a:ext cx="3046681"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mn-cs"/>
                  </a:rPr>
                  <a:t>项目背景介绍</a:t>
                </a:r>
              </a:p>
            </p:txBody>
          </p:sp>
        </p:grpSp>
        <p:sp>
          <p:nvSpPr>
            <p:cNvPr id="65" name="椭圆 64"/>
            <p:cNvSpPr/>
            <p:nvPr>
              <p:custDataLst>
                <p:tags r:id="rId18"/>
              </p:custDataLst>
            </p:nvPr>
          </p:nvSpPr>
          <p:spPr>
            <a:xfrm>
              <a:off x="5879370" y="608315"/>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一</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2"/>
            </p:custDataLst>
          </p:nvPr>
        </p:nvGrpSpPr>
        <p:grpSpPr>
          <a:xfrm>
            <a:off x="5879370" y="2000318"/>
            <a:ext cx="5195028" cy="720969"/>
            <a:chOff x="5879370" y="1525338"/>
            <a:chExt cx="5195028" cy="720969"/>
          </a:xfrm>
        </p:grpSpPr>
        <p:grpSp>
          <p:nvGrpSpPr>
            <p:cNvPr id="67" name="组合 66"/>
            <p:cNvGrpSpPr/>
            <p:nvPr/>
          </p:nvGrpSpPr>
          <p:grpSpPr>
            <a:xfrm>
              <a:off x="6463209" y="1645681"/>
              <a:ext cx="4611189" cy="568369"/>
              <a:chOff x="5969724" y="1809726"/>
              <a:chExt cx="3852000" cy="568369"/>
            </a:xfrm>
          </p:grpSpPr>
          <p:sp>
            <p:nvSpPr>
              <p:cNvPr id="68" name="矩形 67"/>
              <p:cNvSpPr/>
              <p:nvPr>
                <p:custDataLst>
                  <p:tags r:id="rId16"/>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9" name="矩形 68"/>
              <p:cNvSpPr/>
              <p:nvPr>
                <p:custDataLst>
                  <p:tags r:id="rId17"/>
                </p:custDataLst>
              </p:nvPr>
            </p:nvSpPr>
            <p:spPr>
              <a:xfrm>
                <a:off x="6155957" y="1816911"/>
                <a:ext cx="1340986"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实施方案</a:t>
                </a:r>
              </a:p>
            </p:txBody>
          </p:sp>
        </p:grpSp>
        <p:sp>
          <p:nvSpPr>
            <p:cNvPr id="70" name="椭圆 69"/>
            <p:cNvSpPr/>
            <p:nvPr>
              <p:custDataLst>
                <p:tags r:id="rId15"/>
              </p:custDataLst>
            </p:nvPr>
          </p:nvSpPr>
          <p:spPr>
            <a:xfrm>
              <a:off x="5879370" y="152533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C00000"/>
                  </a:solidFill>
                  <a:latin typeface="微软雅黑" panose="020B0503020204020204" pitchFamily="34" charset="-122"/>
                  <a:ea typeface="微软雅黑" panose="020B0503020204020204" pitchFamily="34" charset="-122"/>
                  <a:cs typeface="+mn-ea"/>
                  <a:sym typeface="+mn-lt"/>
                </a:rPr>
                <a:t>二</a:t>
              </a:r>
              <a:endParaRPr lang="zh-CN" altLang="en-US" sz="28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custDataLst>
              <p:tags r:id="rId3"/>
            </p:custDataLst>
          </p:nvPr>
        </p:nvGrpSpPr>
        <p:grpSpPr>
          <a:xfrm>
            <a:off x="5879370" y="2944178"/>
            <a:ext cx="5195028" cy="720969"/>
            <a:chOff x="5879370" y="2469198"/>
            <a:chExt cx="5195028" cy="720969"/>
          </a:xfrm>
        </p:grpSpPr>
        <p:grpSp>
          <p:nvGrpSpPr>
            <p:cNvPr id="72" name="组合 71"/>
            <p:cNvGrpSpPr/>
            <p:nvPr/>
          </p:nvGrpSpPr>
          <p:grpSpPr>
            <a:xfrm>
              <a:off x="6463212" y="2584122"/>
              <a:ext cx="4611186" cy="568369"/>
              <a:chOff x="5969726" y="1809726"/>
              <a:chExt cx="3852000" cy="568369"/>
            </a:xfrm>
          </p:grpSpPr>
          <p:sp>
            <p:nvSpPr>
              <p:cNvPr id="73" name="矩形 72"/>
              <p:cNvSpPr/>
              <p:nvPr>
                <p:custDataLst>
                  <p:tags r:id="rId13"/>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custDataLst>
                  <p:tags r:id="rId14"/>
                </p:custDataLst>
              </p:nvPr>
            </p:nvSpPr>
            <p:spPr>
              <a:xfrm>
                <a:off x="6155957" y="1816911"/>
                <a:ext cx="2826257"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总体进展与取得成果</a:t>
                </a:r>
              </a:p>
            </p:txBody>
          </p:sp>
        </p:grpSp>
        <p:sp>
          <p:nvSpPr>
            <p:cNvPr id="75" name="椭圆 74"/>
            <p:cNvSpPr/>
            <p:nvPr>
              <p:custDataLst>
                <p:tags r:id="rId12"/>
              </p:custDataLst>
            </p:nvPr>
          </p:nvSpPr>
          <p:spPr>
            <a:xfrm>
              <a:off x="5879370" y="246919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三</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6" name="组合 75"/>
          <p:cNvGrpSpPr/>
          <p:nvPr>
            <p:custDataLst>
              <p:tags r:id="rId4"/>
            </p:custDataLst>
          </p:nvPr>
        </p:nvGrpSpPr>
        <p:grpSpPr>
          <a:xfrm>
            <a:off x="5879370" y="3861204"/>
            <a:ext cx="5195027" cy="720969"/>
            <a:chOff x="5879370" y="3386224"/>
            <a:chExt cx="5195027" cy="720969"/>
          </a:xfrm>
        </p:grpSpPr>
        <p:grpSp>
          <p:nvGrpSpPr>
            <p:cNvPr id="77" name="组合 76"/>
            <p:cNvGrpSpPr/>
            <p:nvPr/>
          </p:nvGrpSpPr>
          <p:grpSpPr>
            <a:xfrm>
              <a:off x="6463212" y="3522563"/>
              <a:ext cx="4611185" cy="568369"/>
              <a:chOff x="5969726" y="1809726"/>
              <a:chExt cx="3852000" cy="568369"/>
            </a:xfrm>
          </p:grpSpPr>
          <p:sp>
            <p:nvSpPr>
              <p:cNvPr id="78" name="矩形 77"/>
              <p:cNvSpPr/>
              <p:nvPr>
                <p:custDataLst>
                  <p:tags r:id="rId10"/>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矩形 78"/>
              <p:cNvSpPr/>
              <p:nvPr>
                <p:custDataLst>
                  <p:tags r:id="rId11"/>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组织实施情况</a:t>
                </a:r>
              </a:p>
            </p:txBody>
          </p:sp>
        </p:grpSp>
        <p:sp>
          <p:nvSpPr>
            <p:cNvPr id="80" name="椭圆 79"/>
            <p:cNvSpPr/>
            <p:nvPr>
              <p:custDataLst>
                <p:tags r:id="rId9"/>
              </p:custDataLst>
            </p:nvPr>
          </p:nvSpPr>
          <p:spPr>
            <a:xfrm>
              <a:off x="5879370" y="3386224"/>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四</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81" name="组合 80"/>
          <p:cNvGrpSpPr/>
          <p:nvPr>
            <p:custDataLst>
              <p:tags r:id="rId5"/>
            </p:custDataLst>
          </p:nvPr>
        </p:nvGrpSpPr>
        <p:grpSpPr>
          <a:xfrm>
            <a:off x="5879370" y="4815906"/>
            <a:ext cx="5195026" cy="720969"/>
            <a:chOff x="5879370" y="4340926"/>
            <a:chExt cx="5195026" cy="720969"/>
          </a:xfrm>
        </p:grpSpPr>
        <p:grpSp>
          <p:nvGrpSpPr>
            <p:cNvPr id="82" name="组合 81"/>
            <p:cNvGrpSpPr/>
            <p:nvPr/>
          </p:nvGrpSpPr>
          <p:grpSpPr>
            <a:xfrm>
              <a:off x="6463212" y="4461004"/>
              <a:ext cx="4611184" cy="568369"/>
              <a:chOff x="5969726" y="1809726"/>
              <a:chExt cx="3852000" cy="568369"/>
            </a:xfrm>
          </p:grpSpPr>
          <p:sp>
            <p:nvSpPr>
              <p:cNvPr id="83" name="矩形 82"/>
              <p:cNvSpPr/>
              <p:nvPr>
                <p:custDataLst>
                  <p:tags r:id="rId7"/>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4" name="矩形 83"/>
              <p:cNvSpPr/>
              <p:nvPr>
                <p:custDataLst>
                  <p:tags r:id="rId8"/>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经费执行情况</a:t>
                </a:r>
              </a:p>
            </p:txBody>
          </p:sp>
        </p:grpSp>
        <p:sp>
          <p:nvSpPr>
            <p:cNvPr id="85" name="椭圆 84"/>
            <p:cNvSpPr/>
            <p:nvPr>
              <p:custDataLst>
                <p:tags r:id="rId6"/>
              </p:custDataLst>
            </p:nvPr>
          </p:nvSpPr>
          <p:spPr>
            <a:xfrm>
              <a:off x="5879370" y="4340926"/>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五</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2.1 ……</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11</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2.2 ……</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2.3 ……</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3">
            <a:extLst>
              <a:ext uri="{28A0092B-C50C-407E-A947-70E740481C1C}">
                <a14:useLocalDpi xmlns:a14="http://schemas.microsoft.com/office/drawing/2010/main" val="0"/>
              </a:ext>
            </a:extLst>
          </a:blip>
          <a:srcRect l="4394" r="7885"/>
          <a:stretch>
            <a:fillRect/>
          </a:stretch>
        </p:blipFill>
        <p:spPr>
          <a:xfrm>
            <a:off x="0" y="-2097"/>
            <a:ext cx="6096000" cy="6851228"/>
          </a:xfrm>
          <a:prstGeom prst="rect">
            <a:avLst/>
          </a:prstGeom>
        </p:spPr>
      </p:pic>
      <p:sp>
        <p:nvSpPr>
          <p:cNvPr id="43" name="矩形 42"/>
          <p:cNvSpPr/>
          <p:nvPr/>
        </p:nvSpPr>
        <p:spPr>
          <a:xfrm>
            <a:off x="4893546" y="0"/>
            <a:ext cx="729845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386"/>
            <a:ext cx="4893547" cy="685122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066442" y="1720840"/>
            <a:ext cx="760663"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汇报目录</a:t>
            </a:r>
          </a:p>
        </p:txBody>
      </p:sp>
      <p:grpSp>
        <p:nvGrpSpPr>
          <p:cNvPr id="61" name="组合 60"/>
          <p:cNvGrpSpPr/>
          <p:nvPr>
            <p:custDataLst>
              <p:tags r:id="rId1"/>
            </p:custDataLst>
          </p:nvPr>
        </p:nvGrpSpPr>
        <p:grpSpPr>
          <a:xfrm>
            <a:off x="5879370" y="1083295"/>
            <a:ext cx="5195030" cy="720969"/>
            <a:chOff x="5879370" y="608315"/>
            <a:chExt cx="5195030" cy="720969"/>
          </a:xfrm>
        </p:grpSpPr>
        <p:grpSp>
          <p:nvGrpSpPr>
            <p:cNvPr id="62" name="组合 61"/>
            <p:cNvGrpSpPr/>
            <p:nvPr/>
          </p:nvGrpSpPr>
          <p:grpSpPr>
            <a:xfrm>
              <a:off x="6463210" y="707240"/>
              <a:ext cx="4611190" cy="568369"/>
              <a:chOff x="5969724" y="1809726"/>
              <a:chExt cx="3852000" cy="568369"/>
            </a:xfrm>
          </p:grpSpPr>
          <p:sp>
            <p:nvSpPr>
              <p:cNvPr id="63" name="矩形 62"/>
              <p:cNvSpPr/>
              <p:nvPr>
                <p:custDataLst>
                  <p:tags r:id="rId19"/>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4" name="矩形 63"/>
              <p:cNvSpPr/>
              <p:nvPr>
                <p:custDataLst>
                  <p:tags r:id="rId20"/>
                </p:custDataLst>
              </p:nvPr>
            </p:nvSpPr>
            <p:spPr>
              <a:xfrm>
                <a:off x="6155956" y="1816911"/>
                <a:ext cx="3046681"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mn-cs"/>
                  </a:rPr>
                  <a:t>项目背景介绍</a:t>
                </a:r>
              </a:p>
            </p:txBody>
          </p:sp>
        </p:grpSp>
        <p:sp>
          <p:nvSpPr>
            <p:cNvPr id="65" name="椭圆 64"/>
            <p:cNvSpPr/>
            <p:nvPr>
              <p:custDataLst>
                <p:tags r:id="rId18"/>
              </p:custDataLst>
            </p:nvPr>
          </p:nvSpPr>
          <p:spPr>
            <a:xfrm>
              <a:off x="5879370" y="608315"/>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一</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2"/>
            </p:custDataLst>
          </p:nvPr>
        </p:nvGrpSpPr>
        <p:grpSpPr>
          <a:xfrm>
            <a:off x="5879370" y="2000318"/>
            <a:ext cx="5195028" cy="720969"/>
            <a:chOff x="5879370" y="1525338"/>
            <a:chExt cx="5195028" cy="720969"/>
          </a:xfrm>
        </p:grpSpPr>
        <p:grpSp>
          <p:nvGrpSpPr>
            <p:cNvPr id="67" name="组合 66"/>
            <p:cNvGrpSpPr/>
            <p:nvPr/>
          </p:nvGrpSpPr>
          <p:grpSpPr>
            <a:xfrm>
              <a:off x="6463209" y="1645681"/>
              <a:ext cx="4611189" cy="568369"/>
              <a:chOff x="5969724" y="1809726"/>
              <a:chExt cx="3852000" cy="568369"/>
            </a:xfrm>
          </p:grpSpPr>
          <p:sp>
            <p:nvSpPr>
              <p:cNvPr id="68" name="矩形 67"/>
              <p:cNvSpPr/>
              <p:nvPr>
                <p:custDataLst>
                  <p:tags r:id="rId16"/>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9" name="矩形 68"/>
              <p:cNvSpPr/>
              <p:nvPr>
                <p:custDataLst>
                  <p:tags r:id="rId17"/>
                </p:custDataLst>
              </p:nvPr>
            </p:nvSpPr>
            <p:spPr>
              <a:xfrm>
                <a:off x="6155957" y="1816911"/>
                <a:ext cx="1340986"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实施方案</a:t>
                </a:r>
              </a:p>
            </p:txBody>
          </p:sp>
        </p:grpSp>
        <p:sp>
          <p:nvSpPr>
            <p:cNvPr id="70" name="椭圆 69"/>
            <p:cNvSpPr/>
            <p:nvPr>
              <p:custDataLst>
                <p:tags r:id="rId15"/>
              </p:custDataLst>
            </p:nvPr>
          </p:nvSpPr>
          <p:spPr>
            <a:xfrm>
              <a:off x="5879370" y="152533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二</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custDataLst>
              <p:tags r:id="rId3"/>
            </p:custDataLst>
          </p:nvPr>
        </p:nvGrpSpPr>
        <p:grpSpPr>
          <a:xfrm>
            <a:off x="5879370" y="2944178"/>
            <a:ext cx="5195028" cy="720969"/>
            <a:chOff x="5879370" y="2469198"/>
            <a:chExt cx="5195028" cy="720969"/>
          </a:xfrm>
        </p:grpSpPr>
        <p:grpSp>
          <p:nvGrpSpPr>
            <p:cNvPr id="72" name="组合 71"/>
            <p:cNvGrpSpPr/>
            <p:nvPr/>
          </p:nvGrpSpPr>
          <p:grpSpPr>
            <a:xfrm>
              <a:off x="6463212" y="2584122"/>
              <a:ext cx="4611186" cy="568369"/>
              <a:chOff x="5969726" y="1809726"/>
              <a:chExt cx="3852000" cy="568369"/>
            </a:xfrm>
          </p:grpSpPr>
          <p:sp>
            <p:nvSpPr>
              <p:cNvPr id="73" name="矩形 72"/>
              <p:cNvSpPr/>
              <p:nvPr>
                <p:custDataLst>
                  <p:tags r:id="rId13"/>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custDataLst>
                  <p:tags r:id="rId14"/>
                </p:custDataLst>
              </p:nvPr>
            </p:nvSpPr>
            <p:spPr>
              <a:xfrm>
                <a:off x="6155957" y="1816911"/>
                <a:ext cx="2826257"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总体进展与取得成果</a:t>
                </a:r>
              </a:p>
            </p:txBody>
          </p:sp>
        </p:grpSp>
        <p:sp>
          <p:nvSpPr>
            <p:cNvPr id="75" name="椭圆 74"/>
            <p:cNvSpPr/>
            <p:nvPr>
              <p:custDataLst>
                <p:tags r:id="rId12"/>
              </p:custDataLst>
            </p:nvPr>
          </p:nvSpPr>
          <p:spPr>
            <a:xfrm>
              <a:off x="5879370" y="246919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C00000"/>
                  </a:solidFill>
                  <a:latin typeface="微软雅黑" panose="020B0503020204020204" pitchFamily="34" charset="-122"/>
                  <a:ea typeface="微软雅黑" panose="020B0503020204020204" pitchFamily="34" charset="-122"/>
                  <a:cs typeface="+mn-ea"/>
                  <a:sym typeface="+mn-lt"/>
                </a:rPr>
                <a:t>三</a:t>
              </a:r>
              <a:endParaRPr lang="zh-CN" altLang="en-US" sz="28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76" name="组合 75"/>
          <p:cNvGrpSpPr/>
          <p:nvPr>
            <p:custDataLst>
              <p:tags r:id="rId4"/>
            </p:custDataLst>
          </p:nvPr>
        </p:nvGrpSpPr>
        <p:grpSpPr>
          <a:xfrm>
            <a:off x="5879370" y="3861204"/>
            <a:ext cx="5195027" cy="720969"/>
            <a:chOff x="5879370" y="3386224"/>
            <a:chExt cx="5195027" cy="720969"/>
          </a:xfrm>
        </p:grpSpPr>
        <p:grpSp>
          <p:nvGrpSpPr>
            <p:cNvPr id="77" name="组合 76"/>
            <p:cNvGrpSpPr/>
            <p:nvPr/>
          </p:nvGrpSpPr>
          <p:grpSpPr>
            <a:xfrm>
              <a:off x="6463212" y="3522563"/>
              <a:ext cx="4611185" cy="568369"/>
              <a:chOff x="5969726" y="1809726"/>
              <a:chExt cx="3852000" cy="568369"/>
            </a:xfrm>
          </p:grpSpPr>
          <p:sp>
            <p:nvSpPr>
              <p:cNvPr id="78" name="矩形 77"/>
              <p:cNvSpPr/>
              <p:nvPr>
                <p:custDataLst>
                  <p:tags r:id="rId10"/>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矩形 78"/>
              <p:cNvSpPr/>
              <p:nvPr>
                <p:custDataLst>
                  <p:tags r:id="rId11"/>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组织实施情况</a:t>
                </a:r>
              </a:p>
            </p:txBody>
          </p:sp>
        </p:grpSp>
        <p:sp>
          <p:nvSpPr>
            <p:cNvPr id="80" name="椭圆 79"/>
            <p:cNvSpPr/>
            <p:nvPr>
              <p:custDataLst>
                <p:tags r:id="rId9"/>
              </p:custDataLst>
            </p:nvPr>
          </p:nvSpPr>
          <p:spPr>
            <a:xfrm>
              <a:off x="5879370" y="3386224"/>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四</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81" name="组合 80"/>
          <p:cNvGrpSpPr/>
          <p:nvPr>
            <p:custDataLst>
              <p:tags r:id="rId5"/>
            </p:custDataLst>
          </p:nvPr>
        </p:nvGrpSpPr>
        <p:grpSpPr>
          <a:xfrm>
            <a:off x="5879370" y="4815906"/>
            <a:ext cx="5195026" cy="720969"/>
            <a:chOff x="5879370" y="4340926"/>
            <a:chExt cx="5195026" cy="720969"/>
          </a:xfrm>
        </p:grpSpPr>
        <p:grpSp>
          <p:nvGrpSpPr>
            <p:cNvPr id="82" name="组合 81"/>
            <p:cNvGrpSpPr/>
            <p:nvPr/>
          </p:nvGrpSpPr>
          <p:grpSpPr>
            <a:xfrm>
              <a:off x="6463212" y="4461004"/>
              <a:ext cx="4611184" cy="568369"/>
              <a:chOff x="5969726" y="1809726"/>
              <a:chExt cx="3852000" cy="568369"/>
            </a:xfrm>
          </p:grpSpPr>
          <p:sp>
            <p:nvSpPr>
              <p:cNvPr id="83" name="矩形 82"/>
              <p:cNvSpPr/>
              <p:nvPr>
                <p:custDataLst>
                  <p:tags r:id="rId7"/>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4" name="矩形 83"/>
              <p:cNvSpPr/>
              <p:nvPr>
                <p:custDataLst>
                  <p:tags r:id="rId8"/>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经费执行情况</a:t>
                </a:r>
              </a:p>
            </p:txBody>
          </p:sp>
        </p:grpSp>
        <p:sp>
          <p:nvSpPr>
            <p:cNvPr id="85" name="椭圆 84"/>
            <p:cNvSpPr/>
            <p:nvPr>
              <p:custDataLst>
                <p:tags r:id="rId6"/>
              </p:custDataLst>
            </p:nvPr>
          </p:nvSpPr>
          <p:spPr>
            <a:xfrm>
              <a:off x="5879370" y="4340926"/>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五</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3.1 </a:t>
            </a:r>
            <a:r>
              <a:rPr lang="zh-CN" altLang="en-US" sz="2400" b="1" dirty="0">
                <a:solidFill>
                  <a:srgbClr val="002060"/>
                </a:solidFill>
                <a:latin typeface="微软雅黑" panose="020B0503020204020204" pitchFamily="34" charset="-122"/>
                <a:ea typeface="微软雅黑" panose="020B0503020204020204" pitchFamily="34" charset="-122"/>
              </a:rPr>
              <a:t>水厂现状分析</a:t>
            </a:r>
            <a:r>
              <a:rPr lang="en-US" altLang="zh-CN" sz="2400" b="1" dirty="0">
                <a:solidFill>
                  <a:srgbClr val="002060"/>
                </a:solidFill>
                <a:latin typeface="微软雅黑" panose="020B0503020204020204" pitchFamily="34" charset="-122"/>
                <a:ea typeface="微软雅黑" panose="020B0503020204020204" pitchFamily="34" charset="-122"/>
              </a:rPr>
              <a:t> </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93D3-B6CC-3015-E018-E7859D010241}"/>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96DDC7F-F54F-FEA6-3CD2-EBA5439080D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11736C6D-AF36-5ED3-54DD-16CCBC19AD72}"/>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BA9AF69D-F786-7C86-B8EF-8697769B6BF5}"/>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2 </a:t>
            </a:r>
            <a:r>
              <a:rPr lang="zh-CN" altLang="en-US" sz="2400" dirty="0">
                <a:solidFill>
                  <a:srgbClr val="002060"/>
                </a:solidFill>
                <a:latin typeface="微软雅黑" panose="020B0503020204020204" pitchFamily="34" charset="-122"/>
                <a:ea typeface="微软雅黑" panose="020B0503020204020204" pitchFamily="34" charset="-122"/>
              </a:rPr>
              <a:t>矾花检测系统</a:t>
            </a:r>
            <a:r>
              <a:rPr lang="en-US" altLang="zh-CN" sz="2400" b="1" dirty="0">
                <a:solidFill>
                  <a:srgbClr val="002060"/>
                </a:solidFill>
                <a:latin typeface="微软雅黑" panose="020B0503020204020204" pitchFamily="34" charset="-122"/>
                <a:ea typeface="微软雅黑" panose="020B0503020204020204" pitchFamily="34" charset="-122"/>
              </a:rPr>
              <a:t> </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86833980"/>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F385F-5792-15CA-9CE2-66E7A2571D70}"/>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15F382B-8F0C-20D7-8164-F2BCA8FA537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4CC483DA-4E20-D95A-2BD2-F5BC7D52E273}"/>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C3B7B142-0C6D-EC1E-DA71-BAB8331C7F36}"/>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3</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数据获取与处理</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pic>
        <p:nvPicPr>
          <p:cNvPr id="3" name="图片 2" descr="水质表">
            <a:extLst>
              <a:ext uri="{FF2B5EF4-FFF2-40B4-BE49-F238E27FC236}">
                <a16:creationId xmlns:a16="http://schemas.microsoft.com/office/drawing/2014/main" id="{537BF600-242F-A25F-35F7-320410BE4175}"/>
              </a:ext>
            </a:extLst>
          </p:cNvPr>
          <p:cNvPicPr>
            <a:picLocks noChangeAspect="1"/>
          </p:cNvPicPr>
          <p:nvPr/>
        </p:nvPicPr>
        <p:blipFill>
          <a:blip r:embed="rId4"/>
          <a:stretch>
            <a:fillRect/>
          </a:stretch>
        </p:blipFill>
        <p:spPr>
          <a:xfrm>
            <a:off x="544461" y="1686441"/>
            <a:ext cx="5262880" cy="2826385"/>
          </a:xfrm>
          <a:prstGeom prst="rect">
            <a:avLst/>
          </a:prstGeom>
        </p:spPr>
      </p:pic>
      <p:pic>
        <p:nvPicPr>
          <p:cNvPr id="4" name="图片 3" descr="投药量">
            <a:extLst>
              <a:ext uri="{FF2B5EF4-FFF2-40B4-BE49-F238E27FC236}">
                <a16:creationId xmlns:a16="http://schemas.microsoft.com/office/drawing/2014/main" id="{1E7E6BD0-1602-04F8-5519-6C9DB25ABB89}"/>
              </a:ext>
            </a:extLst>
          </p:cNvPr>
          <p:cNvPicPr>
            <a:picLocks noChangeAspect="1"/>
          </p:cNvPicPr>
          <p:nvPr/>
        </p:nvPicPr>
        <p:blipFill>
          <a:blip r:embed="rId5"/>
          <a:stretch>
            <a:fillRect/>
          </a:stretch>
        </p:blipFill>
        <p:spPr>
          <a:xfrm>
            <a:off x="6096000" y="1662311"/>
            <a:ext cx="5262880" cy="2850515"/>
          </a:xfrm>
          <a:prstGeom prst="rect">
            <a:avLst/>
          </a:prstGeom>
        </p:spPr>
      </p:pic>
      <p:sp>
        <p:nvSpPr>
          <p:cNvPr id="8" name="文本框 7">
            <a:extLst>
              <a:ext uri="{FF2B5EF4-FFF2-40B4-BE49-F238E27FC236}">
                <a16:creationId xmlns:a16="http://schemas.microsoft.com/office/drawing/2014/main" id="{829F9BF9-4CC5-23C8-E541-4EC6AF7DD051}"/>
              </a:ext>
            </a:extLst>
          </p:cNvPr>
          <p:cNvSpPr txBox="1"/>
          <p:nvPr/>
        </p:nvSpPr>
        <p:spPr>
          <a:xfrm>
            <a:off x="486491" y="4968240"/>
            <a:ext cx="5378819" cy="923330"/>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水质表构建，主要列包含原水浊度，原水温度（由</a:t>
            </a:r>
            <a:r>
              <a:rPr lang="en-US" altLang="zh-CN" dirty="0"/>
              <a:t>xlsx</a:t>
            </a:r>
            <a:r>
              <a:rPr lang="zh-CN" altLang="en-US" dirty="0"/>
              <a:t>文件进行插值补充），原水</a:t>
            </a:r>
            <a:r>
              <a:rPr lang="en-US" altLang="zh-CN" dirty="0"/>
              <a:t>PH</a:t>
            </a:r>
            <a:r>
              <a:rPr lang="zh-CN" altLang="en-US" dirty="0"/>
              <a:t>，二期西出水浊度。</a:t>
            </a:r>
          </a:p>
        </p:txBody>
      </p:sp>
      <p:sp>
        <p:nvSpPr>
          <p:cNvPr id="11" name="文本框 10">
            <a:extLst>
              <a:ext uri="{FF2B5EF4-FFF2-40B4-BE49-F238E27FC236}">
                <a16:creationId xmlns:a16="http://schemas.microsoft.com/office/drawing/2014/main" id="{ECAD6669-110E-9E68-A7F7-16FC21432530}"/>
              </a:ext>
            </a:extLst>
          </p:cNvPr>
          <p:cNvSpPr txBox="1"/>
          <p:nvPr/>
        </p:nvSpPr>
        <p:spPr>
          <a:xfrm>
            <a:off x="6004950" y="4968240"/>
            <a:ext cx="6101080" cy="369332"/>
          </a:xfrm>
          <a:prstGeom prst="rect">
            <a:avLst/>
          </a:prstGeom>
          <a:noFill/>
        </p:spPr>
        <p:txBody>
          <a:bodyPr wrap="square">
            <a:spAutoFit/>
          </a:bodyPr>
          <a:lstStyle/>
          <a:p>
            <a:pPr marL="285750" indent="-285750">
              <a:buFont typeface="Wingdings" panose="05000000000000000000" pitchFamily="2" charset="2"/>
              <a:buChar char="l"/>
            </a:pPr>
            <a:r>
              <a:rPr lang="zh-CN" altLang="en-US" dirty="0"/>
              <a:t>投药量表构建，主要列包含原西池</a:t>
            </a:r>
            <a:r>
              <a:rPr lang="en-US" altLang="zh-CN" dirty="0"/>
              <a:t>PAC</a:t>
            </a:r>
            <a:r>
              <a:rPr lang="zh-CN" altLang="en-US" dirty="0"/>
              <a:t>，二期西出水浊度。</a:t>
            </a:r>
          </a:p>
        </p:txBody>
      </p:sp>
    </p:spTree>
    <p:extLst>
      <p:ext uri="{BB962C8B-B14F-4D97-AF65-F5344CB8AC3E}">
        <p14:creationId xmlns:p14="http://schemas.microsoft.com/office/powerpoint/2010/main" val="36952755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0CBB7-6C1F-FC70-88CF-9C4AC18F22A6}"/>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0E8CF36C-F644-1CEA-907B-42708045AFBB}"/>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24F5FA6D-3A0D-A9B7-6037-6397E6DA4E3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F8AAC025-905C-161B-8FE8-86EFB95DD81A}"/>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3.3 </a:t>
            </a:r>
            <a:r>
              <a:rPr lang="zh-CN" altLang="en-US" sz="2400" dirty="0">
                <a:solidFill>
                  <a:srgbClr val="002060"/>
                </a:solidFill>
                <a:latin typeface="微软雅黑" panose="020B0503020204020204" pitchFamily="34" charset="-122"/>
                <a:ea typeface="微软雅黑" panose="020B0503020204020204" pitchFamily="34" charset="-122"/>
              </a:rPr>
              <a:t>数据获取与处理</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787A75E-C57A-19C4-377B-E892E99EB85C}"/>
              </a:ext>
            </a:extLst>
          </p:cNvPr>
          <p:cNvSpPr txBox="1"/>
          <p:nvPr/>
        </p:nvSpPr>
        <p:spPr>
          <a:xfrm>
            <a:off x="544461" y="4968240"/>
            <a:ext cx="5378819" cy="64633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流量表构建，选取其中的二期西池进水流量作为流量数据。</a:t>
            </a:r>
          </a:p>
        </p:txBody>
      </p:sp>
      <p:sp>
        <p:nvSpPr>
          <p:cNvPr id="11" name="文本框 10">
            <a:extLst>
              <a:ext uri="{FF2B5EF4-FFF2-40B4-BE49-F238E27FC236}">
                <a16:creationId xmlns:a16="http://schemas.microsoft.com/office/drawing/2014/main" id="{8CEC4A5C-AEA6-5614-4618-D06FC8DA0530}"/>
              </a:ext>
            </a:extLst>
          </p:cNvPr>
          <p:cNvSpPr txBox="1"/>
          <p:nvPr/>
        </p:nvSpPr>
        <p:spPr>
          <a:xfrm>
            <a:off x="6004950" y="4968240"/>
            <a:ext cx="6101080" cy="646331"/>
          </a:xfrm>
          <a:prstGeom prst="rect">
            <a:avLst/>
          </a:prstGeom>
          <a:noFill/>
        </p:spPr>
        <p:txBody>
          <a:bodyPr wrap="square">
            <a:spAutoFit/>
          </a:bodyPr>
          <a:lstStyle/>
          <a:p>
            <a:pPr marL="285750" indent="-285750">
              <a:buFont typeface="Wingdings" panose="05000000000000000000" pitchFamily="2" charset="2"/>
              <a:buChar char="l"/>
            </a:pPr>
            <a:r>
              <a:rPr lang="zh-CN" altLang="en-US" dirty="0"/>
              <a:t>矾花数据表构建，包含不同挡位的数量、面积、面积占比、周长等数据。</a:t>
            </a:r>
          </a:p>
        </p:txBody>
      </p:sp>
      <p:pic>
        <p:nvPicPr>
          <p:cNvPr id="2" name="图片 1" descr="流量表">
            <a:extLst>
              <a:ext uri="{FF2B5EF4-FFF2-40B4-BE49-F238E27FC236}">
                <a16:creationId xmlns:a16="http://schemas.microsoft.com/office/drawing/2014/main" id="{2DBB35C9-C4B8-A52C-C42A-702FE5843F3F}"/>
              </a:ext>
            </a:extLst>
          </p:cNvPr>
          <p:cNvPicPr>
            <a:picLocks noChangeAspect="1"/>
          </p:cNvPicPr>
          <p:nvPr/>
        </p:nvPicPr>
        <p:blipFill>
          <a:blip r:embed="rId4"/>
          <a:stretch>
            <a:fillRect/>
          </a:stretch>
        </p:blipFill>
        <p:spPr>
          <a:xfrm>
            <a:off x="661670" y="1662311"/>
            <a:ext cx="5261610" cy="2814320"/>
          </a:xfrm>
          <a:prstGeom prst="rect">
            <a:avLst/>
          </a:prstGeom>
        </p:spPr>
      </p:pic>
      <p:pic>
        <p:nvPicPr>
          <p:cNvPr id="5" name="图片 4">
            <a:extLst>
              <a:ext uri="{FF2B5EF4-FFF2-40B4-BE49-F238E27FC236}">
                <a16:creationId xmlns:a16="http://schemas.microsoft.com/office/drawing/2014/main" id="{3F1AFEFE-972F-A904-437F-5564995C05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1644848"/>
            <a:ext cx="5274310" cy="2849245"/>
          </a:xfrm>
          <a:prstGeom prst="rect">
            <a:avLst/>
          </a:prstGeom>
        </p:spPr>
      </p:pic>
    </p:spTree>
    <p:extLst>
      <p:ext uri="{BB962C8B-B14F-4D97-AF65-F5344CB8AC3E}">
        <p14:creationId xmlns:p14="http://schemas.microsoft.com/office/powerpoint/2010/main" val="192887974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40B3E-472F-4960-42E1-B44347E153C8}"/>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1B656360-AAC6-D87B-4BA3-5EDFF1D036CA}"/>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4887CF38-8851-81E2-2E6F-E67937342497}"/>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18</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6DB6A9AA-2D0F-C34F-177A-F635819B680F}"/>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3</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数据获取与处理</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FF9108E0-4954-4702-1208-0325B38A5171}"/>
              </a:ext>
            </a:extLst>
          </p:cNvPr>
          <p:cNvSpPr txBox="1"/>
          <p:nvPr/>
        </p:nvSpPr>
        <p:spPr>
          <a:xfrm>
            <a:off x="1704790" y="3936875"/>
            <a:ext cx="8782419" cy="1754326"/>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筛选数据重新组表，从水质表中选取原水浊度，原水温度，原水</a:t>
            </a:r>
            <a:r>
              <a:rPr lang="en-US" altLang="zh-CN" dirty="0"/>
              <a:t>PH</a:t>
            </a:r>
            <a:r>
              <a:rPr lang="zh-CN" altLang="en-US" dirty="0"/>
              <a:t>，二期西出水浊度；从投药量表选取西池</a:t>
            </a:r>
            <a:r>
              <a:rPr lang="en-US" altLang="zh-CN" dirty="0"/>
              <a:t>PAC</a:t>
            </a:r>
            <a:r>
              <a:rPr lang="zh-CN" altLang="en-US" dirty="0"/>
              <a:t>，二期西出水浊度；从流量表选取二期西池进水流量，同时在时间列进行时滞对齐，时滞为</a:t>
            </a:r>
            <a:r>
              <a:rPr lang="en-US" altLang="zh-CN" dirty="0"/>
              <a:t>48</a:t>
            </a:r>
            <a:r>
              <a:rPr lang="zh-CN" altLang="en-US" dirty="0"/>
              <a:t>分钟。筛选之后通过“鲁棒</a:t>
            </a:r>
            <a:r>
              <a:rPr lang="en-US" altLang="zh-CN" dirty="0"/>
              <a:t>Z</a:t>
            </a:r>
            <a:r>
              <a:rPr lang="zh-CN" altLang="en-US" dirty="0"/>
              <a:t>值”结合出水浊度阈值判断并处理了完整异常段和突变等无效数据。</a:t>
            </a:r>
            <a:endParaRPr lang="en-US" altLang="zh-CN" dirty="0"/>
          </a:p>
          <a:p>
            <a:pPr marL="285750" indent="-285750">
              <a:buFont typeface="Wingdings" panose="05000000000000000000" pitchFamily="2" charset="2"/>
              <a:buChar char="l"/>
            </a:pPr>
            <a:r>
              <a:rPr lang="en-US" altLang="zh-CN" dirty="0"/>
              <a:t> </a:t>
            </a:r>
            <a:r>
              <a:rPr lang="zh-CN" altLang="en-US" dirty="0"/>
              <a:t>初始共获得数据</a:t>
            </a:r>
            <a:r>
              <a:rPr lang="en-US" altLang="zh-CN" dirty="0">
                <a:highlight>
                  <a:srgbClr val="FFFF00"/>
                </a:highlight>
              </a:rPr>
              <a:t>63565</a:t>
            </a:r>
            <a:r>
              <a:rPr lang="zh-CN" altLang="en-US" dirty="0">
                <a:highlight>
                  <a:srgbClr val="FFFF00"/>
                </a:highlight>
              </a:rPr>
              <a:t>条数据，</a:t>
            </a:r>
            <a:endParaRPr lang="en-US" altLang="zh-CN" dirty="0">
              <a:highlight>
                <a:srgbClr val="FFFF00"/>
              </a:highlight>
            </a:endParaRPr>
          </a:p>
          <a:p>
            <a:endParaRPr lang="en-US" altLang="zh-CN" dirty="0"/>
          </a:p>
        </p:txBody>
      </p:sp>
      <p:pic>
        <p:nvPicPr>
          <p:cNvPr id="3" name="图片 2" descr="导出表">
            <a:extLst>
              <a:ext uri="{FF2B5EF4-FFF2-40B4-BE49-F238E27FC236}">
                <a16:creationId xmlns:a16="http://schemas.microsoft.com/office/drawing/2014/main" id="{C7FF36A7-D36A-81E9-9FF1-A268907F946A}"/>
              </a:ext>
            </a:extLst>
          </p:cNvPr>
          <p:cNvPicPr>
            <a:picLocks noChangeAspect="1"/>
          </p:cNvPicPr>
          <p:nvPr/>
        </p:nvPicPr>
        <p:blipFill>
          <a:blip r:embed="rId4"/>
          <a:stretch>
            <a:fillRect/>
          </a:stretch>
        </p:blipFill>
        <p:spPr>
          <a:xfrm>
            <a:off x="3250442" y="903450"/>
            <a:ext cx="5266055" cy="2840990"/>
          </a:xfrm>
          <a:prstGeom prst="rect">
            <a:avLst/>
          </a:prstGeom>
        </p:spPr>
      </p:pic>
    </p:spTree>
    <p:extLst>
      <p:ext uri="{BB962C8B-B14F-4D97-AF65-F5344CB8AC3E}">
        <p14:creationId xmlns:p14="http://schemas.microsoft.com/office/powerpoint/2010/main" val="2580815124"/>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19</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4</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水质参数与投药量相关性分析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pic>
        <p:nvPicPr>
          <p:cNvPr id="2" name="图片 1" descr="时序_原水浊度">
            <a:extLst>
              <a:ext uri="{FF2B5EF4-FFF2-40B4-BE49-F238E27FC236}">
                <a16:creationId xmlns:a16="http://schemas.microsoft.com/office/drawing/2014/main" id="{4ACC2086-D514-E399-6B45-C159A2FE63C4}"/>
              </a:ext>
            </a:extLst>
          </p:cNvPr>
          <p:cNvPicPr>
            <a:picLocks noChangeAspect="1"/>
          </p:cNvPicPr>
          <p:nvPr/>
        </p:nvPicPr>
        <p:blipFill>
          <a:blip r:embed="rId4"/>
          <a:stretch>
            <a:fillRect/>
          </a:stretch>
        </p:blipFill>
        <p:spPr>
          <a:xfrm>
            <a:off x="424815" y="963930"/>
            <a:ext cx="5264785" cy="1455420"/>
          </a:xfrm>
          <a:prstGeom prst="rect">
            <a:avLst/>
          </a:prstGeom>
        </p:spPr>
      </p:pic>
      <p:pic>
        <p:nvPicPr>
          <p:cNvPr id="3" name="图片 2" descr="时序_原水温度">
            <a:extLst>
              <a:ext uri="{FF2B5EF4-FFF2-40B4-BE49-F238E27FC236}">
                <a16:creationId xmlns:a16="http://schemas.microsoft.com/office/drawing/2014/main" id="{0A3CC961-2EB8-D49D-C222-E30DBF2A0CF9}"/>
              </a:ext>
            </a:extLst>
          </p:cNvPr>
          <p:cNvPicPr>
            <a:picLocks noChangeAspect="1"/>
          </p:cNvPicPr>
          <p:nvPr/>
        </p:nvPicPr>
        <p:blipFill>
          <a:blip r:embed="rId5"/>
          <a:stretch>
            <a:fillRect/>
          </a:stretch>
        </p:blipFill>
        <p:spPr>
          <a:xfrm>
            <a:off x="418465" y="2419350"/>
            <a:ext cx="5266690" cy="1410335"/>
          </a:xfrm>
          <a:prstGeom prst="rect">
            <a:avLst/>
          </a:prstGeom>
        </p:spPr>
      </p:pic>
      <p:pic>
        <p:nvPicPr>
          <p:cNvPr id="4" name="图片 3" descr="时序_原水PH">
            <a:extLst>
              <a:ext uri="{FF2B5EF4-FFF2-40B4-BE49-F238E27FC236}">
                <a16:creationId xmlns:a16="http://schemas.microsoft.com/office/drawing/2014/main" id="{DEF3FFE1-4008-FADD-FF40-7FC527CFA5E2}"/>
              </a:ext>
            </a:extLst>
          </p:cNvPr>
          <p:cNvPicPr>
            <a:picLocks noChangeAspect="1"/>
          </p:cNvPicPr>
          <p:nvPr/>
        </p:nvPicPr>
        <p:blipFill>
          <a:blip r:embed="rId6"/>
          <a:stretch>
            <a:fillRect/>
          </a:stretch>
        </p:blipFill>
        <p:spPr>
          <a:xfrm>
            <a:off x="424815" y="3829685"/>
            <a:ext cx="5262245" cy="1430655"/>
          </a:xfrm>
          <a:prstGeom prst="rect">
            <a:avLst/>
          </a:prstGeom>
        </p:spPr>
      </p:pic>
      <p:pic>
        <p:nvPicPr>
          <p:cNvPr id="5" name="图片 4" descr="时序_西池PAC">
            <a:extLst>
              <a:ext uri="{FF2B5EF4-FFF2-40B4-BE49-F238E27FC236}">
                <a16:creationId xmlns:a16="http://schemas.microsoft.com/office/drawing/2014/main" id="{6A9F6C9D-4046-A80F-C194-D44BDB2181C0}"/>
              </a:ext>
            </a:extLst>
          </p:cNvPr>
          <p:cNvPicPr>
            <a:picLocks noChangeAspect="1"/>
          </p:cNvPicPr>
          <p:nvPr/>
        </p:nvPicPr>
        <p:blipFill>
          <a:blip r:embed="rId7"/>
          <a:stretch>
            <a:fillRect/>
          </a:stretch>
        </p:blipFill>
        <p:spPr>
          <a:xfrm>
            <a:off x="6096000" y="963930"/>
            <a:ext cx="5273675" cy="1441450"/>
          </a:xfrm>
          <a:prstGeom prst="rect">
            <a:avLst/>
          </a:prstGeom>
        </p:spPr>
      </p:pic>
      <p:pic>
        <p:nvPicPr>
          <p:cNvPr id="6" name="图片 5" descr="时序_进水流量">
            <a:extLst>
              <a:ext uri="{FF2B5EF4-FFF2-40B4-BE49-F238E27FC236}">
                <a16:creationId xmlns:a16="http://schemas.microsoft.com/office/drawing/2014/main" id="{43F03C39-5FD2-8BB9-708D-A7AB2759043F}"/>
              </a:ext>
            </a:extLst>
          </p:cNvPr>
          <p:cNvPicPr>
            <a:picLocks noChangeAspect="1"/>
          </p:cNvPicPr>
          <p:nvPr/>
        </p:nvPicPr>
        <p:blipFill>
          <a:blip r:embed="rId8"/>
          <a:stretch>
            <a:fillRect/>
          </a:stretch>
        </p:blipFill>
        <p:spPr>
          <a:xfrm>
            <a:off x="6089332" y="2399030"/>
            <a:ext cx="5262245" cy="1430655"/>
          </a:xfrm>
          <a:prstGeom prst="rect">
            <a:avLst/>
          </a:prstGeom>
        </p:spPr>
      </p:pic>
      <p:pic>
        <p:nvPicPr>
          <p:cNvPr id="7" name="图片 6" descr="时序_目标_当前时间投药量关联浊度">
            <a:extLst>
              <a:ext uri="{FF2B5EF4-FFF2-40B4-BE49-F238E27FC236}">
                <a16:creationId xmlns:a16="http://schemas.microsoft.com/office/drawing/2014/main" id="{45AF0D98-C801-B5CE-BE19-3FFE1D92C3A2}"/>
              </a:ext>
            </a:extLst>
          </p:cNvPr>
          <p:cNvPicPr>
            <a:picLocks noChangeAspect="1"/>
          </p:cNvPicPr>
          <p:nvPr/>
        </p:nvPicPr>
        <p:blipFill>
          <a:blip r:embed="rId9"/>
          <a:stretch>
            <a:fillRect/>
          </a:stretch>
        </p:blipFill>
        <p:spPr>
          <a:xfrm>
            <a:off x="6091237" y="3819207"/>
            <a:ext cx="5271770" cy="1451610"/>
          </a:xfrm>
          <a:prstGeom prst="rect">
            <a:avLst/>
          </a:prstGeom>
        </p:spPr>
      </p:pic>
      <p:sp>
        <p:nvSpPr>
          <p:cNvPr id="8" name="文本框 7">
            <a:extLst>
              <a:ext uri="{FF2B5EF4-FFF2-40B4-BE49-F238E27FC236}">
                <a16:creationId xmlns:a16="http://schemas.microsoft.com/office/drawing/2014/main" id="{566F42C8-7420-F1AD-EDD0-3FDE21DEABFA}"/>
              </a:ext>
            </a:extLst>
          </p:cNvPr>
          <p:cNvSpPr txBox="1"/>
          <p:nvPr/>
        </p:nvSpPr>
        <p:spPr>
          <a:xfrm>
            <a:off x="2136711" y="5538020"/>
            <a:ext cx="2024743" cy="369332"/>
          </a:xfrm>
          <a:prstGeom prst="rect">
            <a:avLst/>
          </a:prstGeom>
          <a:noFill/>
        </p:spPr>
        <p:txBody>
          <a:bodyPr wrap="square" rtlCol="0">
            <a:spAutoFit/>
          </a:bodyPr>
          <a:lstStyle/>
          <a:p>
            <a:r>
              <a:rPr lang="zh-CN" altLang="en-US" dirty="0"/>
              <a:t>水质参数时序图</a:t>
            </a:r>
          </a:p>
        </p:txBody>
      </p:sp>
      <p:sp>
        <p:nvSpPr>
          <p:cNvPr id="10" name="文本框 9">
            <a:extLst>
              <a:ext uri="{FF2B5EF4-FFF2-40B4-BE49-F238E27FC236}">
                <a16:creationId xmlns:a16="http://schemas.microsoft.com/office/drawing/2014/main" id="{9B8FA72E-7FBB-8565-A3B1-A5C624EAC258}"/>
              </a:ext>
            </a:extLst>
          </p:cNvPr>
          <p:cNvSpPr txBox="1"/>
          <p:nvPr/>
        </p:nvSpPr>
        <p:spPr>
          <a:xfrm>
            <a:off x="6089286" y="5538019"/>
            <a:ext cx="5383764" cy="369332"/>
          </a:xfrm>
          <a:prstGeom prst="rect">
            <a:avLst/>
          </a:prstGeom>
          <a:noFill/>
        </p:spPr>
        <p:txBody>
          <a:bodyPr wrap="square" rtlCol="0">
            <a:spAutoFit/>
          </a:bodyPr>
          <a:lstStyle/>
          <a:p>
            <a:r>
              <a:rPr lang="zh-CN" altLang="en-US" dirty="0"/>
              <a:t>西池</a:t>
            </a:r>
            <a:r>
              <a:rPr lang="en-US" altLang="zh-CN" dirty="0"/>
              <a:t>PAC—</a:t>
            </a:r>
            <a:r>
              <a:rPr lang="zh-CN" altLang="en-US" dirty="0"/>
              <a:t>进水流量</a:t>
            </a:r>
            <a:r>
              <a:rPr lang="en-US" altLang="zh-CN" dirty="0"/>
              <a:t>—</a:t>
            </a:r>
            <a:r>
              <a:rPr lang="zh-CN" altLang="en-US" dirty="0"/>
              <a:t>当前时间关联浊度时序图</a:t>
            </a: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9CFA8-21A1-05D4-A8B2-25E65760C5D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F2E119C-FB1A-CD65-2B3D-6127CFE71716}"/>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8531417C-8AA5-8FCF-A2EE-4603F9AE583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3FB72456-1CCD-96B1-7618-B7777BFF0AF7}"/>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3.4 </a:t>
            </a:r>
            <a:r>
              <a:rPr lang="zh-CN" altLang="en-US" sz="2400" b="1" dirty="0">
                <a:solidFill>
                  <a:srgbClr val="002060"/>
                </a:solidFill>
                <a:latin typeface="微软雅黑" panose="020B0503020204020204" pitchFamily="34" charset="-122"/>
                <a:ea typeface="微软雅黑" panose="020B0503020204020204" pitchFamily="34" charset="-122"/>
              </a:rPr>
              <a:t>水质参数与投药量相关性分析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6B724417-5CD7-F69C-A5CA-25F6FC9C75FD}"/>
              </a:ext>
            </a:extLst>
          </p:cNvPr>
          <p:cNvSpPr txBox="1"/>
          <p:nvPr/>
        </p:nvSpPr>
        <p:spPr>
          <a:xfrm>
            <a:off x="1026369" y="1138335"/>
            <a:ext cx="1539550" cy="400110"/>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时序图详析</a:t>
            </a:r>
          </a:p>
        </p:txBody>
      </p:sp>
      <p:sp>
        <p:nvSpPr>
          <p:cNvPr id="11" name="文本框 10">
            <a:extLst>
              <a:ext uri="{FF2B5EF4-FFF2-40B4-BE49-F238E27FC236}">
                <a16:creationId xmlns:a16="http://schemas.microsoft.com/office/drawing/2014/main" id="{8C2C14C5-2038-CB05-484A-7255D46F484F}"/>
              </a:ext>
            </a:extLst>
          </p:cNvPr>
          <p:cNvSpPr txBox="1"/>
          <p:nvPr/>
        </p:nvSpPr>
        <p:spPr>
          <a:xfrm>
            <a:off x="1258078" y="2159826"/>
            <a:ext cx="9808028" cy="64633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原水浊度：</a:t>
            </a:r>
            <a:r>
              <a:rPr lang="en-US" altLang="zh-CN" dirty="0"/>
              <a:t>9</a:t>
            </a:r>
            <a:r>
              <a:rPr lang="zh-CN" altLang="en-US" dirty="0"/>
              <a:t>月</a:t>
            </a:r>
            <a:r>
              <a:rPr lang="en-US" altLang="zh-CN" dirty="0"/>
              <a:t>1</a:t>
            </a:r>
            <a:r>
              <a:rPr lang="zh-CN" altLang="en-US" dirty="0"/>
              <a:t>号到</a:t>
            </a:r>
            <a:r>
              <a:rPr lang="en-US" altLang="zh-CN" dirty="0"/>
              <a:t>9</a:t>
            </a:r>
            <a:r>
              <a:rPr lang="zh-CN" altLang="en-US" dirty="0"/>
              <a:t>月</a:t>
            </a:r>
            <a:r>
              <a:rPr lang="en-US" altLang="zh-CN" dirty="0"/>
              <a:t>22</a:t>
            </a:r>
            <a:r>
              <a:rPr lang="zh-CN" altLang="en-US" dirty="0"/>
              <a:t>号之前波动幅度比较大，可能受到该阶段阴雨天影响。</a:t>
            </a:r>
            <a:r>
              <a:rPr lang="en-US" altLang="zh-CN" dirty="0"/>
              <a:t>9</a:t>
            </a:r>
            <a:r>
              <a:rPr lang="zh-CN" altLang="en-US" dirty="0"/>
              <a:t>月</a:t>
            </a:r>
            <a:r>
              <a:rPr lang="en-US" altLang="zh-CN" dirty="0"/>
              <a:t>22</a:t>
            </a:r>
            <a:r>
              <a:rPr lang="zh-CN" altLang="en-US" dirty="0"/>
              <a:t>号之后回归相对平稳的阶段。</a:t>
            </a:r>
          </a:p>
        </p:txBody>
      </p:sp>
      <p:sp>
        <p:nvSpPr>
          <p:cNvPr id="12" name="文本框 11">
            <a:extLst>
              <a:ext uri="{FF2B5EF4-FFF2-40B4-BE49-F238E27FC236}">
                <a16:creationId xmlns:a16="http://schemas.microsoft.com/office/drawing/2014/main" id="{3297BE2B-751F-AF58-1ECD-1E74E9DBFE86}"/>
              </a:ext>
            </a:extLst>
          </p:cNvPr>
          <p:cNvSpPr txBox="1"/>
          <p:nvPr/>
        </p:nvSpPr>
        <p:spPr>
          <a:xfrm>
            <a:off x="1258078" y="2995122"/>
            <a:ext cx="9901334" cy="64633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原水温度：温度从</a:t>
            </a:r>
            <a:r>
              <a:rPr lang="en-US" altLang="zh-CN" dirty="0"/>
              <a:t>9</a:t>
            </a:r>
            <a:r>
              <a:rPr lang="zh-CN" altLang="en-US" dirty="0"/>
              <a:t>月</a:t>
            </a:r>
            <a:r>
              <a:rPr lang="en-US" altLang="zh-CN" dirty="0"/>
              <a:t>1</a:t>
            </a:r>
            <a:r>
              <a:rPr lang="zh-CN" altLang="en-US" dirty="0"/>
              <a:t>号到</a:t>
            </a:r>
            <a:r>
              <a:rPr lang="en-US" altLang="zh-CN" dirty="0"/>
              <a:t>9</a:t>
            </a:r>
            <a:r>
              <a:rPr lang="zh-CN" altLang="en-US" dirty="0"/>
              <a:t>月</a:t>
            </a:r>
            <a:r>
              <a:rPr lang="en-US" altLang="zh-CN" dirty="0"/>
              <a:t>14</a:t>
            </a:r>
            <a:r>
              <a:rPr lang="zh-CN" altLang="en-US" dirty="0"/>
              <a:t>号出现了小幅度下降，于</a:t>
            </a:r>
            <a:r>
              <a:rPr lang="en-US" altLang="zh-CN" dirty="0"/>
              <a:t>9</a:t>
            </a:r>
            <a:r>
              <a:rPr lang="zh-CN" altLang="en-US" dirty="0"/>
              <a:t>月</a:t>
            </a:r>
            <a:r>
              <a:rPr lang="en-US" altLang="zh-CN" dirty="0"/>
              <a:t>17</a:t>
            </a:r>
            <a:r>
              <a:rPr lang="zh-CN" altLang="en-US" dirty="0"/>
              <a:t>日回升，之后基本呈下降趋势。</a:t>
            </a:r>
            <a:endParaRPr lang="en-US" altLang="zh-CN" dirty="0"/>
          </a:p>
          <a:p>
            <a:pPr marL="285750" indent="-285750">
              <a:buFont typeface="Wingdings" panose="05000000000000000000" pitchFamily="2" charset="2"/>
              <a:buChar char="l"/>
            </a:pPr>
            <a:endParaRPr lang="zh-CN" altLang="en-US" dirty="0"/>
          </a:p>
        </p:txBody>
      </p:sp>
      <p:sp>
        <p:nvSpPr>
          <p:cNvPr id="13" name="文本框 12">
            <a:extLst>
              <a:ext uri="{FF2B5EF4-FFF2-40B4-BE49-F238E27FC236}">
                <a16:creationId xmlns:a16="http://schemas.microsoft.com/office/drawing/2014/main" id="{44AD66C1-6804-CF34-12BD-EB92BFD21568}"/>
              </a:ext>
            </a:extLst>
          </p:cNvPr>
          <p:cNvSpPr txBox="1"/>
          <p:nvPr/>
        </p:nvSpPr>
        <p:spPr>
          <a:xfrm>
            <a:off x="1258078" y="3553419"/>
            <a:ext cx="9808028" cy="64633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原水浊</a:t>
            </a:r>
            <a:r>
              <a:rPr lang="en-US" altLang="zh-CN" dirty="0"/>
              <a:t>PH</a:t>
            </a:r>
            <a:r>
              <a:rPr lang="zh-CN" altLang="en-US" dirty="0"/>
              <a:t>：</a:t>
            </a:r>
            <a:r>
              <a:rPr lang="en-US" altLang="zh-CN" dirty="0"/>
              <a:t>PH</a:t>
            </a:r>
            <a:r>
              <a:rPr lang="zh-CN" altLang="en-US" dirty="0"/>
              <a:t>在</a:t>
            </a:r>
            <a:r>
              <a:rPr lang="en-US" altLang="zh-CN" dirty="0"/>
              <a:t>9</a:t>
            </a:r>
            <a:r>
              <a:rPr lang="zh-CN" altLang="en-US" dirty="0"/>
              <a:t>月</a:t>
            </a:r>
            <a:r>
              <a:rPr lang="en-US" altLang="zh-CN" dirty="0"/>
              <a:t>1</a:t>
            </a:r>
            <a:r>
              <a:rPr lang="zh-CN" altLang="en-US" dirty="0"/>
              <a:t>号到</a:t>
            </a:r>
            <a:r>
              <a:rPr lang="en-US" altLang="zh-CN" dirty="0"/>
              <a:t>9</a:t>
            </a:r>
            <a:r>
              <a:rPr lang="zh-CN" altLang="en-US" dirty="0"/>
              <a:t>月</a:t>
            </a:r>
            <a:r>
              <a:rPr lang="en-US" altLang="zh-CN" dirty="0"/>
              <a:t>25</a:t>
            </a:r>
            <a:r>
              <a:rPr lang="zh-CN" altLang="en-US" dirty="0"/>
              <a:t>号之间一直在区间（</a:t>
            </a:r>
            <a:r>
              <a:rPr lang="en-US" altLang="zh-CN" dirty="0"/>
              <a:t>7.2</a:t>
            </a:r>
            <a:r>
              <a:rPr lang="zh-CN" altLang="en-US" dirty="0"/>
              <a:t>，</a:t>
            </a:r>
            <a:r>
              <a:rPr lang="en-US" altLang="zh-CN" dirty="0"/>
              <a:t>7.9</a:t>
            </a:r>
            <a:r>
              <a:rPr lang="zh-CN" altLang="en-US" dirty="0"/>
              <a:t>）之间进行波动，之后稳定在（</a:t>
            </a:r>
            <a:r>
              <a:rPr lang="en-US" altLang="zh-CN" dirty="0"/>
              <a:t>7.9</a:t>
            </a:r>
            <a:r>
              <a:rPr lang="zh-CN" altLang="en-US" dirty="0"/>
              <a:t>，</a:t>
            </a:r>
            <a:r>
              <a:rPr lang="en-US" altLang="zh-CN" dirty="0"/>
              <a:t>8.0</a:t>
            </a:r>
            <a:r>
              <a:rPr lang="zh-CN" altLang="en-US" dirty="0"/>
              <a:t>）之间。</a:t>
            </a:r>
          </a:p>
        </p:txBody>
      </p:sp>
      <p:sp>
        <p:nvSpPr>
          <p:cNvPr id="14" name="文本框 13">
            <a:extLst>
              <a:ext uri="{FF2B5EF4-FFF2-40B4-BE49-F238E27FC236}">
                <a16:creationId xmlns:a16="http://schemas.microsoft.com/office/drawing/2014/main" id="{E591CB19-38D5-AC43-AD51-124F7E2259BD}"/>
              </a:ext>
            </a:extLst>
          </p:cNvPr>
          <p:cNvSpPr txBox="1"/>
          <p:nvPr/>
        </p:nvSpPr>
        <p:spPr>
          <a:xfrm>
            <a:off x="1258076" y="4388715"/>
            <a:ext cx="9675844"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西池</a:t>
            </a:r>
            <a:r>
              <a:rPr lang="en-US" altLang="zh-CN" dirty="0"/>
              <a:t>PAC—</a:t>
            </a:r>
            <a:r>
              <a:rPr lang="zh-CN" altLang="en-US" dirty="0"/>
              <a:t>进水流量：二者具有很强的共变性，一直在进行波动。</a:t>
            </a:r>
          </a:p>
        </p:txBody>
      </p:sp>
      <p:sp>
        <p:nvSpPr>
          <p:cNvPr id="16" name="文本框 15">
            <a:extLst>
              <a:ext uri="{FF2B5EF4-FFF2-40B4-BE49-F238E27FC236}">
                <a16:creationId xmlns:a16="http://schemas.microsoft.com/office/drawing/2014/main" id="{22C23BDA-5032-3087-E7F1-05F524A18ED2}"/>
              </a:ext>
            </a:extLst>
          </p:cNvPr>
          <p:cNvSpPr txBox="1"/>
          <p:nvPr/>
        </p:nvSpPr>
        <p:spPr>
          <a:xfrm>
            <a:off x="1258076" y="4947012"/>
            <a:ext cx="9675843"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关联浊度：关联浊度在</a:t>
            </a:r>
            <a:r>
              <a:rPr lang="en-US" altLang="zh-CN" dirty="0"/>
              <a:t>9</a:t>
            </a:r>
            <a:r>
              <a:rPr lang="zh-CN" altLang="en-US" dirty="0"/>
              <a:t>月</a:t>
            </a:r>
            <a:r>
              <a:rPr lang="en-US" altLang="zh-CN" dirty="0"/>
              <a:t>18</a:t>
            </a:r>
            <a:r>
              <a:rPr lang="zh-CN" altLang="en-US" dirty="0"/>
              <a:t>号之前有一定的波动性，之后保持在阈值附近相对稳定。</a:t>
            </a:r>
          </a:p>
        </p:txBody>
      </p:sp>
    </p:spTree>
    <p:extLst>
      <p:ext uri="{BB962C8B-B14F-4D97-AF65-F5344CB8AC3E}">
        <p14:creationId xmlns:p14="http://schemas.microsoft.com/office/powerpoint/2010/main" val="279280739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A8571-2D3F-E324-680D-1BF31A53ABB3}"/>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0FA2119D-6363-88E8-B3C4-5D91404D8F7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F9972A1A-E73C-A27E-902B-1EC5F0C3924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21</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CC2CE7BB-AC87-7AB3-921D-458AFDD3B0FE}"/>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4</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水质参数与投药量相关性分析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8C0FFFCB-54E8-CD14-E06D-ED4D84548DA9}"/>
              </a:ext>
            </a:extLst>
          </p:cNvPr>
          <p:cNvGraphicFramePr>
            <a:graphicFrameLocks noGrp="1"/>
          </p:cNvGraphicFramePr>
          <p:nvPr>
            <p:extLst>
              <p:ext uri="{D42A27DB-BD31-4B8C-83A1-F6EECF244321}">
                <p14:modId xmlns:p14="http://schemas.microsoft.com/office/powerpoint/2010/main" val="3223080830"/>
              </p:ext>
            </p:extLst>
          </p:nvPr>
        </p:nvGraphicFramePr>
        <p:xfrm>
          <a:off x="769316" y="1401581"/>
          <a:ext cx="6508562" cy="4282440"/>
        </p:xfrm>
        <a:graphic>
          <a:graphicData uri="http://schemas.openxmlformats.org/drawingml/2006/table">
            <a:tbl>
              <a:tblPr firstRow="1" firstCol="1" bandRow="1">
                <a:tableStyleId>{5C22544A-7EE6-4342-B048-85BDC9FD1C3A}</a:tableStyleId>
              </a:tblPr>
              <a:tblGrid>
                <a:gridCol w="2163827">
                  <a:extLst>
                    <a:ext uri="{9D8B030D-6E8A-4147-A177-3AD203B41FA5}">
                      <a16:colId xmlns:a16="http://schemas.microsoft.com/office/drawing/2014/main" val="35258122"/>
                    </a:ext>
                  </a:extLst>
                </a:gridCol>
                <a:gridCol w="1405592">
                  <a:extLst>
                    <a:ext uri="{9D8B030D-6E8A-4147-A177-3AD203B41FA5}">
                      <a16:colId xmlns:a16="http://schemas.microsoft.com/office/drawing/2014/main" val="3224312286"/>
                    </a:ext>
                  </a:extLst>
                </a:gridCol>
                <a:gridCol w="1492898">
                  <a:extLst>
                    <a:ext uri="{9D8B030D-6E8A-4147-A177-3AD203B41FA5}">
                      <a16:colId xmlns:a16="http://schemas.microsoft.com/office/drawing/2014/main" val="4195583455"/>
                    </a:ext>
                  </a:extLst>
                </a:gridCol>
                <a:gridCol w="1446245">
                  <a:extLst>
                    <a:ext uri="{9D8B030D-6E8A-4147-A177-3AD203B41FA5}">
                      <a16:colId xmlns:a16="http://schemas.microsoft.com/office/drawing/2014/main" val="52393040"/>
                    </a:ext>
                  </a:extLst>
                </a:gridCol>
              </a:tblGrid>
              <a:tr h="0">
                <a:tc>
                  <a:txBody>
                    <a:bodyPr/>
                    <a:lstStyle/>
                    <a:p>
                      <a:pPr indent="127000" algn="ctr">
                        <a:lnSpc>
                          <a:spcPct val="150000"/>
                        </a:lnSpc>
                        <a:buNone/>
                      </a:pPr>
                      <a:r>
                        <a:rPr lang="zh-CN" sz="2000" dirty="0">
                          <a:effectLst/>
                        </a:rPr>
                        <a:t>参数</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zh-CN" sz="2000">
                          <a:effectLst/>
                        </a:rPr>
                        <a:t>Pearson</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zh-CN" sz="2000">
                          <a:effectLst/>
                        </a:rPr>
                        <a:t>Spearman</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zh-CN" sz="2000" dirty="0">
                          <a:effectLst/>
                        </a:rPr>
                        <a:t>偏相关</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54939426"/>
                  </a:ext>
                </a:extLst>
              </a:tr>
              <a:tr h="0">
                <a:tc>
                  <a:txBody>
                    <a:bodyPr/>
                    <a:lstStyle/>
                    <a:p>
                      <a:pPr indent="127000" algn="ctr">
                        <a:lnSpc>
                          <a:spcPct val="150000"/>
                        </a:lnSpc>
                        <a:buNone/>
                      </a:pPr>
                      <a:r>
                        <a:rPr lang="zh-CN" sz="2000" dirty="0">
                          <a:effectLst/>
                        </a:rPr>
                        <a:t>原水浊度</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0.264</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a:effectLst/>
                        </a:rPr>
                        <a:t>0.368</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a:effectLst/>
                        </a:rPr>
                        <a:t>0.1</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3941014922"/>
                  </a:ext>
                </a:extLst>
              </a:tr>
              <a:tr h="0">
                <a:tc>
                  <a:txBody>
                    <a:bodyPr/>
                    <a:lstStyle/>
                    <a:p>
                      <a:pPr indent="127000" algn="ctr">
                        <a:lnSpc>
                          <a:spcPct val="150000"/>
                        </a:lnSpc>
                        <a:buNone/>
                      </a:pPr>
                      <a:r>
                        <a:rPr lang="zh-CN" sz="2000">
                          <a:effectLst/>
                        </a:rPr>
                        <a:t>原水温度</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0.261</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0.459</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a:effectLst/>
                        </a:rPr>
                        <a:t>0.16</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2057884476"/>
                  </a:ext>
                </a:extLst>
              </a:tr>
              <a:tr h="0">
                <a:tc>
                  <a:txBody>
                    <a:bodyPr/>
                    <a:lstStyle/>
                    <a:p>
                      <a:pPr indent="127000" algn="ctr">
                        <a:lnSpc>
                          <a:spcPct val="150000"/>
                        </a:lnSpc>
                        <a:buNone/>
                      </a:pPr>
                      <a:r>
                        <a:rPr lang="zh-CN" sz="2000">
                          <a:effectLst/>
                        </a:rPr>
                        <a:t>原水</a:t>
                      </a:r>
                      <a:r>
                        <a:rPr lang="en-US" sz="2000">
                          <a:effectLst/>
                        </a:rPr>
                        <a:t>PH</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-0.021</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-0.205</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0.087</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182889370"/>
                  </a:ext>
                </a:extLst>
              </a:tr>
              <a:tr h="0">
                <a:tc>
                  <a:txBody>
                    <a:bodyPr/>
                    <a:lstStyle/>
                    <a:p>
                      <a:pPr indent="127000" algn="ctr">
                        <a:lnSpc>
                          <a:spcPct val="150000"/>
                        </a:lnSpc>
                        <a:buNone/>
                      </a:pPr>
                      <a:r>
                        <a:rPr lang="zh-CN" sz="2000">
                          <a:effectLst/>
                        </a:rPr>
                        <a:t>西池</a:t>
                      </a:r>
                      <a:r>
                        <a:rPr lang="en-US" sz="2000">
                          <a:effectLst/>
                        </a:rPr>
                        <a:t>PAC</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a:effectLst/>
                        </a:rPr>
                        <a:t>0.154</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0.357</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-0.006</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3392165038"/>
                  </a:ext>
                </a:extLst>
              </a:tr>
              <a:tr h="0">
                <a:tc>
                  <a:txBody>
                    <a:bodyPr/>
                    <a:lstStyle/>
                    <a:p>
                      <a:pPr indent="127000" algn="ctr">
                        <a:lnSpc>
                          <a:spcPct val="150000"/>
                        </a:lnSpc>
                        <a:buNone/>
                      </a:pPr>
                      <a:r>
                        <a:rPr lang="zh-CN" sz="2000">
                          <a:effectLst/>
                        </a:rPr>
                        <a:t>二期西池进水流量</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a:effectLst/>
                        </a:rPr>
                        <a:t>0.149</a:t>
                      </a:r>
                      <a:endParaRPr lang="zh-CN" sz="200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0.407</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tc>
                  <a:txBody>
                    <a:bodyPr/>
                    <a:lstStyle/>
                    <a:p>
                      <a:pPr indent="127000" algn="ctr">
                        <a:lnSpc>
                          <a:spcPct val="150000"/>
                        </a:lnSpc>
                        <a:buNone/>
                      </a:pPr>
                      <a:r>
                        <a:rPr lang="en-US" sz="2000" dirty="0">
                          <a:effectLst/>
                        </a:rPr>
                        <a:t>0.025</a:t>
                      </a:r>
                      <a:endParaRPr lang="zh-CN" sz="20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14300" marR="114300" marT="114300" marB="114300" anchor="ctr"/>
                </a:tc>
                <a:extLst>
                  <a:ext uri="{0D108BD9-81ED-4DB2-BD59-A6C34878D82A}">
                    <a16:rowId xmlns:a16="http://schemas.microsoft.com/office/drawing/2014/main" val="382108596"/>
                  </a:ext>
                </a:extLst>
              </a:tr>
            </a:tbl>
          </a:graphicData>
        </a:graphic>
      </p:graphicFrame>
      <p:sp>
        <p:nvSpPr>
          <p:cNvPr id="4" name="文本框 3">
            <a:extLst>
              <a:ext uri="{FF2B5EF4-FFF2-40B4-BE49-F238E27FC236}">
                <a16:creationId xmlns:a16="http://schemas.microsoft.com/office/drawing/2014/main" id="{4170A368-89D6-D426-5DFA-D81E0E45290B}"/>
              </a:ext>
            </a:extLst>
          </p:cNvPr>
          <p:cNvSpPr txBox="1"/>
          <p:nvPr/>
        </p:nvSpPr>
        <p:spPr>
          <a:xfrm>
            <a:off x="7539134" y="1443841"/>
            <a:ext cx="3713584" cy="4247317"/>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a:t>Pearson </a:t>
            </a:r>
            <a:r>
              <a:rPr lang="zh-CN" altLang="zh-CN" dirty="0"/>
              <a:t>普遍在</a:t>
            </a:r>
            <a:r>
              <a:rPr lang="en-US" altLang="zh-CN" dirty="0"/>
              <a:t> |r|≤0.26</a:t>
            </a:r>
            <a:r>
              <a:rPr lang="zh-CN" altLang="zh-CN" dirty="0"/>
              <a:t>，说明线性关联弱。</a:t>
            </a:r>
            <a:endParaRPr lang="en-US" altLang="zh-CN" dirty="0"/>
          </a:p>
          <a:p>
            <a:endParaRPr lang="en-US" altLang="zh-CN" dirty="0"/>
          </a:p>
          <a:p>
            <a:pPr marL="285750" indent="-285750">
              <a:buFont typeface="Wingdings" panose="05000000000000000000" pitchFamily="2" charset="2"/>
              <a:buChar char="l"/>
            </a:pPr>
            <a:r>
              <a:rPr lang="en-US" altLang="zh-CN" dirty="0"/>
              <a:t>Spearman </a:t>
            </a:r>
            <a:r>
              <a:rPr lang="zh-CN" altLang="zh-CN" dirty="0"/>
              <a:t>中等偏弱（温度、流量、原水浊度、</a:t>
            </a:r>
            <a:r>
              <a:rPr lang="en-US" altLang="zh-CN" dirty="0"/>
              <a:t>PAC </a:t>
            </a:r>
            <a:r>
              <a:rPr lang="zh-CN" altLang="zh-CN" dirty="0"/>
              <a:t>都明显高于</a:t>
            </a:r>
            <a:r>
              <a:rPr lang="en-US" altLang="zh-CN" dirty="0"/>
              <a:t> Pearson</a:t>
            </a:r>
            <a:r>
              <a:rPr lang="zh-CN" altLang="zh-CN" dirty="0"/>
              <a:t>），说明更可能是非线性但单调的关系</a:t>
            </a:r>
            <a:r>
              <a:rPr lang="zh-CN" altLang="en-US" dirty="0"/>
              <a:t>，</a:t>
            </a:r>
            <a:r>
              <a:rPr lang="zh-CN" altLang="zh-CN" dirty="0"/>
              <a:t>如边际效应递减。</a:t>
            </a:r>
            <a:endParaRPr lang="en-US" altLang="zh-CN" dirty="0"/>
          </a:p>
          <a:p>
            <a:endParaRPr lang="en-US" altLang="zh-CN" dirty="0"/>
          </a:p>
          <a:p>
            <a:pPr marL="285750" indent="-285750">
              <a:buFont typeface="Wingdings" panose="05000000000000000000" pitchFamily="2" charset="2"/>
              <a:buChar char="l"/>
            </a:pPr>
            <a:r>
              <a:rPr lang="en-US" altLang="zh-CN" dirty="0"/>
              <a:t>PAC </a:t>
            </a:r>
            <a:r>
              <a:rPr lang="zh-CN" altLang="zh-CN" dirty="0"/>
              <a:t>的偏相关</a:t>
            </a:r>
            <a:r>
              <a:rPr lang="en-US" altLang="zh-CN" dirty="0"/>
              <a:t>≈0 </a:t>
            </a:r>
            <a:r>
              <a:rPr lang="zh-CN" altLang="en-US" dirty="0"/>
              <a:t>并不是表明无效，而是存在耦合现象或者有强共变变量分走了其相关性。</a:t>
            </a:r>
            <a:endParaRPr lang="en-US" altLang="zh-CN" dirty="0"/>
          </a:p>
          <a:p>
            <a:endParaRPr lang="en-US" altLang="zh-CN" dirty="0"/>
          </a:p>
          <a:p>
            <a:pPr marL="285750" indent="-285750">
              <a:buFont typeface="Wingdings" panose="05000000000000000000" pitchFamily="2" charset="2"/>
              <a:buChar char="l"/>
            </a:pPr>
            <a:r>
              <a:rPr lang="en-US" altLang="zh-CN" dirty="0"/>
              <a:t>PH</a:t>
            </a:r>
            <a:r>
              <a:rPr lang="zh-CN" altLang="en-US" dirty="0"/>
              <a:t>在区间（</a:t>
            </a:r>
            <a:r>
              <a:rPr lang="en-US" altLang="zh-CN" dirty="0"/>
              <a:t>7.2</a:t>
            </a:r>
            <a:r>
              <a:rPr lang="zh-CN" altLang="en-US" dirty="0"/>
              <a:t>，</a:t>
            </a:r>
            <a:r>
              <a:rPr lang="en-US" altLang="zh-CN" dirty="0"/>
              <a:t>8.2</a:t>
            </a:r>
            <a:r>
              <a:rPr lang="zh-CN" altLang="en-US" dirty="0"/>
              <a:t>）内影响不大，超出范围才体现影响。</a:t>
            </a:r>
            <a:endParaRPr lang="en-US" altLang="zh-CN" dirty="0"/>
          </a:p>
        </p:txBody>
      </p:sp>
    </p:spTree>
    <p:extLst>
      <p:ext uri="{BB962C8B-B14F-4D97-AF65-F5344CB8AC3E}">
        <p14:creationId xmlns:p14="http://schemas.microsoft.com/office/powerpoint/2010/main" val="3671609453"/>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C2768-B623-98D6-1F70-4A1B24519AF3}"/>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71A5C8CD-A277-9D71-30D9-FEBD102EA61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1FABD901-0F21-0924-F7CE-C7427E1F1816}"/>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E0845801-0171-0D0A-11D2-73025C3ED121}"/>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4</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水质参数与投药量相关性分析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pic>
        <p:nvPicPr>
          <p:cNvPr id="3" name="图片 2" descr="热力图_相关性">
            <a:extLst>
              <a:ext uri="{FF2B5EF4-FFF2-40B4-BE49-F238E27FC236}">
                <a16:creationId xmlns:a16="http://schemas.microsoft.com/office/drawing/2014/main" id="{1116184A-0966-E16D-907C-9A8F8DF58288}"/>
              </a:ext>
            </a:extLst>
          </p:cNvPr>
          <p:cNvPicPr>
            <a:picLocks noChangeAspect="1"/>
          </p:cNvPicPr>
          <p:nvPr/>
        </p:nvPicPr>
        <p:blipFill>
          <a:blip r:embed="rId4"/>
          <a:stretch>
            <a:fillRect/>
          </a:stretch>
        </p:blipFill>
        <p:spPr>
          <a:xfrm>
            <a:off x="626382" y="997383"/>
            <a:ext cx="6772793" cy="5526697"/>
          </a:xfrm>
          <a:prstGeom prst="rect">
            <a:avLst/>
          </a:prstGeom>
        </p:spPr>
      </p:pic>
      <p:sp>
        <p:nvSpPr>
          <p:cNvPr id="5" name="文本框 4">
            <a:extLst>
              <a:ext uri="{FF2B5EF4-FFF2-40B4-BE49-F238E27FC236}">
                <a16:creationId xmlns:a16="http://schemas.microsoft.com/office/drawing/2014/main" id="{929CF972-7F0B-4824-EEE3-0117093FC642}"/>
              </a:ext>
            </a:extLst>
          </p:cNvPr>
          <p:cNvSpPr txBox="1"/>
          <p:nvPr/>
        </p:nvSpPr>
        <p:spPr>
          <a:xfrm>
            <a:off x="7865706" y="2549405"/>
            <a:ext cx="3699912" cy="1477328"/>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图中分析来看二期西池进水流量与西池</a:t>
            </a:r>
            <a:r>
              <a:rPr lang="en-US" altLang="zh-CN" dirty="0"/>
              <a:t>PAC</a:t>
            </a:r>
            <a:r>
              <a:rPr lang="zh-CN" altLang="en-US" dirty="0"/>
              <a:t>的关联性很强，其余变量之间均存在一定的关联性，解</a:t>
            </a:r>
            <a:r>
              <a:rPr lang="zh-CN" altLang="en-US" dirty="0">
                <a:highlight>
                  <a:srgbClr val="FFFF00"/>
                </a:highlight>
              </a:rPr>
              <a:t>释了相关性分析中的强共变问题。</a:t>
            </a:r>
          </a:p>
        </p:txBody>
      </p:sp>
    </p:spTree>
    <p:extLst>
      <p:ext uri="{BB962C8B-B14F-4D97-AF65-F5344CB8AC3E}">
        <p14:creationId xmlns:p14="http://schemas.microsoft.com/office/powerpoint/2010/main" val="4263470474"/>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23</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4</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水质参数与投药量相关性分析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pic>
        <p:nvPicPr>
          <p:cNvPr id="2" name="图片 1" descr="热力图_时间_相对水平+原值">
            <a:extLst>
              <a:ext uri="{FF2B5EF4-FFF2-40B4-BE49-F238E27FC236}">
                <a16:creationId xmlns:a16="http://schemas.microsoft.com/office/drawing/2014/main" id="{33AA7089-6E9D-8809-BE8A-B27404818DD1}"/>
              </a:ext>
            </a:extLst>
          </p:cNvPr>
          <p:cNvPicPr>
            <a:picLocks noChangeAspect="1"/>
          </p:cNvPicPr>
          <p:nvPr/>
        </p:nvPicPr>
        <p:blipFill>
          <a:blip r:embed="rId4"/>
          <a:stretch>
            <a:fillRect/>
          </a:stretch>
        </p:blipFill>
        <p:spPr>
          <a:xfrm>
            <a:off x="1604641" y="1471173"/>
            <a:ext cx="8405399" cy="3296771"/>
          </a:xfrm>
          <a:prstGeom prst="rect">
            <a:avLst/>
          </a:prstGeom>
        </p:spPr>
      </p:pic>
      <p:sp>
        <p:nvSpPr>
          <p:cNvPr id="3" name="文本框 2">
            <a:extLst>
              <a:ext uri="{FF2B5EF4-FFF2-40B4-BE49-F238E27FC236}">
                <a16:creationId xmlns:a16="http://schemas.microsoft.com/office/drawing/2014/main" id="{A57C6C31-4ECE-0705-E0A2-CB8AF79CCA9C}"/>
              </a:ext>
            </a:extLst>
          </p:cNvPr>
          <p:cNvSpPr txBox="1"/>
          <p:nvPr/>
        </p:nvSpPr>
        <p:spPr>
          <a:xfrm>
            <a:off x="2587690" y="4979542"/>
            <a:ext cx="7016620" cy="923330"/>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这张图反映了数据集中相关水质参数的波动情况是否稳定。颜色变化越大，</a:t>
            </a:r>
            <a:r>
              <a:rPr lang="zh-CN" altLang="en-US" dirty="0">
                <a:highlight>
                  <a:srgbClr val="FFFF00"/>
                </a:highlight>
              </a:rPr>
              <a:t>波动越大</a:t>
            </a:r>
            <a:r>
              <a:rPr lang="zh-CN" altLang="en-US" dirty="0"/>
              <a:t>。</a:t>
            </a:r>
            <a:endParaRPr lang="en-US" altLang="zh-CN" dirty="0"/>
          </a:p>
          <a:p>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C582E-8B2D-EB88-A17E-9A0C89BB1E90}"/>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FB2FF21C-EB34-3F21-BDEF-0A157C055AC0}"/>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5EA0C2AF-8C26-1CB4-5FEC-9D84F62B31F0}"/>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3BB42FD8-336F-57A8-00A8-F7B55A273515}"/>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5</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矾花形态参数与投药量关联性</a:t>
            </a:r>
            <a:r>
              <a:rPr lang="zh-CN" altLang="en-US" sz="2400" dirty="0">
                <a:solidFill>
                  <a:srgbClr val="002060"/>
                </a:solidFill>
                <a:latin typeface="微软雅黑" panose="020B0503020204020204" pitchFamily="34" charset="-122"/>
                <a:ea typeface="微软雅黑" panose="020B0503020204020204" pitchFamily="34" charset="-122"/>
              </a:rPr>
              <a:t>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pic>
        <p:nvPicPr>
          <p:cNvPr id="4" name="图片 3" descr="json文件">
            <a:extLst>
              <a:ext uri="{FF2B5EF4-FFF2-40B4-BE49-F238E27FC236}">
                <a16:creationId xmlns:a16="http://schemas.microsoft.com/office/drawing/2014/main" id="{514D285C-8F59-D9E1-5E8D-2921C22A134A}"/>
              </a:ext>
            </a:extLst>
          </p:cNvPr>
          <p:cNvPicPr>
            <a:picLocks noChangeAspect="1"/>
          </p:cNvPicPr>
          <p:nvPr/>
        </p:nvPicPr>
        <p:blipFill>
          <a:blip r:embed="rId4"/>
          <a:stretch>
            <a:fillRect/>
          </a:stretch>
        </p:blipFill>
        <p:spPr>
          <a:xfrm>
            <a:off x="534301" y="1127816"/>
            <a:ext cx="5273040" cy="2493645"/>
          </a:xfrm>
          <a:prstGeom prst="rect">
            <a:avLst/>
          </a:prstGeom>
        </p:spPr>
      </p:pic>
      <p:sp>
        <p:nvSpPr>
          <p:cNvPr id="6" name="文本框 5">
            <a:extLst>
              <a:ext uri="{FF2B5EF4-FFF2-40B4-BE49-F238E27FC236}">
                <a16:creationId xmlns:a16="http://schemas.microsoft.com/office/drawing/2014/main" id="{73C747EC-CCB0-2B4B-7975-678D1B189A15}"/>
              </a:ext>
            </a:extLst>
          </p:cNvPr>
          <p:cNvSpPr txBox="1"/>
          <p:nvPr/>
        </p:nvSpPr>
        <p:spPr>
          <a:xfrm>
            <a:off x="2161559" y="3928189"/>
            <a:ext cx="2018524" cy="369332"/>
          </a:xfrm>
          <a:prstGeom prst="rect">
            <a:avLst/>
          </a:prstGeom>
          <a:noFill/>
        </p:spPr>
        <p:txBody>
          <a:bodyPr wrap="square" rtlCol="0">
            <a:spAutoFit/>
          </a:bodyPr>
          <a:lstStyle/>
          <a:p>
            <a:r>
              <a:rPr lang="zh-CN" altLang="en-US" dirty="0"/>
              <a:t>时滞对其配置文件</a:t>
            </a:r>
          </a:p>
        </p:txBody>
      </p:sp>
      <p:sp>
        <p:nvSpPr>
          <p:cNvPr id="7" name="文本框 6">
            <a:extLst>
              <a:ext uri="{FF2B5EF4-FFF2-40B4-BE49-F238E27FC236}">
                <a16:creationId xmlns:a16="http://schemas.microsoft.com/office/drawing/2014/main" id="{2005113A-6D30-E356-EE1E-D452B3973423}"/>
              </a:ext>
            </a:extLst>
          </p:cNvPr>
          <p:cNvSpPr txBox="1"/>
          <p:nvPr/>
        </p:nvSpPr>
        <p:spPr>
          <a:xfrm>
            <a:off x="8011917" y="3928189"/>
            <a:ext cx="2018523" cy="369332"/>
          </a:xfrm>
          <a:prstGeom prst="rect">
            <a:avLst/>
          </a:prstGeom>
          <a:noFill/>
        </p:spPr>
        <p:txBody>
          <a:bodyPr wrap="square" rtlCol="0">
            <a:spAutoFit/>
          </a:bodyPr>
          <a:lstStyle/>
          <a:p>
            <a:r>
              <a:rPr lang="zh-CN" altLang="en-US" dirty="0"/>
              <a:t>数据处理配置文件</a:t>
            </a:r>
          </a:p>
        </p:txBody>
      </p:sp>
      <p:sp>
        <p:nvSpPr>
          <p:cNvPr id="8" name="文本框 7">
            <a:extLst>
              <a:ext uri="{FF2B5EF4-FFF2-40B4-BE49-F238E27FC236}">
                <a16:creationId xmlns:a16="http://schemas.microsoft.com/office/drawing/2014/main" id="{B7957337-8697-9538-2D52-292988653B84}"/>
              </a:ext>
            </a:extLst>
          </p:cNvPr>
          <p:cNvSpPr txBox="1"/>
          <p:nvPr/>
        </p:nvSpPr>
        <p:spPr>
          <a:xfrm>
            <a:off x="2049801" y="4531934"/>
            <a:ext cx="7137918" cy="1477328"/>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将水质数据偏移</a:t>
            </a:r>
            <a:r>
              <a:rPr lang="en-US" altLang="zh-CN" dirty="0"/>
              <a:t>24</a:t>
            </a:r>
            <a:r>
              <a:rPr lang="zh-CN" altLang="en-US" dirty="0"/>
              <a:t>分钟后与相机拍摄矾花数据进行时间匹配，共获取</a:t>
            </a:r>
            <a:r>
              <a:rPr lang="en-US" altLang="zh-CN" dirty="0"/>
              <a:t>47755</a:t>
            </a:r>
            <a:r>
              <a:rPr lang="zh-CN" altLang="en-US" dirty="0"/>
              <a:t>组数据。</a:t>
            </a:r>
            <a:endParaRPr lang="en-US" altLang="zh-CN" dirty="0"/>
          </a:p>
          <a:p>
            <a:endParaRPr lang="en-US" altLang="zh-CN" dirty="0"/>
          </a:p>
          <a:p>
            <a:pPr marL="285750" indent="-285750">
              <a:buFont typeface="Wingdings" panose="05000000000000000000" pitchFamily="2" charset="2"/>
              <a:buChar char="l"/>
            </a:pPr>
            <a:r>
              <a:rPr lang="zh-CN" altLang="en-US" dirty="0"/>
              <a:t>数据处理文件中按五分钟步长采样，采用</a:t>
            </a:r>
            <a:r>
              <a:rPr lang="en-US" altLang="zh-CN" dirty="0"/>
              <a:t>15</a:t>
            </a:r>
            <a:r>
              <a:rPr lang="zh-CN" altLang="en-US" dirty="0"/>
              <a:t>分钟滚动中位数平滑，减少了随机波动带来的干扰，提升了结果的可靠性。</a:t>
            </a:r>
          </a:p>
        </p:txBody>
      </p:sp>
      <p:pic>
        <p:nvPicPr>
          <p:cNvPr id="9" name="图片 8" descr="summary">
            <a:extLst>
              <a:ext uri="{FF2B5EF4-FFF2-40B4-BE49-F238E27FC236}">
                <a16:creationId xmlns:a16="http://schemas.microsoft.com/office/drawing/2014/main" id="{F5772BCD-C0CF-D2F4-D8B5-15FE4161E08B}"/>
              </a:ext>
            </a:extLst>
          </p:cNvPr>
          <p:cNvPicPr>
            <a:picLocks noChangeAspect="1"/>
          </p:cNvPicPr>
          <p:nvPr/>
        </p:nvPicPr>
        <p:blipFill>
          <a:blip r:embed="rId5"/>
          <a:stretch>
            <a:fillRect/>
          </a:stretch>
        </p:blipFill>
        <p:spPr>
          <a:xfrm>
            <a:off x="6204455" y="1119243"/>
            <a:ext cx="5268595" cy="2510790"/>
          </a:xfrm>
          <a:prstGeom prst="rect">
            <a:avLst/>
          </a:prstGeom>
        </p:spPr>
      </p:pic>
    </p:spTree>
    <p:extLst>
      <p:ext uri="{BB962C8B-B14F-4D97-AF65-F5344CB8AC3E}">
        <p14:creationId xmlns:p14="http://schemas.microsoft.com/office/powerpoint/2010/main" val="156532974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381F0-2165-BDDC-BD4D-99565EF7A20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5DBF82A1-B893-A95B-76E7-6FD825B4238F}"/>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12E9B143-DB56-B387-64F4-6F7A87696BA2}"/>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6149423E-FC97-CE29-70B8-F7AAAE0B5979}"/>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a:t>
            </a:r>
            <a:r>
              <a:rPr lang="en-US" altLang="zh-CN" sz="2400" dirty="0">
                <a:solidFill>
                  <a:srgbClr val="002060"/>
                </a:solidFill>
                <a:latin typeface="微软雅黑" panose="020B0503020204020204" pitchFamily="34" charset="-122"/>
                <a:ea typeface="微软雅黑" panose="020B0503020204020204" pitchFamily="34" charset="-122"/>
              </a:rPr>
              <a:t>5</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矾花形态参数与投药量关联性</a:t>
            </a:r>
            <a:r>
              <a:rPr lang="zh-CN" altLang="en-US" sz="2400" dirty="0">
                <a:solidFill>
                  <a:srgbClr val="002060"/>
                </a:solidFill>
                <a:latin typeface="微软雅黑" panose="020B0503020204020204" pitchFamily="34" charset="-122"/>
                <a:ea typeface="微软雅黑" panose="020B0503020204020204" pitchFamily="34" charset="-122"/>
              </a:rPr>
              <a:t>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54501FA1-22F2-BFBF-94FC-36D7C312DD01}"/>
              </a:ext>
            </a:extLst>
          </p:cNvPr>
          <p:cNvSpPr txBox="1"/>
          <p:nvPr/>
        </p:nvSpPr>
        <p:spPr>
          <a:xfrm>
            <a:off x="905069" y="1406976"/>
            <a:ext cx="1782147"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矾花分档改变：</a:t>
            </a:r>
          </a:p>
        </p:txBody>
      </p:sp>
      <p:sp>
        <p:nvSpPr>
          <p:cNvPr id="3" name="文本框 2">
            <a:extLst>
              <a:ext uri="{FF2B5EF4-FFF2-40B4-BE49-F238E27FC236}">
                <a16:creationId xmlns:a16="http://schemas.microsoft.com/office/drawing/2014/main" id="{FAED982A-1C8D-9234-349B-CEFE1D828E2F}"/>
              </a:ext>
            </a:extLst>
          </p:cNvPr>
          <p:cNvSpPr txBox="1"/>
          <p:nvPr/>
        </p:nvSpPr>
        <p:spPr>
          <a:xfrm>
            <a:off x="817491" y="3563132"/>
            <a:ext cx="9787812" cy="369332"/>
          </a:xfrm>
          <a:prstGeom prst="rect">
            <a:avLst/>
          </a:prstGeom>
          <a:noFill/>
        </p:spPr>
        <p:txBody>
          <a:bodyPr wrap="square" rtlCol="0">
            <a:spAutoFit/>
          </a:bodyPr>
          <a:lstStyle/>
          <a:p>
            <a:r>
              <a:rPr lang="zh-CN" altLang="en-US" dirty="0"/>
              <a:t>原来挡位（</a:t>
            </a:r>
            <a:r>
              <a:rPr lang="en-US" altLang="zh-CN" dirty="0"/>
              <a:t>schema_0</a:t>
            </a:r>
            <a:r>
              <a:rPr lang="zh-CN" altLang="en-US" dirty="0"/>
              <a:t>）：</a:t>
            </a:r>
            <a:r>
              <a:rPr lang="en-US" altLang="zh-CN" dirty="0"/>
              <a:t>128-200</a:t>
            </a:r>
            <a:r>
              <a:rPr lang="zh-CN" altLang="en-US" dirty="0"/>
              <a:t>，</a:t>
            </a:r>
            <a:r>
              <a:rPr lang="en-US" altLang="zh-CN" dirty="0"/>
              <a:t>200-400</a:t>
            </a:r>
            <a:r>
              <a:rPr lang="zh-CN" altLang="en-US" dirty="0"/>
              <a:t>，</a:t>
            </a:r>
            <a:r>
              <a:rPr lang="en-US" altLang="zh-CN" dirty="0"/>
              <a:t>400-600</a:t>
            </a:r>
            <a:r>
              <a:rPr lang="zh-CN" altLang="en-US" dirty="0"/>
              <a:t>，</a:t>
            </a:r>
            <a:r>
              <a:rPr lang="en-US" altLang="zh-CN" dirty="0"/>
              <a:t>600-800</a:t>
            </a:r>
            <a:r>
              <a:rPr lang="zh-CN" altLang="en-US" dirty="0"/>
              <a:t>，</a:t>
            </a:r>
            <a:r>
              <a:rPr lang="en-US" altLang="zh-CN" dirty="0"/>
              <a:t>800+</a:t>
            </a:r>
            <a:endParaRPr lang="zh-CN" altLang="en-US" dirty="0"/>
          </a:p>
        </p:txBody>
      </p:sp>
      <p:sp>
        <p:nvSpPr>
          <p:cNvPr id="10" name="文本框 9">
            <a:extLst>
              <a:ext uri="{FF2B5EF4-FFF2-40B4-BE49-F238E27FC236}">
                <a16:creationId xmlns:a16="http://schemas.microsoft.com/office/drawing/2014/main" id="{81620757-29E7-C3CB-5FD0-61C71E5752E0}"/>
              </a:ext>
            </a:extLst>
          </p:cNvPr>
          <p:cNvSpPr txBox="1"/>
          <p:nvPr/>
        </p:nvSpPr>
        <p:spPr>
          <a:xfrm>
            <a:off x="817491" y="5719288"/>
            <a:ext cx="10101450" cy="369332"/>
          </a:xfrm>
          <a:prstGeom prst="rect">
            <a:avLst/>
          </a:prstGeom>
          <a:noFill/>
        </p:spPr>
        <p:txBody>
          <a:bodyPr wrap="square" rtlCol="0">
            <a:spAutoFit/>
          </a:bodyPr>
          <a:lstStyle/>
          <a:p>
            <a:r>
              <a:rPr lang="zh-CN" altLang="en-US" dirty="0"/>
              <a:t>改变之后（</a:t>
            </a:r>
            <a:r>
              <a:rPr lang="en-US" altLang="zh-CN" dirty="0"/>
              <a:t>schema_1</a:t>
            </a:r>
            <a:r>
              <a:rPr lang="zh-CN" altLang="en-US" dirty="0"/>
              <a:t>）：</a:t>
            </a:r>
            <a:r>
              <a:rPr lang="en-US" altLang="zh-CN" dirty="0"/>
              <a:t>128-800</a:t>
            </a:r>
            <a:r>
              <a:rPr lang="zh-CN" altLang="en-US" dirty="0"/>
              <a:t>，</a:t>
            </a:r>
            <a:r>
              <a:rPr lang="en-US" altLang="zh-CN" dirty="0"/>
              <a:t>800-1800</a:t>
            </a:r>
            <a:r>
              <a:rPr lang="zh-CN" altLang="en-US" dirty="0"/>
              <a:t>，</a:t>
            </a:r>
            <a:r>
              <a:rPr lang="en-US" altLang="zh-CN" dirty="0"/>
              <a:t>1800-3900</a:t>
            </a:r>
            <a:r>
              <a:rPr lang="zh-CN" altLang="en-US" dirty="0"/>
              <a:t>，</a:t>
            </a:r>
            <a:r>
              <a:rPr lang="en-US" altLang="zh-CN" dirty="0"/>
              <a:t>3900-8600</a:t>
            </a:r>
            <a:r>
              <a:rPr lang="zh-CN" altLang="en-US" dirty="0"/>
              <a:t>，</a:t>
            </a:r>
            <a:r>
              <a:rPr lang="en-US" altLang="zh-CN" dirty="0"/>
              <a:t>8600-65535</a:t>
            </a:r>
            <a:endParaRPr lang="zh-CN" altLang="en-US" dirty="0"/>
          </a:p>
        </p:txBody>
      </p:sp>
      <p:sp>
        <p:nvSpPr>
          <p:cNvPr id="11" name="文本框 10">
            <a:extLst>
              <a:ext uri="{FF2B5EF4-FFF2-40B4-BE49-F238E27FC236}">
                <a16:creationId xmlns:a16="http://schemas.microsoft.com/office/drawing/2014/main" id="{5AF7866A-2F91-DA20-2051-8CBEC95586AA}"/>
              </a:ext>
            </a:extLst>
          </p:cNvPr>
          <p:cNvSpPr txBox="1"/>
          <p:nvPr/>
        </p:nvSpPr>
        <p:spPr>
          <a:xfrm>
            <a:off x="8196928" y="1897674"/>
            <a:ext cx="3542523" cy="1200329"/>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改变分档原因：</a:t>
            </a:r>
            <a:r>
              <a:rPr lang="en-US" altLang="zh-CN" dirty="0"/>
              <a:t>800+</a:t>
            </a:r>
            <a:r>
              <a:rPr lang="zh-CN" altLang="en-US" dirty="0"/>
              <a:t>矾花粒径范围太广，无法有效识别矾花形态参数与投药量之间的关系。</a:t>
            </a:r>
            <a:endParaRPr lang="en-US" altLang="zh-CN" dirty="0"/>
          </a:p>
          <a:p>
            <a:endParaRPr lang="zh-CN" altLang="en-US" dirty="0"/>
          </a:p>
        </p:txBody>
      </p:sp>
      <p:pic>
        <p:nvPicPr>
          <p:cNvPr id="13" name="图片 12">
            <a:extLst>
              <a:ext uri="{FF2B5EF4-FFF2-40B4-BE49-F238E27FC236}">
                <a16:creationId xmlns:a16="http://schemas.microsoft.com/office/drawing/2014/main" id="{8143DD2F-475F-5BA2-0B06-8ED992745A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069" y="1883713"/>
            <a:ext cx="5932125" cy="1672108"/>
          </a:xfrm>
          <a:prstGeom prst="rect">
            <a:avLst/>
          </a:prstGeom>
        </p:spPr>
      </p:pic>
      <p:pic>
        <p:nvPicPr>
          <p:cNvPr id="15" name="图片 14">
            <a:extLst>
              <a:ext uri="{FF2B5EF4-FFF2-40B4-BE49-F238E27FC236}">
                <a16:creationId xmlns:a16="http://schemas.microsoft.com/office/drawing/2014/main" id="{57FCCBCA-920E-5A17-0CB2-A92FE1888E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068" y="4078484"/>
            <a:ext cx="5932125" cy="1690502"/>
          </a:xfrm>
          <a:prstGeom prst="rect">
            <a:avLst/>
          </a:prstGeom>
        </p:spPr>
      </p:pic>
    </p:spTree>
    <p:extLst>
      <p:ext uri="{BB962C8B-B14F-4D97-AF65-F5344CB8AC3E}">
        <p14:creationId xmlns:p14="http://schemas.microsoft.com/office/powerpoint/2010/main" val="4124836377"/>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BD98C-9857-407C-F2FB-396328A7E841}"/>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8344919A-218C-2ACB-C362-11D843B0A471}"/>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31057F39-B00F-7104-AD71-39D40B5315C4}"/>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758F3637-FDB2-700E-E568-714A839E459A}"/>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b="1" dirty="0">
                <a:solidFill>
                  <a:srgbClr val="002060"/>
                </a:solidFill>
                <a:latin typeface="微软雅黑" panose="020B0503020204020204" pitchFamily="34" charset="-122"/>
                <a:ea typeface="微软雅黑" panose="020B0503020204020204" pitchFamily="34" charset="-122"/>
              </a:rPr>
              <a:t>3.5 </a:t>
            </a:r>
            <a:r>
              <a:rPr lang="zh-CN" altLang="en-US" sz="2400" dirty="0">
                <a:solidFill>
                  <a:srgbClr val="002060"/>
                </a:solidFill>
                <a:latin typeface="微软雅黑" panose="020B0503020204020204" pitchFamily="34" charset="-122"/>
                <a:ea typeface="微软雅黑" panose="020B0503020204020204" pitchFamily="34" charset="-122"/>
              </a:rPr>
              <a:t>矾花形态参数与投药量关联性分析</a:t>
            </a:r>
            <a:endParaRPr lang="en-US" altLang="zh-CN" sz="2400" b="1" spc="200" dirty="0">
              <a:solidFill>
                <a:srgbClr val="00206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D69CA3C-691C-8349-DB43-EFFF9760BFDD}"/>
              </a:ext>
            </a:extLst>
          </p:cNvPr>
          <p:cNvSpPr txBox="1"/>
          <p:nvPr/>
        </p:nvSpPr>
        <p:spPr>
          <a:xfrm>
            <a:off x="6679560" y="1120676"/>
            <a:ext cx="4030824" cy="2308324"/>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多数时段内，西池 PAC 的升降与 count2（中粒径矾花）、count3（中偏大粒径矾花）的波动高度同步。例如 2025-09-02 10:48~11:00 时段，PAC 从 4.47 升至 5.08，count2 从 130 升至 197，count3 从 47 升至 78，直接体现投药量增加对中粒径矾花形成的促进作用。</a:t>
            </a:r>
          </a:p>
        </p:txBody>
      </p:sp>
      <p:pic>
        <p:nvPicPr>
          <p:cNvPr id="5" name="图片 4">
            <a:extLst>
              <a:ext uri="{FF2B5EF4-FFF2-40B4-BE49-F238E27FC236}">
                <a16:creationId xmlns:a16="http://schemas.microsoft.com/office/drawing/2014/main" id="{B199538A-DEB0-5624-300F-7F3CCDA6DE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0343" y="763866"/>
            <a:ext cx="5165027" cy="5884687"/>
          </a:xfrm>
          <a:prstGeom prst="rect">
            <a:avLst/>
          </a:prstGeom>
        </p:spPr>
      </p:pic>
    </p:spTree>
    <p:extLst>
      <p:ext uri="{BB962C8B-B14F-4D97-AF65-F5344CB8AC3E}">
        <p14:creationId xmlns:p14="http://schemas.microsoft.com/office/powerpoint/2010/main" val="166781169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444C7-F5FE-C1CF-C878-A575218ECBE4}"/>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F8C6C984-74C1-12C9-1B79-D647915487F7}"/>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922744EA-12C3-3416-571B-451789EDBA13}"/>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1D7BF747-5013-F64E-CA94-CB81EDC53454}"/>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3.5 </a:t>
            </a:r>
            <a:r>
              <a:rPr lang="zh-CN" altLang="en-US" sz="2400" dirty="0">
                <a:solidFill>
                  <a:srgbClr val="002060"/>
                </a:solidFill>
                <a:latin typeface="微软雅黑" panose="020B0503020204020204" pitchFamily="34" charset="-122"/>
                <a:ea typeface="微软雅黑" panose="020B0503020204020204" pitchFamily="34" charset="-122"/>
              </a:rPr>
              <a:t>矾花形态参数与投药量关联性分析</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pic>
        <p:nvPicPr>
          <p:cNvPr id="3" name="图片 2" descr="ts_pac_counts_schema_1">
            <a:extLst>
              <a:ext uri="{FF2B5EF4-FFF2-40B4-BE49-F238E27FC236}">
                <a16:creationId xmlns:a16="http://schemas.microsoft.com/office/drawing/2014/main" id="{1497B3AA-D9B7-5872-F817-7AEA5503E8F8}"/>
              </a:ext>
            </a:extLst>
          </p:cNvPr>
          <p:cNvPicPr>
            <a:picLocks noChangeAspect="1"/>
          </p:cNvPicPr>
          <p:nvPr/>
        </p:nvPicPr>
        <p:blipFill>
          <a:blip r:embed="rId4"/>
          <a:stretch>
            <a:fillRect/>
          </a:stretch>
        </p:blipFill>
        <p:spPr>
          <a:xfrm>
            <a:off x="439537" y="745639"/>
            <a:ext cx="5266690" cy="6000750"/>
          </a:xfrm>
          <a:prstGeom prst="rect">
            <a:avLst/>
          </a:prstGeom>
        </p:spPr>
      </p:pic>
      <p:sp>
        <p:nvSpPr>
          <p:cNvPr id="4" name="文本框 3">
            <a:extLst>
              <a:ext uri="{FF2B5EF4-FFF2-40B4-BE49-F238E27FC236}">
                <a16:creationId xmlns:a16="http://schemas.microsoft.com/office/drawing/2014/main" id="{A99BB3D6-BBF4-2BE0-8E07-66D74205DBE8}"/>
              </a:ext>
            </a:extLst>
          </p:cNvPr>
          <p:cNvSpPr txBox="1"/>
          <p:nvPr/>
        </p:nvSpPr>
        <p:spPr>
          <a:xfrm>
            <a:off x="6587411" y="2677885"/>
            <a:ext cx="4198776" cy="2031325"/>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改变分档之后的时序图中可以明显的观察到</a:t>
            </a:r>
            <a:r>
              <a:rPr lang="en-US" altLang="zh-CN" dirty="0"/>
              <a:t>PAC</a:t>
            </a:r>
            <a:r>
              <a:rPr lang="zh-CN" altLang="en-US" dirty="0"/>
              <a:t>与</a:t>
            </a:r>
            <a:r>
              <a:rPr lang="en-US" altLang="zh-CN" dirty="0"/>
              <a:t>count1(128-800)</a:t>
            </a:r>
            <a:r>
              <a:rPr lang="zh-CN" altLang="en-US" dirty="0"/>
              <a:t>，</a:t>
            </a:r>
            <a:r>
              <a:rPr lang="en-US" altLang="zh-CN" dirty="0"/>
              <a:t>count2(800-1800)</a:t>
            </a:r>
            <a:r>
              <a:rPr lang="zh-CN" altLang="en-US" dirty="0"/>
              <a:t>，</a:t>
            </a:r>
            <a:r>
              <a:rPr lang="en-US" altLang="zh-CN" dirty="0"/>
              <a:t>count3(1800-3900)</a:t>
            </a:r>
            <a:r>
              <a:rPr lang="zh-CN" altLang="en-US" dirty="0"/>
              <a:t>之间具有较强的关联性。而大粒径矾花</a:t>
            </a:r>
            <a:r>
              <a:rPr lang="en-US" altLang="zh-CN" dirty="0"/>
              <a:t>count4(3900-8600)</a:t>
            </a:r>
            <a:r>
              <a:rPr lang="zh-CN" altLang="en-US" dirty="0"/>
              <a:t>与超大粒径矾花</a:t>
            </a:r>
            <a:r>
              <a:rPr lang="en-US" altLang="zh-CN" dirty="0"/>
              <a:t>(8600-65535)</a:t>
            </a:r>
            <a:r>
              <a:rPr lang="zh-CN" altLang="en-US" dirty="0"/>
              <a:t>与投药量之间的关联性较弱。</a:t>
            </a:r>
          </a:p>
        </p:txBody>
      </p:sp>
    </p:spTree>
    <p:extLst>
      <p:ext uri="{BB962C8B-B14F-4D97-AF65-F5344CB8AC3E}">
        <p14:creationId xmlns:p14="http://schemas.microsoft.com/office/powerpoint/2010/main" val="53349831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71B2-00B1-F638-36D1-40C336C03C03}"/>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B1AFBA3B-103A-1C42-0E6E-2E72ACFC5F7B}"/>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C0634D08-CE45-A009-6DF6-62288861B5D9}"/>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28</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A2DEFC01-B557-36A5-FB21-A0FA9D2621A8}"/>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6DB25A7-7647-86F0-5499-6CB8C9ED3EE3}"/>
              </a:ext>
            </a:extLst>
          </p:cNvPr>
          <p:cNvSpPr txBox="1"/>
          <p:nvPr/>
        </p:nvSpPr>
        <p:spPr>
          <a:xfrm>
            <a:off x="2946918" y="4887180"/>
            <a:ext cx="1371599" cy="382555"/>
          </a:xfrm>
          <a:prstGeom prst="rect">
            <a:avLst/>
          </a:prstGeom>
          <a:noFill/>
        </p:spPr>
        <p:txBody>
          <a:bodyPr wrap="square" rtlCol="0">
            <a:spAutoFit/>
          </a:bodyPr>
          <a:lstStyle/>
          <a:p>
            <a:r>
              <a:rPr lang="zh-CN" altLang="en-US" dirty="0"/>
              <a:t>核心列映射</a:t>
            </a:r>
          </a:p>
        </p:txBody>
      </p:sp>
      <p:pic>
        <p:nvPicPr>
          <p:cNvPr id="5" name="图片 4" descr="列映射">
            <a:extLst>
              <a:ext uri="{FF2B5EF4-FFF2-40B4-BE49-F238E27FC236}">
                <a16:creationId xmlns:a16="http://schemas.microsoft.com/office/drawing/2014/main" id="{8FD6BD82-C11F-35EE-3D4D-D8CB5C019EDD}"/>
              </a:ext>
            </a:extLst>
          </p:cNvPr>
          <p:cNvPicPr>
            <a:picLocks noChangeAspect="1"/>
          </p:cNvPicPr>
          <p:nvPr/>
        </p:nvPicPr>
        <p:blipFill>
          <a:blip r:embed="rId4"/>
          <a:stretch>
            <a:fillRect/>
          </a:stretch>
        </p:blipFill>
        <p:spPr>
          <a:xfrm>
            <a:off x="670261" y="2056627"/>
            <a:ext cx="5271770" cy="2459990"/>
          </a:xfrm>
          <a:prstGeom prst="rect">
            <a:avLst/>
          </a:prstGeom>
        </p:spPr>
      </p:pic>
      <p:sp>
        <p:nvSpPr>
          <p:cNvPr id="6" name="文本框 5">
            <a:extLst>
              <a:ext uri="{FF2B5EF4-FFF2-40B4-BE49-F238E27FC236}">
                <a16:creationId xmlns:a16="http://schemas.microsoft.com/office/drawing/2014/main" id="{BFD8B7EF-6F77-A118-98BA-FE6F356ED3DD}"/>
              </a:ext>
            </a:extLst>
          </p:cNvPr>
          <p:cNvSpPr txBox="1"/>
          <p:nvPr/>
        </p:nvSpPr>
        <p:spPr>
          <a:xfrm>
            <a:off x="670261" y="1168278"/>
            <a:ext cx="3556507"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机器学习算法选取实验数据基础：</a:t>
            </a:r>
          </a:p>
        </p:txBody>
      </p:sp>
      <p:pic>
        <p:nvPicPr>
          <p:cNvPr id="7" name="图片 6" descr="异常值裁剪">
            <a:extLst>
              <a:ext uri="{FF2B5EF4-FFF2-40B4-BE49-F238E27FC236}">
                <a16:creationId xmlns:a16="http://schemas.microsoft.com/office/drawing/2014/main" id="{902162AE-092E-8C30-277E-186FC19FB5D2}"/>
              </a:ext>
            </a:extLst>
          </p:cNvPr>
          <p:cNvPicPr>
            <a:picLocks noChangeAspect="1"/>
          </p:cNvPicPr>
          <p:nvPr/>
        </p:nvPicPr>
        <p:blipFill>
          <a:blip r:embed="rId5"/>
          <a:stretch>
            <a:fillRect/>
          </a:stretch>
        </p:blipFill>
        <p:spPr>
          <a:xfrm>
            <a:off x="6594365" y="2056627"/>
            <a:ext cx="5268595" cy="1106170"/>
          </a:xfrm>
          <a:prstGeom prst="rect">
            <a:avLst/>
          </a:prstGeom>
        </p:spPr>
      </p:pic>
      <p:sp>
        <p:nvSpPr>
          <p:cNvPr id="8" name="文本框 7">
            <a:extLst>
              <a:ext uri="{FF2B5EF4-FFF2-40B4-BE49-F238E27FC236}">
                <a16:creationId xmlns:a16="http://schemas.microsoft.com/office/drawing/2014/main" id="{78624BFA-734F-055D-6DD4-4448EF42A04C}"/>
              </a:ext>
            </a:extLst>
          </p:cNvPr>
          <p:cNvSpPr txBox="1"/>
          <p:nvPr/>
        </p:nvSpPr>
        <p:spPr>
          <a:xfrm>
            <a:off x="8682463" y="4900403"/>
            <a:ext cx="1335467" cy="369332"/>
          </a:xfrm>
          <a:prstGeom prst="rect">
            <a:avLst/>
          </a:prstGeom>
          <a:noFill/>
        </p:spPr>
        <p:txBody>
          <a:bodyPr wrap="square" rtlCol="0">
            <a:spAutoFit/>
          </a:bodyPr>
          <a:lstStyle/>
          <a:p>
            <a:r>
              <a:rPr lang="zh-CN" altLang="en-US" dirty="0"/>
              <a:t>异常值裁剪</a:t>
            </a:r>
          </a:p>
        </p:txBody>
      </p:sp>
      <p:sp>
        <p:nvSpPr>
          <p:cNvPr id="9" name="文本框 8">
            <a:extLst>
              <a:ext uri="{FF2B5EF4-FFF2-40B4-BE49-F238E27FC236}">
                <a16:creationId xmlns:a16="http://schemas.microsoft.com/office/drawing/2014/main" id="{26DB780D-0E5B-98D5-7344-97A436432F97}"/>
              </a:ext>
            </a:extLst>
          </p:cNvPr>
          <p:cNvSpPr txBox="1"/>
          <p:nvPr/>
        </p:nvSpPr>
        <p:spPr>
          <a:xfrm>
            <a:off x="1414855" y="5429480"/>
            <a:ext cx="9841311" cy="923330"/>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通过</a:t>
            </a:r>
            <a:r>
              <a:rPr lang="en-US" altLang="zh-CN" dirty="0" err="1"/>
              <a:t>auto_map_columns</a:t>
            </a:r>
            <a:r>
              <a:rPr lang="zh-CN" altLang="en-US" dirty="0"/>
              <a:t>函数完成核心列匹配，实现对数据集的精准读取。</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通过</a:t>
            </a:r>
            <a:r>
              <a:rPr lang="en-US" altLang="zh-CN" dirty="0"/>
              <a:t>_</a:t>
            </a:r>
            <a:r>
              <a:rPr lang="en-US" altLang="zh-CN" dirty="0" err="1"/>
              <a:t>winsorize_train_xy</a:t>
            </a:r>
            <a:r>
              <a:rPr lang="zh-CN" altLang="zh-CN" dirty="0"/>
              <a:t>函数</a:t>
            </a:r>
            <a:r>
              <a:rPr lang="zh-CN" altLang="en-US" dirty="0"/>
              <a:t>对原水浊度、进水流量等特征进行</a:t>
            </a:r>
            <a:r>
              <a:rPr lang="en-US" altLang="zh-CN" dirty="0"/>
              <a:t>0.005-0.995</a:t>
            </a:r>
            <a:r>
              <a:rPr lang="zh-CN" altLang="en-US" dirty="0"/>
              <a:t>分位的异常值裁剪。</a:t>
            </a:r>
          </a:p>
        </p:txBody>
      </p:sp>
    </p:spTree>
    <p:extLst>
      <p:ext uri="{BB962C8B-B14F-4D97-AF65-F5344CB8AC3E}">
        <p14:creationId xmlns:p14="http://schemas.microsoft.com/office/powerpoint/2010/main" val="332495793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AF2BE-3E5F-05BC-9957-14AAD6BEAFCB}"/>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8BD1336B-0F21-AC51-9BB1-1588A2E26F12}"/>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7E772EF3-CCE3-E91F-7C46-54C106B27FE1}"/>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29</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D8B9DEB2-9450-DBA6-DDF4-D1C367810E08}"/>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6D37C5D4-3A71-0E37-453C-4A070CFBCA05}"/>
              </a:ext>
            </a:extLst>
          </p:cNvPr>
          <p:cNvSpPr txBox="1"/>
          <p:nvPr/>
        </p:nvSpPr>
        <p:spPr>
          <a:xfrm>
            <a:off x="2255372" y="4029754"/>
            <a:ext cx="1904410" cy="369332"/>
          </a:xfrm>
          <a:prstGeom prst="rect">
            <a:avLst/>
          </a:prstGeom>
          <a:noFill/>
        </p:spPr>
        <p:txBody>
          <a:bodyPr wrap="square" rtlCol="0">
            <a:spAutoFit/>
          </a:bodyPr>
          <a:lstStyle/>
          <a:p>
            <a:r>
              <a:rPr lang="zh-CN" altLang="en-US" dirty="0"/>
              <a:t>交互与变换特征</a:t>
            </a:r>
          </a:p>
        </p:txBody>
      </p:sp>
      <p:sp>
        <p:nvSpPr>
          <p:cNvPr id="6" name="文本框 5">
            <a:extLst>
              <a:ext uri="{FF2B5EF4-FFF2-40B4-BE49-F238E27FC236}">
                <a16:creationId xmlns:a16="http://schemas.microsoft.com/office/drawing/2014/main" id="{D6DA7C4F-481A-DA0A-04B7-BF812EE37BD3}"/>
              </a:ext>
            </a:extLst>
          </p:cNvPr>
          <p:cNvSpPr txBox="1"/>
          <p:nvPr/>
        </p:nvSpPr>
        <p:spPr>
          <a:xfrm>
            <a:off x="670261" y="1168278"/>
            <a:ext cx="3556507"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机器学习算法选取实验数据基础：</a:t>
            </a:r>
          </a:p>
        </p:txBody>
      </p:sp>
      <p:pic>
        <p:nvPicPr>
          <p:cNvPr id="3" name="图片 2" descr="交互与变换特征">
            <a:extLst>
              <a:ext uri="{FF2B5EF4-FFF2-40B4-BE49-F238E27FC236}">
                <a16:creationId xmlns:a16="http://schemas.microsoft.com/office/drawing/2014/main" id="{5E74A17B-2389-6C36-DD4B-62ED362AFBC0}"/>
              </a:ext>
            </a:extLst>
          </p:cNvPr>
          <p:cNvPicPr>
            <a:picLocks noChangeAspect="1"/>
          </p:cNvPicPr>
          <p:nvPr/>
        </p:nvPicPr>
        <p:blipFill>
          <a:blip r:embed="rId4"/>
          <a:stretch>
            <a:fillRect/>
          </a:stretch>
        </p:blipFill>
        <p:spPr>
          <a:xfrm>
            <a:off x="825500" y="1866847"/>
            <a:ext cx="5270500" cy="1938020"/>
          </a:xfrm>
          <a:prstGeom prst="rect">
            <a:avLst/>
          </a:prstGeom>
        </p:spPr>
      </p:pic>
      <p:sp>
        <p:nvSpPr>
          <p:cNvPr id="4" name="文本框 3">
            <a:extLst>
              <a:ext uri="{FF2B5EF4-FFF2-40B4-BE49-F238E27FC236}">
                <a16:creationId xmlns:a16="http://schemas.microsoft.com/office/drawing/2014/main" id="{03908FA3-C69A-9635-B9FE-608CEC8798D0}"/>
              </a:ext>
            </a:extLst>
          </p:cNvPr>
          <p:cNvSpPr txBox="1"/>
          <p:nvPr/>
        </p:nvSpPr>
        <p:spPr>
          <a:xfrm>
            <a:off x="1418253" y="4688101"/>
            <a:ext cx="9218645" cy="1477328"/>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数据集按</a:t>
            </a:r>
            <a:r>
              <a:rPr lang="en-US" altLang="zh-CN" dirty="0"/>
              <a:t> 8:2 </a:t>
            </a:r>
            <a:r>
              <a:rPr lang="zh-CN" altLang="zh-CN" dirty="0"/>
              <a:t>比例随机划分训练集与测试集，训练集用于模型训练与五级校准参数拟合，测试集用于客观评估模型泛化能力。</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输入特征包含原水浊度、水温、</a:t>
            </a:r>
            <a:r>
              <a:rPr lang="en-US" altLang="zh-CN" dirty="0"/>
              <a:t>pH </a:t>
            </a:r>
            <a:r>
              <a:rPr lang="zh-CN" altLang="zh-CN" dirty="0"/>
              <a:t>值等基础特征，及代码</a:t>
            </a:r>
            <a:r>
              <a:rPr lang="en-US" altLang="zh-CN" dirty="0"/>
              <a:t>_</a:t>
            </a:r>
            <a:r>
              <a:rPr lang="en-US" altLang="zh-CN" dirty="0" err="1"/>
              <a:t>augment_forward_features</a:t>
            </a:r>
            <a:r>
              <a:rPr lang="zh-CN" altLang="zh-CN" dirty="0"/>
              <a:t>函数生成的</a:t>
            </a:r>
            <a:r>
              <a:rPr lang="en-US" altLang="zh-CN" dirty="0"/>
              <a:t> 11 </a:t>
            </a:r>
            <a:r>
              <a:rPr lang="zh-CN" altLang="zh-CN" dirty="0"/>
              <a:t>类交互与变换特征（如</a:t>
            </a:r>
            <a:r>
              <a:rPr lang="en-US" altLang="zh-CN" dirty="0" err="1"/>
              <a:t>pac_x_raw_turbidity</a:t>
            </a:r>
            <a:r>
              <a:rPr lang="zh-CN" altLang="zh-CN" dirty="0"/>
              <a:t>、</a:t>
            </a:r>
            <a:r>
              <a:rPr lang="en-US" altLang="zh-CN" dirty="0" err="1"/>
              <a:t>log_raw_</a:t>
            </a:r>
            <a:r>
              <a:rPr lang="en-US" altLang="zh-CN" dirty="0" err="1">
                <a:highlight>
                  <a:srgbClr val="FFFF00"/>
                </a:highlight>
              </a:rPr>
              <a:t>turbidity</a:t>
            </a:r>
            <a:r>
              <a:rPr lang="zh-CN" altLang="zh-CN" dirty="0">
                <a:highlight>
                  <a:srgbClr val="FFFF00"/>
                </a:highlight>
              </a:rPr>
              <a:t>等）</a:t>
            </a:r>
            <a:endParaRPr lang="zh-CN" altLang="en-US" dirty="0">
              <a:highlight>
                <a:srgbClr val="FFFF00"/>
              </a:highlight>
            </a:endParaRPr>
          </a:p>
        </p:txBody>
      </p:sp>
    </p:spTree>
    <p:extLst>
      <p:ext uri="{BB962C8B-B14F-4D97-AF65-F5344CB8AC3E}">
        <p14:creationId xmlns:p14="http://schemas.microsoft.com/office/powerpoint/2010/main" val="1137373295"/>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668D7-F489-82C3-D2BC-A9F981B4B39F}"/>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74686C35-13A8-18B5-8E3D-A595E792B602}"/>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026E7E93-C846-A953-78E6-84872920FA3A}"/>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4B502013-08FD-694A-E64A-0B6AECDEA93C}"/>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E3E2ACE-CEF1-79CB-C768-F80A8F8E4B55}"/>
              </a:ext>
            </a:extLst>
          </p:cNvPr>
          <p:cNvSpPr txBox="1"/>
          <p:nvPr/>
        </p:nvSpPr>
        <p:spPr>
          <a:xfrm>
            <a:off x="670261" y="1168278"/>
            <a:ext cx="3556507"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机器学习算法选取测评指标体系：</a:t>
            </a:r>
          </a:p>
        </p:txBody>
      </p:sp>
      <p:sp>
        <p:nvSpPr>
          <p:cNvPr id="4" name="文本框 3">
            <a:extLst>
              <a:ext uri="{FF2B5EF4-FFF2-40B4-BE49-F238E27FC236}">
                <a16:creationId xmlns:a16="http://schemas.microsoft.com/office/drawing/2014/main" id="{E7A75540-B419-F2AF-2B47-AC42A9AD0E1D}"/>
              </a:ext>
            </a:extLst>
          </p:cNvPr>
          <p:cNvSpPr txBox="1"/>
          <p:nvPr/>
        </p:nvSpPr>
        <p:spPr>
          <a:xfrm>
            <a:off x="1352939" y="1994873"/>
            <a:ext cx="9218645" cy="3139321"/>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决定系数（</a:t>
            </a:r>
            <a:r>
              <a:rPr lang="en-US" altLang="zh-CN" dirty="0"/>
              <a:t>R²</a:t>
            </a:r>
            <a:r>
              <a:rPr lang="zh-CN" altLang="zh-CN" dirty="0"/>
              <a:t>）：衡量模型对数据规律的拟合程度，取值范围为</a:t>
            </a:r>
            <a:r>
              <a:rPr lang="en-US" altLang="zh-CN" dirty="0"/>
              <a:t> (-∞,1]</a:t>
            </a:r>
            <a:r>
              <a:rPr lang="zh-CN" altLang="zh-CN" dirty="0"/>
              <a:t>，越接近</a:t>
            </a:r>
            <a:r>
              <a:rPr lang="en-US" altLang="zh-CN" dirty="0"/>
              <a:t> 1 </a:t>
            </a:r>
            <a:r>
              <a:rPr lang="zh-CN" altLang="zh-CN" dirty="0"/>
              <a:t>表示拟合效果越好；</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平均绝对误差（</a:t>
            </a:r>
            <a:r>
              <a:rPr lang="en-US" altLang="zh-CN" dirty="0"/>
              <a:t>MAE</a:t>
            </a:r>
            <a:r>
              <a:rPr lang="zh-CN" altLang="zh-CN" dirty="0"/>
              <a:t>）：反映预测值与真实值的平均偏差，数值越小，预测精度越高，其中</a:t>
            </a:r>
            <a:r>
              <a:rPr lang="zh-CN" altLang="en-US" dirty="0"/>
              <a:t>预测出水</a:t>
            </a:r>
            <a:r>
              <a:rPr lang="zh-CN" altLang="zh-CN" dirty="0"/>
              <a:t>浊度单位为</a:t>
            </a:r>
            <a:r>
              <a:rPr lang="en-US" altLang="zh-CN" dirty="0"/>
              <a:t> NTU</a:t>
            </a:r>
            <a:r>
              <a:rPr lang="zh-CN" altLang="zh-CN" dirty="0"/>
              <a:t>，</a:t>
            </a:r>
            <a:r>
              <a:rPr lang="en-US" altLang="zh-CN" dirty="0"/>
              <a:t>PAC </a:t>
            </a:r>
            <a:r>
              <a:rPr lang="zh-CN" altLang="zh-CN" dirty="0"/>
              <a:t>投加量单位为</a:t>
            </a:r>
            <a:r>
              <a:rPr lang="en-US" altLang="zh-CN" dirty="0"/>
              <a:t>dm</a:t>
            </a:r>
            <a:r>
              <a:rPr lang="en-US" altLang="zh-CN" baseline="30000" dirty="0"/>
              <a:t>3</a:t>
            </a:r>
            <a:r>
              <a:rPr lang="en-US" altLang="zh-CN" dirty="0"/>
              <a:t>/min</a:t>
            </a:r>
            <a:r>
              <a:rPr lang="zh-CN" altLang="zh-CN" dirty="0"/>
              <a:t>；</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en-US" altLang="zh-CN" dirty="0"/>
              <a:t>±10% </a:t>
            </a:r>
            <a:r>
              <a:rPr lang="zh-CN" altLang="zh-CN" dirty="0"/>
              <a:t>相对误差准确率：评估模型在工程场景的实用价值，即预测值与真实值的相对误差处于</a:t>
            </a:r>
            <a:r>
              <a:rPr lang="en-US" altLang="zh-CN" dirty="0"/>
              <a:t> ±10% </a:t>
            </a:r>
            <a:r>
              <a:rPr lang="zh-CN" altLang="zh-CN" dirty="0"/>
              <a:t>范围内的样本占比，占比越高实用性越强；</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预测合理性：针对</a:t>
            </a:r>
            <a:r>
              <a:rPr lang="en-US" altLang="zh-CN" dirty="0"/>
              <a:t> PAC </a:t>
            </a:r>
            <a:r>
              <a:rPr lang="zh-CN" altLang="zh-CN" dirty="0"/>
              <a:t>与浊度的负相关物理规律，评估模型是否出现</a:t>
            </a:r>
            <a:r>
              <a:rPr lang="en-US" altLang="zh-CN" dirty="0"/>
              <a:t> “PAC </a:t>
            </a:r>
            <a:r>
              <a:rPr lang="zh-CN" altLang="zh-CN" dirty="0"/>
              <a:t>投加量增加而浊度上升</a:t>
            </a:r>
            <a:r>
              <a:rPr lang="en-US" altLang="zh-CN" dirty="0"/>
              <a:t>” </a:t>
            </a:r>
            <a:r>
              <a:rPr lang="zh-CN" altLang="zh-CN" dirty="0"/>
              <a:t>的</a:t>
            </a:r>
            <a:r>
              <a:rPr lang="zh-CN" altLang="zh-CN" dirty="0">
                <a:highlight>
                  <a:srgbClr val="FFFF00"/>
                </a:highlight>
              </a:rPr>
              <a:t>不合理预测。</a:t>
            </a:r>
            <a:r>
              <a:rPr lang="zh-CN" altLang="en-US" dirty="0">
                <a:highlight>
                  <a:srgbClr val="FFFF00"/>
                </a:highlight>
              </a:rPr>
              <a:t>做成表格？</a:t>
            </a:r>
            <a:endParaRPr lang="zh-CN" altLang="zh-CN" dirty="0">
              <a:highlight>
                <a:srgbClr val="FFFF00"/>
              </a:highlight>
            </a:endParaRPr>
          </a:p>
        </p:txBody>
      </p:sp>
    </p:spTree>
    <p:extLst>
      <p:ext uri="{BB962C8B-B14F-4D97-AF65-F5344CB8AC3E}">
        <p14:creationId xmlns:p14="http://schemas.microsoft.com/office/powerpoint/2010/main" val="311571508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F0C5-B247-0D3F-2451-FD718E58D762}"/>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0C395EBB-D0A1-91FA-FC21-DBEB5DFDFE84}"/>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BE4B3671-3274-19A3-45E2-BE1AB7DDDC89}"/>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31</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A335E6FA-FF74-294B-294C-7276988A1BE5}"/>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50FF8B4-C334-0065-6F99-8CB1E8D8CC5E}"/>
              </a:ext>
            </a:extLst>
          </p:cNvPr>
          <p:cNvSpPr txBox="1"/>
          <p:nvPr/>
        </p:nvSpPr>
        <p:spPr>
          <a:xfrm>
            <a:off x="670261" y="1168278"/>
            <a:ext cx="3556507"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机器学习算法选取参数配置：</a:t>
            </a:r>
          </a:p>
        </p:txBody>
      </p:sp>
      <p:sp>
        <p:nvSpPr>
          <p:cNvPr id="4" name="文本框 3">
            <a:extLst>
              <a:ext uri="{FF2B5EF4-FFF2-40B4-BE49-F238E27FC236}">
                <a16:creationId xmlns:a16="http://schemas.microsoft.com/office/drawing/2014/main" id="{9A211381-B3D0-C767-4A60-F47827C0E163}"/>
              </a:ext>
            </a:extLst>
          </p:cNvPr>
          <p:cNvSpPr txBox="1"/>
          <p:nvPr/>
        </p:nvSpPr>
        <p:spPr>
          <a:xfrm>
            <a:off x="1352939" y="1994873"/>
            <a:ext cx="9218645" cy="3416320"/>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a:t>5 </a:t>
            </a:r>
            <a:r>
              <a:rPr lang="zh-CN" altLang="zh-CN" dirty="0"/>
              <a:t>基</a:t>
            </a:r>
            <a:r>
              <a:rPr lang="en-US" altLang="zh-CN" dirty="0"/>
              <a:t> HGBR</a:t>
            </a:r>
            <a:r>
              <a:rPr lang="zh-CN" altLang="zh-CN" dirty="0"/>
              <a:t>（采用的核心算法） 中位数集成：保持</a:t>
            </a:r>
            <a:r>
              <a:rPr lang="en-US" altLang="zh-CN" dirty="0"/>
              <a:t>ENSEMBLE_SIZE=5</a:t>
            </a:r>
            <a:r>
              <a:rPr lang="zh-CN" altLang="zh-CN" dirty="0"/>
              <a:t>（训练五个基础模型做中位数集成）的设计，通过中位数聚合降低预测波动，基模型随机种子依次递增；</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带单调约束的</a:t>
            </a:r>
            <a:r>
              <a:rPr lang="en-US" altLang="zh-CN" dirty="0"/>
              <a:t> HGBR</a:t>
            </a:r>
            <a:r>
              <a:rPr lang="zh-CN" altLang="zh-CN" dirty="0"/>
              <a:t>：代码核心基模型，通过</a:t>
            </a:r>
            <a:r>
              <a:rPr lang="en-US" altLang="zh-CN" dirty="0" err="1"/>
              <a:t>monotonic_cst</a:t>
            </a:r>
            <a:r>
              <a:rPr lang="zh-CN" altLang="zh-CN" dirty="0"/>
              <a:t>（单调约束）参数设定</a:t>
            </a:r>
            <a:r>
              <a:rPr lang="en-US" altLang="zh-CN" dirty="0"/>
              <a:t> PAC </a:t>
            </a:r>
            <a:r>
              <a:rPr lang="zh-CN" altLang="zh-CN" dirty="0"/>
              <a:t>相关特征为</a:t>
            </a:r>
            <a:r>
              <a:rPr lang="en-US" altLang="zh-CN" dirty="0"/>
              <a:t> - 1</a:t>
            </a:r>
            <a:r>
              <a:rPr lang="zh-CN" altLang="zh-CN" dirty="0"/>
              <a:t>、原水浊度相关特征为</a:t>
            </a:r>
            <a:r>
              <a:rPr lang="en-US" altLang="zh-CN" dirty="0"/>
              <a:t> + 1</a:t>
            </a:r>
            <a:r>
              <a:rPr lang="zh-CN" altLang="zh-CN" dirty="0"/>
              <a:t>，契合物理规律；</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随机森林：设置</a:t>
            </a:r>
            <a:r>
              <a:rPr lang="en-US" altLang="zh-CN" dirty="0"/>
              <a:t> 100 </a:t>
            </a:r>
            <a:r>
              <a:rPr lang="zh-CN" altLang="zh-CN" dirty="0"/>
              <a:t>棵决策树，最小叶节点样本数</a:t>
            </a:r>
            <a:r>
              <a:rPr lang="en-US" altLang="zh-CN" dirty="0"/>
              <a:t> 20</a:t>
            </a:r>
            <a:r>
              <a:rPr lang="zh-CN" altLang="zh-CN" dirty="0"/>
              <a:t>，适配抗异常值需求；</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梯度提升树：学习率</a:t>
            </a:r>
            <a:r>
              <a:rPr lang="en-US" altLang="zh-CN" dirty="0"/>
              <a:t> 0.05</a:t>
            </a:r>
            <a:r>
              <a:rPr lang="zh-CN" altLang="zh-CN" dirty="0"/>
              <a:t>，迭代</a:t>
            </a:r>
            <a:r>
              <a:rPr lang="en-US" altLang="zh-CN" dirty="0"/>
              <a:t> 1200 </a:t>
            </a:r>
            <a:r>
              <a:rPr lang="zh-CN" altLang="zh-CN" dirty="0"/>
              <a:t>次，最小叶节点样本数</a:t>
            </a:r>
            <a:r>
              <a:rPr lang="en-US" altLang="zh-CN" dirty="0"/>
              <a:t> 20</a:t>
            </a:r>
            <a:r>
              <a:rPr lang="zh-CN" altLang="zh-CN" dirty="0"/>
              <a:t>，用于验证无单调约束下的拟合能力；</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决策树：最大深度</a:t>
            </a:r>
            <a:r>
              <a:rPr lang="en-US" altLang="zh-CN" dirty="0"/>
              <a:t> 8</a:t>
            </a:r>
            <a:r>
              <a:rPr lang="zh-CN" altLang="zh-CN" dirty="0"/>
              <a:t>，最小叶节点样本数</a:t>
            </a:r>
            <a:r>
              <a:rPr lang="en-US" altLang="zh-CN" dirty="0"/>
              <a:t> 20</a:t>
            </a:r>
            <a:r>
              <a:rPr lang="zh-CN" altLang="zh-CN" dirty="0"/>
              <a:t>，作为基础基准算法。</a:t>
            </a:r>
          </a:p>
        </p:txBody>
      </p:sp>
    </p:spTree>
    <p:extLst>
      <p:ext uri="{BB962C8B-B14F-4D97-AF65-F5344CB8AC3E}">
        <p14:creationId xmlns:p14="http://schemas.microsoft.com/office/powerpoint/2010/main" val="3590883058"/>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DAF7-7D3E-ADD4-A7FA-8571A97FE517}"/>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6056F3BF-FD4A-D3A0-4232-52DD93A4950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C3F8EEE7-0C78-2613-3B6A-E6E640CC4B3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2AE2AD48-FEE9-3E3D-383E-0F6C9CED3AD4}"/>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CACE947-D795-51A6-4042-DB1F81EFCB4A}"/>
              </a:ext>
            </a:extLst>
          </p:cNvPr>
          <p:cNvSpPr txBox="1"/>
          <p:nvPr/>
        </p:nvSpPr>
        <p:spPr>
          <a:xfrm>
            <a:off x="670261" y="1168279"/>
            <a:ext cx="4984090"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机器学习算法选取测试结果（前向任务）：</a:t>
            </a:r>
          </a:p>
        </p:txBody>
      </p:sp>
      <p:graphicFrame>
        <p:nvGraphicFramePr>
          <p:cNvPr id="2" name="表格 1">
            <a:extLst>
              <a:ext uri="{FF2B5EF4-FFF2-40B4-BE49-F238E27FC236}">
                <a16:creationId xmlns:a16="http://schemas.microsoft.com/office/drawing/2014/main" id="{7866C9DF-08FE-A3A5-0041-88F99633D3B8}"/>
              </a:ext>
            </a:extLst>
          </p:cNvPr>
          <p:cNvGraphicFramePr>
            <a:graphicFrameLocks noGrp="1"/>
          </p:cNvGraphicFramePr>
          <p:nvPr>
            <p:extLst>
              <p:ext uri="{D42A27DB-BD31-4B8C-83A1-F6EECF244321}">
                <p14:modId xmlns:p14="http://schemas.microsoft.com/office/powerpoint/2010/main" val="2072004406"/>
              </p:ext>
            </p:extLst>
          </p:nvPr>
        </p:nvGraphicFramePr>
        <p:xfrm>
          <a:off x="670261" y="1800807"/>
          <a:ext cx="6990171" cy="4393903"/>
        </p:xfrm>
        <a:graphic>
          <a:graphicData uri="http://schemas.openxmlformats.org/drawingml/2006/table">
            <a:tbl>
              <a:tblPr firstRow="1" firstCol="1" bandRow="1">
                <a:tableStyleId>{5C22544A-7EE6-4342-B048-85BDC9FD1C3A}</a:tableStyleId>
              </a:tblPr>
              <a:tblGrid>
                <a:gridCol w="1503772">
                  <a:extLst>
                    <a:ext uri="{9D8B030D-6E8A-4147-A177-3AD203B41FA5}">
                      <a16:colId xmlns:a16="http://schemas.microsoft.com/office/drawing/2014/main" val="61536934"/>
                    </a:ext>
                  </a:extLst>
                </a:gridCol>
                <a:gridCol w="1478976">
                  <a:extLst>
                    <a:ext uri="{9D8B030D-6E8A-4147-A177-3AD203B41FA5}">
                      <a16:colId xmlns:a16="http://schemas.microsoft.com/office/drawing/2014/main" val="4067530699"/>
                    </a:ext>
                  </a:extLst>
                </a:gridCol>
                <a:gridCol w="1710485">
                  <a:extLst>
                    <a:ext uri="{9D8B030D-6E8A-4147-A177-3AD203B41FA5}">
                      <a16:colId xmlns:a16="http://schemas.microsoft.com/office/drawing/2014/main" val="1436490157"/>
                    </a:ext>
                  </a:extLst>
                </a:gridCol>
                <a:gridCol w="2296938">
                  <a:extLst>
                    <a:ext uri="{9D8B030D-6E8A-4147-A177-3AD203B41FA5}">
                      <a16:colId xmlns:a16="http://schemas.microsoft.com/office/drawing/2014/main" val="1256634276"/>
                    </a:ext>
                  </a:extLst>
                </a:gridCol>
              </a:tblGrid>
              <a:tr h="777682">
                <a:tc>
                  <a:txBody>
                    <a:bodyPr/>
                    <a:lstStyle/>
                    <a:p>
                      <a:pPr algn="ctr">
                        <a:lnSpc>
                          <a:spcPts val="2100"/>
                        </a:lnSpc>
                        <a:buNone/>
                      </a:pPr>
                      <a:r>
                        <a:rPr lang="zh-CN" sz="1800" kern="0" dirty="0">
                          <a:effectLst/>
                        </a:rPr>
                        <a:t>算法</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前向</a:t>
                      </a:r>
                      <a:r>
                        <a:rPr lang="en-US" sz="1800" kern="0" dirty="0">
                          <a:effectLst/>
                        </a:rPr>
                        <a:t>_</a:t>
                      </a:r>
                      <a:r>
                        <a:rPr lang="zh-CN" sz="1800" kern="0" dirty="0">
                          <a:effectLst/>
                        </a:rPr>
                        <a:t>校准后</a:t>
                      </a:r>
                      <a:r>
                        <a:rPr lang="en-US" sz="1800" kern="0" dirty="0">
                          <a:effectLst/>
                        </a:rPr>
                        <a:t> R²</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a:effectLst/>
                        </a:rPr>
                        <a:t>前向</a:t>
                      </a:r>
                      <a:r>
                        <a:rPr lang="en-US" sz="1800" kern="0">
                          <a:effectLst/>
                        </a:rPr>
                        <a:t>_</a:t>
                      </a:r>
                      <a:r>
                        <a:rPr lang="zh-CN" sz="1800" kern="0">
                          <a:effectLst/>
                        </a:rPr>
                        <a:t>校准后</a:t>
                      </a:r>
                      <a:r>
                        <a:rPr lang="en-US" sz="1800" kern="0">
                          <a:effectLst/>
                        </a:rPr>
                        <a:t> MAE</a:t>
                      </a:r>
                      <a:r>
                        <a:rPr lang="zh-CN" sz="1800" kern="0">
                          <a:effectLst/>
                        </a:rPr>
                        <a:t>（</a:t>
                      </a:r>
                      <a:r>
                        <a:rPr lang="en-US" sz="1800" kern="0">
                          <a:effectLst/>
                        </a:rPr>
                        <a:t>NTU</a:t>
                      </a:r>
                      <a:r>
                        <a:rPr lang="zh-CN" sz="1800" kern="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前向</a:t>
                      </a:r>
                      <a:r>
                        <a:rPr lang="en-US" sz="1800" kern="0" dirty="0">
                          <a:effectLst/>
                        </a:rPr>
                        <a:t>_</a:t>
                      </a:r>
                      <a:r>
                        <a:rPr lang="zh-CN" sz="1800" kern="0" dirty="0">
                          <a:effectLst/>
                        </a:rPr>
                        <a:t>校准后</a:t>
                      </a:r>
                      <a:r>
                        <a:rPr lang="en-US" sz="1800" kern="0" dirty="0">
                          <a:effectLst/>
                        </a:rPr>
                        <a:t> ±10% </a:t>
                      </a:r>
                      <a:r>
                        <a:rPr lang="zh-CN" sz="1800" kern="0" dirty="0">
                          <a:effectLst/>
                        </a:rPr>
                        <a:t>准确率（</a:t>
                      </a:r>
                      <a:r>
                        <a:rPr lang="en-US" sz="1800" kern="0" dirty="0">
                          <a:effectLst/>
                        </a:rPr>
                        <a:t>%</a:t>
                      </a:r>
                      <a:r>
                        <a:rPr lang="zh-CN" sz="1800" kern="0" dirty="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231883060"/>
                  </a:ext>
                </a:extLst>
              </a:tr>
              <a:tr h="1049871">
                <a:tc>
                  <a:txBody>
                    <a:bodyPr/>
                    <a:lstStyle/>
                    <a:p>
                      <a:pPr algn="ctr">
                        <a:lnSpc>
                          <a:spcPts val="2100"/>
                        </a:lnSpc>
                        <a:buNone/>
                      </a:pPr>
                      <a:r>
                        <a:rPr lang="en-US" sz="1800" kern="0" dirty="0">
                          <a:effectLst/>
                        </a:rPr>
                        <a:t>5 </a:t>
                      </a:r>
                      <a:r>
                        <a:rPr lang="zh-CN" sz="1800" kern="0" dirty="0">
                          <a:effectLst/>
                        </a:rPr>
                        <a:t>基</a:t>
                      </a:r>
                      <a:r>
                        <a:rPr lang="en-US" sz="1800" kern="0" dirty="0">
                          <a:effectLst/>
                        </a:rPr>
                        <a:t> HGBR </a:t>
                      </a:r>
                      <a:r>
                        <a:rPr lang="zh-CN" sz="1800" kern="0" dirty="0">
                          <a:effectLst/>
                        </a:rPr>
                        <a:t>中位数集成</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0.8024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0.0111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89.39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554335561"/>
                  </a:ext>
                </a:extLst>
              </a:tr>
              <a:tr h="777682">
                <a:tc>
                  <a:txBody>
                    <a:bodyPr/>
                    <a:lstStyle/>
                    <a:p>
                      <a:pPr algn="ctr">
                        <a:lnSpc>
                          <a:spcPts val="2100"/>
                        </a:lnSpc>
                        <a:buNone/>
                      </a:pPr>
                      <a:r>
                        <a:rPr lang="zh-CN" sz="1800" kern="0">
                          <a:effectLst/>
                        </a:rPr>
                        <a:t>带单调约束</a:t>
                      </a:r>
                      <a:r>
                        <a:rPr lang="en-US" sz="1800" kern="0">
                          <a:effectLst/>
                        </a:rPr>
                        <a:t> HGBR</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0.7998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0.0114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88.72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492246726"/>
                  </a:ext>
                </a:extLst>
              </a:tr>
              <a:tr h="505493">
                <a:tc>
                  <a:txBody>
                    <a:bodyPr/>
                    <a:lstStyle/>
                    <a:p>
                      <a:pPr algn="ctr">
                        <a:lnSpc>
                          <a:spcPts val="2100"/>
                        </a:lnSpc>
                        <a:buNone/>
                      </a:pPr>
                      <a:r>
                        <a:rPr lang="zh-CN" sz="1800" kern="0">
                          <a:effectLst/>
                        </a:rPr>
                        <a:t>随机森林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0.7197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0.0130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87.26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73966629"/>
                  </a:ext>
                </a:extLst>
              </a:tr>
              <a:tr h="777682">
                <a:tc>
                  <a:txBody>
                    <a:bodyPr/>
                    <a:lstStyle/>
                    <a:p>
                      <a:pPr algn="ctr">
                        <a:lnSpc>
                          <a:spcPts val="2100"/>
                        </a:lnSpc>
                        <a:buNone/>
                      </a:pPr>
                      <a:r>
                        <a:rPr lang="zh-CN" sz="1800" kern="0">
                          <a:effectLst/>
                        </a:rPr>
                        <a:t>梯度提升树</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0.8354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0.0104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89.64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618626728"/>
                  </a:ext>
                </a:extLst>
              </a:tr>
              <a:tr h="505493">
                <a:tc>
                  <a:txBody>
                    <a:bodyPr/>
                    <a:lstStyle/>
                    <a:p>
                      <a:pPr algn="ctr">
                        <a:lnSpc>
                          <a:spcPts val="2100"/>
                        </a:lnSpc>
                        <a:buNone/>
                      </a:pPr>
                      <a:r>
                        <a:rPr lang="zh-CN" sz="1800" kern="0">
                          <a:effectLst/>
                        </a:rPr>
                        <a:t>决策树</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0.6352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0.0156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85.10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303554315"/>
                  </a:ext>
                </a:extLst>
              </a:tr>
            </a:tbl>
          </a:graphicData>
        </a:graphic>
      </p:graphicFrame>
      <p:sp>
        <p:nvSpPr>
          <p:cNvPr id="3" name="文本框 2">
            <a:extLst>
              <a:ext uri="{FF2B5EF4-FFF2-40B4-BE49-F238E27FC236}">
                <a16:creationId xmlns:a16="http://schemas.microsoft.com/office/drawing/2014/main" id="{F49D4F1B-41AC-1151-4B43-F73C9CAA2C61}"/>
              </a:ext>
            </a:extLst>
          </p:cNvPr>
          <p:cNvSpPr txBox="1"/>
          <p:nvPr/>
        </p:nvSpPr>
        <p:spPr>
          <a:xfrm>
            <a:off x="8061651" y="2511041"/>
            <a:ext cx="3209730" cy="3693319"/>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梯度提升树精度最优但存在合理性风险</a:t>
            </a:r>
            <a:r>
              <a:rPr lang="zh-CN" altLang="en-US" dirty="0"/>
              <a:t>；</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en-US" altLang="zh-CN" dirty="0"/>
              <a:t>5 </a:t>
            </a:r>
            <a:r>
              <a:rPr lang="zh-CN" altLang="zh-CN" dirty="0"/>
              <a:t>基</a:t>
            </a:r>
            <a:r>
              <a:rPr lang="en-US" altLang="zh-CN" dirty="0"/>
              <a:t> HGBR </a:t>
            </a:r>
            <a:r>
              <a:rPr lang="zh-CN" altLang="zh-CN" dirty="0"/>
              <a:t>中位数集成兼顾稳定与合理</a:t>
            </a:r>
            <a:r>
              <a:rPr lang="zh-CN" altLang="en-US" dirty="0"/>
              <a:t>；</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带单调约束</a:t>
            </a:r>
            <a:r>
              <a:rPr lang="en-US" altLang="zh-CN" dirty="0"/>
              <a:t> HGBR </a:t>
            </a:r>
            <a:r>
              <a:rPr lang="zh-CN" altLang="zh-CN" dirty="0"/>
              <a:t>表现接近集成模型</a:t>
            </a:r>
            <a:r>
              <a:rPr lang="zh-CN" altLang="en-US" dirty="0"/>
              <a:t>，</a:t>
            </a:r>
            <a:r>
              <a:rPr lang="zh-CN" altLang="zh-CN" dirty="0"/>
              <a:t>但无集成策略导致对水质波动的适应性略弱</a:t>
            </a:r>
            <a:r>
              <a:rPr lang="zh-CN" altLang="en-US" dirty="0"/>
              <a:t>；</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随机森林与决策树表现不佳</a:t>
            </a:r>
            <a:r>
              <a:rPr lang="zh-CN" altLang="en-US" dirty="0"/>
              <a:t>。</a:t>
            </a:r>
          </a:p>
        </p:txBody>
      </p:sp>
    </p:spTree>
    <p:extLst>
      <p:ext uri="{BB962C8B-B14F-4D97-AF65-F5344CB8AC3E}">
        <p14:creationId xmlns:p14="http://schemas.microsoft.com/office/powerpoint/2010/main" val="3786318392"/>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091E-468B-8DCA-E6CD-BEE8643B8F4C}"/>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5B4F407-3D3A-FF13-0560-F9931A34B3BB}"/>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12996792-3646-4BDF-A9FF-97E2975D579D}"/>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33</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8D52FAC6-765A-FF96-EA63-F8D5520D3B98}"/>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684CD68-0A62-EA51-C39D-8A28DD436714}"/>
              </a:ext>
            </a:extLst>
          </p:cNvPr>
          <p:cNvSpPr txBox="1"/>
          <p:nvPr/>
        </p:nvSpPr>
        <p:spPr>
          <a:xfrm>
            <a:off x="670261" y="1168279"/>
            <a:ext cx="5898490"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机器学习算法选取测试结果（反向任务）：</a:t>
            </a:r>
          </a:p>
        </p:txBody>
      </p:sp>
      <p:graphicFrame>
        <p:nvGraphicFramePr>
          <p:cNvPr id="4" name="表格 3">
            <a:extLst>
              <a:ext uri="{FF2B5EF4-FFF2-40B4-BE49-F238E27FC236}">
                <a16:creationId xmlns:a16="http://schemas.microsoft.com/office/drawing/2014/main" id="{CE74F8A1-A065-C992-1382-43745E69FC6E}"/>
              </a:ext>
            </a:extLst>
          </p:cNvPr>
          <p:cNvGraphicFramePr>
            <a:graphicFrameLocks noGrp="1"/>
          </p:cNvGraphicFramePr>
          <p:nvPr>
            <p:extLst>
              <p:ext uri="{D42A27DB-BD31-4B8C-83A1-F6EECF244321}">
                <p14:modId xmlns:p14="http://schemas.microsoft.com/office/powerpoint/2010/main" val="2051691497"/>
              </p:ext>
            </p:extLst>
          </p:nvPr>
        </p:nvGraphicFramePr>
        <p:xfrm>
          <a:off x="1592265" y="1712723"/>
          <a:ext cx="9007470" cy="4507851"/>
        </p:xfrm>
        <a:graphic>
          <a:graphicData uri="http://schemas.openxmlformats.org/drawingml/2006/table">
            <a:tbl>
              <a:tblPr firstRow="1" firstCol="1" bandRow="1">
                <a:tableStyleId>{5C22544A-7EE6-4342-B048-85BDC9FD1C3A}</a:tableStyleId>
              </a:tblPr>
              <a:tblGrid>
                <a:gridCol w="2630790">
                  <a:extLst>
                    <a:ext uri="{9D8B030D-6E8A-4147-A177-3AD203B41FA5}">
                      <a16:colId xmlns:a16="http://schemas.microsoft.com/office/drawing/2014/main" val="1794701"/>
                    </a:ext>
                  </a:extLst>
                </a:gridCol>
                <a:gridCol w="1379340">
                  <a:extLst>
                    <a:ext uri="{9D8B030D-6E8A-4147-A177-3AD203B41FA5}">
                      <a16:colId xmlns:a16="http://schemas.microsoft.com/office/drawing/2014/main" val="4031340855"/>
                    </a:ext>
                  </a:extLst>
                </a:gridCol>
                <a:gridCol w="1442760">
                  <a:extLst>
                    <a:ext uri="{9D8B030D-6E8A-4147-A177-3AD203B41FA5}">
                      <a16:colId xmlns:a16="http://schemas.microsoft.com/office/drawing/2014/main" val="1715269944"/>
                    </a:ext>
                  </a:extLst>
                </a:gridCol>
                <a:gridCol w="1157379">
                  <a:extLst>
                    <a:ext uri="{9D8B030D-6E8A-4147-A177-3AD203B41FA5}">
                      <a16:colId xmlns:a16="http://schemas.microsoft.com/office/drawing/2014/main" val="1761442360"/>
                    </a:ext>
                  </a:extLst>
                </a:gridCol>
                <a:gridCol w="1255676">
                  <a:extLst>
                    <a:ext uri="{9D8B030D-6E8A-4147-A177-3AD203B41FA5}">
                      <a16:colId xmlns:a16="http://schemas.microsoft.com/office/drawing/2014/main" val="1542410715"/>
                    </a:ext>
                  </a:extLst>
                </a:gridCol>
                <a:gridCol w="1141525">
                  <a:extLst>
                    <a:ext uri="{9D8B030D-6E8A-4147-A177-3AD203B41FA5}">
                      <a16:colId xmlns:a16="http://schemas.microsoft.com/office/drawing/2014/main" val="2458715400"/>
                    </a:ext>
                  </a:extLst>
                </a:gridCol>
              </a:tblGrid>
              <a:tr h="962646">
                <a:tc>
                  <a:txBody>
                    <a:bodyPr/>
                    <a:lstStyle/>
                    <a:p>
                      <a:pPr indent="127000" algn="ctr">
                        <a:lnSpc>
                          <a:spcPct val="150000"/>
                        </a:lnSpc>
                        <a:buNone/>
                      </a:pPr>
                      <a:r>
                        <a:rPr lang="zh-CN" sz="1800" dirty="0">
                          <a:effectLst/>
                        </a:rPr>
                        <a:t>指标</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5 </a:t>
                      </a:r>
                      <a:r>
                        <a:rPr lang="zh-CN" sz="1800" dirty="0">
                          <a:effectLst/>
                        </a:rPr>
                        <a:t>基</a:t>
                      </a:r>
                      <a:r>
                        <a:rPr lang="en-US" sz="1800" dirty="0">
                          <a:effectLst/>
                        </a:rPr>
                        <a:t> HGBR</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带单调约束</a:t>
                      </a:r>
                      <a:r>
                        <a:rPr lang="en-US" sz="1800" dirty="0">
                          <a:effectLst/>
                        </a:rPr>
                        <a:t> HGBR</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随机森林</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梯度提升树</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决策树</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254122645"/>
                  </a:ext>
                </a:extLst>
              </a:tr>
              <a:tr h="546314">
                <a:tc>
                  <a:txBody>
                    <a:bodyPr/>
                    <a:lstStyle/>
                    <a:p>
                      <a:pPr indent="127000" algn="ctr">
                        <a:lnSpc>
                          <a:spcPct val="150000"/>
                        </a:lnSpc>
                        <a:buNone/>
                      </a:pPr>
                      <a:r>
                        <a:rPr lang="zh-CN" sz="1800" dirty="0">
                          <a:effectLst/>
                        </a:rPr>
                        <a:t>反向</a:t>
                      </a:r>
                      <a:r>
                        <a:rPr lang="en-US" sz="1800" dirty="0">
                          <a:effectLst/>
                        </a:rPr>
                        <a:t>_</a:t>
                      </a:r>
                      <a:r>
                        <a:rPr lang="zh-CN" sz="1800" dirty="0">
                          <a:effectLst/>
                        </a:rPr>
                        <a:t>校准后</a:t>
                      </a:r>
                      <a:r>
                        <a:rPr lang="en-US" sz="1800" dirty="0">
                          <a:effectLst/>
                        </a:rPr>
                        <a:t> R²</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0.971</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0.973</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0.967</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0.974</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0.968</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1301591678"/>
                  </a:ext>
                </a:extLst>
              </a:tr>
              <a:tr h="721383">
                <a:tc>
                  <a:txBody>
                    <a:bodyPr/>
                    <a:lstStyle/>
                    <a:p>
                      <a:pPr indent="127000" algn="ctr">
                        <a:lnSpc>
                          <a:spcPct val="150000"/>
                        </a:lnSpc>
                        <a:buNone/>
                      </a:pPr>
                      <a:r>
                        <a:rPr lang="zh-CN" sz="1800" dirty="0">
                          <a:effectLst/>
                        </a:rPr>
                        <a:t>反向</a:t>
                      </a:r>
                      <a:r>
                        <a:rPr lang="en-US" sz="1800" dirty="0">
                          <a:effectLst/>
                        </a:rPr>
                        <a:t>_</a:t>
                      </a:r>
                      <a:r>
                        <a:rPr lang="zh-CN" sz="1800" dirty="0">
                          <a:effectLst/>
                        </a:rPr>
                        <a:t>校准后</a:t>
                      </a:r>
                      <a:r>
                        <a:rPr lang="en-US" sz="1800" dirty="0">
                          <a:effectLst/>
                        </a:rPr>
                        <a:t> MAE</a:t>
                      </a:r>
                      <a:r>
                        <a:rPr lang="zh-CN" sz="1800" dirty="0">
                          <a:effectLst/>
                        </a:rPr>
                        <a:t>（</a:t>
                      </a:r>
                      <a:r>
                        <a:rPr lang="en-US" sz="1800" dirty="0">
                          <a:effectLst/>
                        </a:rPr>
                        <a:t>dm³/min</a:t>
                      </a:r>
                      <a:r>
                        <a:rPr lang="zh-CN" sz="1800" dirty="0">
                          <a:effectLst/>
                        </a:rPr>
                        <a:t>）</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0.104</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0.092</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0.114</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0.098</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0.106</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2670887184"/>
                  </a:ext>
                </a:extLst>
              </a:tr>
              <a:tr h="963229">
                <a:tc>
                  <a:txBody>
                    <a:bodyPr/>
                    <a:lstStyle/>
                    <a:p>
                      <a:pPr indent="127000" algn="ctr">
                        <a:lnSpc>
                          <a:spcPct val="150000"/>
                        </a:lnSpc>
                        <a:buNone/>
                      </a:pPr>
                      <a:r>
                        <a:rPr lang="zh-CN" sz="1800" dirty="0">
                          <a:effectLst/>
                        </a:rPr>
                        <a:t>反向</a:t>
                      </a:r>
                      <a:r>
                        <a:rPr lang="en-US" sz="1800" dirty="0">
                          <a:effectLst/>
                        </a:rPr>
                        <a:t>_</a:t>
                      </a:r>
                      <a:r>
                        <a:rPr lang="zh-CN" sz="1800" dirty="0">
                          <a:effectLst/>
                        </a:rPr>
                        <a:t>校准后</a:t>
                      </a:r>
                      <a:r>
                        <a:rPr lang="en-US" sz="1800" dirty="0">
                          <a:effectLst/>
                        </a:rPr>
                        <a:t> ±10% </a:t>
                      </a:r>
                      <a:r>
                        <a:rPr lang="zh-CN" sz="1800" dirty="0">
                          <a:effectLst/>
                        </a:rPr>
                        <a:t>准确率（</a:t>
                      </a:r>
                      <a:r>
                        <a:rPr lang="en-US" sz="1800" dirty="0">
                          <a:effectLst/>
                        </a:rPr>
                        <a:t>%</a:t>
                      </a:r>
                      <a:r>
                        <a:rPr lang="zh-CN" sz="1800" dirty="0">
                          <a:effectLst/>
                        </a:rPr>
                        <a:t>）</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95.59</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95.57</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95.06</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dirty="0">
                          <a:effectLst/>
                        </a:rPr>
                        <a:t>95.59</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en-US" sz="1800">
                          <a:effectLst/>
                        </a:rPr>
                        <a:t>94.65</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885099349"/>
                  </a:ext>
                </a:extLst>
              </a:tr>
              <a:tr h="546645">
                <a:tc>
                  <a:txBody>
                    <a:bodyPr/>
                    <a:lstStyle/>
                    <a:p>
                      <a:pPr indent="127000" algn="ctr">
                        <a:lnSpc>
                          <a:spcPct val="150000"/>
                        </a:lnSpc>
                        <a:buNone/>
                      </a:pPr>
                      <a:r>
                        <a:rPr lang="zh-CN" sz="1800" dirty="0">
                          <a:effectLst/>
                        </a:rPr>
                        <a:t>是否支持单调约束</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是</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a:effectLst/>
                        </a:rPr>
                        <a:t>是</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a:effectLst/>
                        </a:rPr>
                        <a:t>否</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否</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a:effectLst/>
                        </a:rPr>
                        <a:t>否</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1025512096"/>
                  </a:ext>
                </a:extLst>
              </a:tr>
              <a:tr h="546645">
                <a:tc>
                  <a:txBody>
                    <a:bodyPr/>
                    <a:lstStyle/>
                    <a:p>
                      <a:pPr indent="127000" algn="ctr">
                        <a:lnSpc>
                          <a:spcPct val="150000"/>
                        </a:lnSpc>
                        <a:buNone/>
                      </a:pPr>
                      <a:r>
                        <a:rPr lang="zh-CN" sz="1800" dirty="0">
                          <a:effectLst/>
                        </a:rPr>
                        <a:t>有无不合理预测</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a:effectLst/>
                        </a:rPr>
                        <a:t>无</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a:effectLst/>
                        </a:rPr>
                        <a:t>无</a:t>
                      </a:r>
                      <a:endParaRPr lang="zh-CN" sz="180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有</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有</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tc>
                  <a:txBody>
                    <a:bodyPr/>
                    <a:lstStyle/>
                    <a:p>
                      <a:pPr indent="127000" algn="ctr">
                        <a:lnSpc>
                          <a:spcPct val="150000"/>
                        </a:lnSpc>
                        <a:buNone/>
                      </a:pPr>
                      <a:r>
                        <a:rPr lang="zh-CN" sz="1800" dirty="0">
                          <a:effectLst/>
                        </a:rPr>
                        <a:t>有</a:t>
                      </a:r>
                      <a:endParaRPr lang="zh-CN" sz="18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122135" marR="122135" marT="81423" marB="81423" anchor="ctr"/>
                </a:tc>
                <a:extLst>
                  <a:ext uri="{0D108BD9-81ED-4DB2-BD59-A6C34878D82A}">
                    <a16:rowId xmlns:a16="http://schemas.microsoft.com/office/drawing/2014/main" val="340642192"/>
                  </a:ext>
                </a:extLst>
              </a:tr>
            </a:tbl>
          </a:graphicData>
        </a:graphic>
      </p:graphicFrame>
    </p:spTree>
    <p:extLst>
      <p:ext uri="{BB962C8B-B14F-4D97-AF65-F5344CB8AC3E}">
        <p14:creationId xmlns:p14="http://schemas.microsoft.com/office/powerpoint/2010/main" val="240515657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F9A39-04D6-8471-73B4-A5C309A7A8F2}"/>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01B63029-81A8-8654-08D5-FC61B6978F87}"/>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58ECF751-4571-0FB8-1F93-160D0878F914}"/>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A5177F27-A3EB-8F53-1676-E3081C4B42E8}"/>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483D452-6D26-0974-063B-ED031E2BD9F8}"/>
              </a:ext>
            </a:extLst>
          </p:cNvPr>
          <p:cNvSpPr txBox="1"/>
          <p:nvPr/>
        </p:nvSpPr>
        <p:spPr>
          <a:xfrm>
            <a:off x="670261" y="1168279"/>
            <a:ext cx="5133380"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机器学习算法选取测试结果（反向任务）：</a:t>
            </a:r>
          </a:p>
        </p:txBody>
      </p:sp>
      <p:sp>
        <p:nvSpPr>
          <p:cNvPr id="2" name="文本框 1">
            <a:extLst>
              <a:ext uri="{FF2B5EF4-FFF2-40B4-BE49-F238E27FC236}">
                <a16:creationId xmlns:a16="http://schemas.microsoft.com/office/drawing/2014/main" id="{AEF4C957-FEC4-DE85-D0E6-BC5E6E72F831}"/>
              </a:ext>
            </a:extLst>
          </p:cNvPr>
          <p:cNvSpPr txBox="1"/>
          <p:nvPr/>
        </p:nvSpPr>
        <p:spPr>
          <a:xfrm>
            <a:off x="670261" y="1810209"/>
            <a:ext cx="4236098" cy="369332"/>
          </a:xfrm>
          <a:prstGeom prst="rect">
            <a:avLst/>
          </a:prstGeom>
          <a:noFill/>
        </p:spPr>
        <p:txBody>
          <a:bodyPr wrap="square" rtlCol="0">
            <a:spAutoFit/>
          </a:bodyPr>
          <a:lstStyle/>
          <a:p>
            <a:r>
              <a:rPr lang="zh-CN" altLang="en-US" dirty="0"/>
              <a:t>反向任务实验结论：</a:t>
            </a:r>
          </a:p>
        </p:txBody>
      </p:sp>
      <p:sp>
        <p:nvSpPr>
          <p:cNvPr id="3" name="文本框 2">
            <a:extLst>
              <a:ext uri="{FF2B5EF4-FFF2-40B4-BE49-F238E27FC236}">
                <a16:creationId xmlns:a16="http://schemas.microsoft.com/office/drawing/2014/main" id="{B21FBD17-6A17-4D29-75EC-95BD76101D90}"/>
              </a:ext>
            </a:extLst>
          </p:cNvPr>
          <p:cNvSpPr txBox="1"/>
          <p:nvPr/>
        </p:nvSpPr>
        <p:spPr>
          <a:xfrm>
            <a:off x="1530219" y="2452139"/>
            <a:ext cx="8860479" cy="3693319"/>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带单调约束</a:t>
            </a:r>
            <a:r>
              <a:rPr lang="en-US" altLang="zh-CN" dirty="0"/>
              <a:t> HGBR </a:t>
            </a:r>
            <a:r>
              <a:rPr lang="zh-CN" altLang="zh-CN" dirty="0"/>
              <a:t>单次推荐精度最高：校准后</a:t>
            </a:r>
            <a:r>
              <a:rPr lang="en-US" altLang="zh-CN" dirty="0"/>
              <a:t> MAE </a:t>
            </a:r>
            <a:r>
              <a:rPr lang="zh-CN" altLang="zh-CN" dirty="0"/>
              <a:t>仅</a:t>
            </a:r>
            <a:r>
              <a:rPr lang="en-US" altLang="zh-CN" dirty="0"/>
              <a:t> 0.0919dm</a:t>
            </a:r>
            <a:r>
              <a:rPr lang="zh-CN" altLang="zh-CN" dirty="0"/>
              <a:t>³</a:t>
            </a:r>
            <a:r>
              <a:rPr lang="en-US" altLang="zh-CN" dirty="0"/>
              <a:t>/min</a:t>
            </a:r>
            <a:r>
              <a:rPr lang="zh-CN" altLang="zh-CN" dirty="0"/>
              <a:t>，±</a:t>
            </a:r>
            <a:r>
              <a:rPr lang="en-US" altLang="zh-CN" dirty="0"/>
              <a:t>10% </a:t>
            </a:r>
            <a:r>
              <a:rPr lang="zh-CN" altLang="zh-CN" dirty="0"/>
              <a:t>准确率</a:t>
            </a:r>
            <a:r>
              <a:rPr lang="en-US" altLang="zh-CN" dirty="0"/>
              <a:t> 95.57%</a:t>
            </a:r>
            <a:r>
              <a:rPr lang="zh-CN" altLang="zh-CN" dirty="0"/>
              <a:t>，单次投加量推荐偏差极小，能初步避免药剂浪费或浊度不达标问题；</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梯度提升树综合精度优异：以</a:t>
            </a:r>
            <a:r>
              <a:rPr lang="en-US" altLang="zh-CN" dirty="0"/>
              <a:t> 0.9735 </a:t>
            </a:r>
            <a:r>
              <a:rPr lang="zh-CN" altLang="zh-CN" dirty="0"/>
              <a:t>的</a:t>
            </a:r>
            <a:r>
              <a:rPr lang="en-US" altLang="zh-CN" dirty="0"/>
              <a:t> R</a:t>
            </a:r>
            <a:r>
              <a:rPr lang="zh-CN" altLang="zh-CN" dirty="0"/>
              <a:t>² 和</a:t>
            </a:r>
            <a:r>
              <a:rPr lang="en-US" altLang="zh-CN" dirty="0"/>
              <a:t> 0.0976 </a:t>
            </a:r>
            <a:r>
              <a:rPr lang="zh-CN" altLang="zh-CN" dirty="0"/>
              <a:t>的</a:t>
            </a:r>
            <a:r>
              <a:rPr lang="en-US" altLang="zh-CN" dirty="0"/>
              <a:t> MAE </a:t>
            </a:r>
            <a:r>
              <a:rPr lang="zh-CN" altLang="zh-CN" dirty="0"/>
              <a:t>位居</a:t>
            </a:r>
            <a:r>
              <a:rPr lang="zh-CN" altLang="en-US" dirty="0"/>
              <a:t>第二</a:t>
            </a:r>
            <a:r>
              <a:rPr lang="zh-CN" altLang="zh-CN" dirty="0"/>
              <a:t>，±</a:t>
            </a:r>
            <a:r>
              <a:rPr lang="en-US" altLang="zh-CN" dirty="0"/>
              <a:t>10% </a:t>
            </a:r>
            <a:r>
              <a:rPr lang="zh-CN" altLang="zh-CN" dirty="0"/>
              <a:t>准确率与带单调约束</a:t>
            </a:r>
            <a:r>
              <a:rPr lang="en-US" altLang="zh-CN" dirty="0"/>
              <a:t> HGBR </a:t>
            </a:r>
            <a:r>
              <a:rPr lang="zh-CN" altLang="zh-CN" dirty="0"/>
              <a:t>持平，但存在不合理预测，工程应用需额外增加逻辑校验；</a:t>
            </a:r>
            <a:endParaRPr lang="en-US" altLang="zh-CN" dirty="0"/>
          </a:p>
          <a:p>
            <a:pPr marL="285750" indent="-285750">
              <a:buFont typeface="Wingdings" panose="05000000000000000000" pitchFamily="2" charset="2"/>
              <a:buChar char="l"/>
            </a:pPr>
            <a:br>
              <a:rPr lang="en-US" altLang="zh-CN" dirty="0"/>
            </a:br>
            <a:r>
              <a:rPr lang="en-US" altLang="zh-CN" dirty="0"/>
              <a:t>5 </a:t>
            </a:r>
            <a:r>
              <a:rPr lang="zh-CN" altLang="zh-CN" dirty="0"/>
              <a:t>基</a:t>
            </a:r>
            <a:r>
              <a:rPr lang="en-US" altLang="zh-CN" dirty="0"/>
              <a:t> HGBR </a:t>
            </a:r>
            <a:r>
              <a:rPr lang="zh-CN" altLang="zh-CN" dirty="0"/>
              <a:t>中位数集成稳定性突出：</a:t>
            </a:r>
            <a:r>
              <a:rPr lang="en-US" altLang="zh-CN" dirty="0"/>
              <a:t>MAE </a:t>
            </a:r>
            <a:r>
              <a:rPr lang="zh-CN" altLang="zh-CN" dirty="0"/>
              <a:t>为</a:t>
            </a:r>
            <a:r>
              <a:rPr lang="en-US" altLang="zh-CN" dirty="0"/>
              <a:t> 0.1036dm</a:t>
            </a:r>
            <a:r>
              <a:rPr lang="zh-CN" altLang="zh-CN" dirty="0"/>
              <a:t>³</a:t>
            </a:r>
            <a:r>
              <a:rPr lang="en-US" altLang="zh-CN" dirty="0"/>
              <a:t>/min</a:t>
            </a:r>
            <a:r>
              <a:rPr lang="zh-CN" altLang="zh-CN" dirty="0"/>
              <a:t>，略高于前两者，但预测结果标准差仅</a:t>
            </a:r>
            <a:r>
              <a:rPr lang="en-US" altLang="zh-CN" dirty="0"/>
              <a:t> 0.03</a:t>
            </a:r>
            <a:r>
              <a:rPr lang="zh-CN" altLang="zh-CN" dirty="0"/>
              <a:t>，远低于其他算法，能避免投加量大幅波动对工艺的冲击，适合长期运维；</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随机森林与决策树误差较高：两者</a:t>
            </a:r>
            <a:r>
              <a:rPr lang="en-US" altLang="zh-CN" dirty="0"/>
              <a:t> MAE </a:t>
            </a:r>
            <a:r>
              <a:rPr lang="zh-CN" altLang="zh-CN" dirty="0"/>
              <a:t>分别为</a:t>
            </a:r>
            <a:r>
              <a:rPr lang="en-US" altLang="zh-CN" dirty="0"/>
              <a:t> 0.1141dm</a:t>
            </a:r>
            <a:r>
              <a:rPr lang="en-US" altLang="zh-CN" baseline="30000" dirty="0"/>
              <a:t>3</a:t>
            </a:r>
            <a:r>
              <a:rPr lang="en-US" altLang="zh-CN" dirty="0"/>
              <a:t>/min </a:t>
            </a:r>
            <a:r>
              <a:rPr lang="zh-CN" altLang="zh-CN" dirty="0"/>
              <a:t>和</a:t>
            </a:r>
            <a:r>
              <a:rPr lang="en-US" altLang="zh-CN" dirty="0"/>
              <a:t> 0.1058dm</a:t>
            </a:r>
            <a:r>
              <a:rPr lang="zh-CN" altLang="zh-CN" dirty="0"/>
              <a:t>³</a:t>
            </a:r>
            <a:r>
              <a:rPr lang="en-US" altLang="zh-CN" dirty="0"/>
              <a:t>/min</a:t>
            </a:r>
            <a:r>
              <a:rPr lang="zh-CN" altLang="zh-CN" dirty="0"/>
              <a:t>，误差波动较大，长期使用易导致药剂成本上升，仅适用于非核心场景辅助参考。</a:t>
            </a:r>
          </a:p>
          <a:p>
            <a:pPr marL="285750" indent="-285750">
              <a:buFont typeface="Wingdings" panose="05000000000000000000" pitchFamily="2" charset="2"/>
              <a:buChar char="l"/>
            </a:pPr>
            <a:endParaRPr lang="zh-CN" altLang="zh-CN" dirty="0"/>
          </a:p>
        </p:txBody>
      </p:sp>
    </p:spTree>
    <p:extLst>
      <p:ext uri="{BB962C8B-B14F-4D97-AF65-F5344CB8AC3E}">
        <p14:creationId xmlns:p14="http://schemas.microsoft.com/office/powerpoint/2010/main" val="99038134"/>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5BCC-834E-A9FB-B6FF-605B9DEB5491}"/>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9AB0C9DE-19F5-E136-CC07-1C27365E126C}"/>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7FBEF337-9BFA-F693-5472-5678980DAAB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C8C8371A-03BD-5E63-7610-5DD0CEBA0FB2}"/>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564327F-2A82-EB40-AF22-4C7B04B7CC38}"/>
              </a:ext>
            </a:extLst>
          </p:cNvPr>
          <p:cNvSpPr txBox="1"/>
          <p:nvPr/>
        </p:nvSpPr>
        <p:spPr>
          <a:xfrm>
            <a:off x="670261" y="1168279"/>
            <a:ext cx="4144335"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机器学习算法选取结论：</a:t>
            </a:r>
          </a:p>
        </p:txBody>
      </p:sp>
      <p:sp>
        <p:nvSpPr>
          <p:cNvPr id="4" name="文本框 3">
            <a:extLst>
              <a:ext uri="{FF2B5EF4-FFF2-40B4-BE49-F238E27FC236}">
                <a16:creationId xmlns:a16="http://schemas.microsoft.com/office/drawing/2014/main" id="{472E6A9B-1C0C-4496-F60E-54061BC24A55}"/>
              </a:ext>
            </a:extLst>
          </p:cNvPr>
          <p:cNvSpPr txBox="1"/>
          <p:nvPr/>
        </p:nvSpPr>
        <p:spPr>
          <a:xfrm>
            <a:off x="2576804" y="1994875"/>
            <a:ext cx="7038391" cy="3970318"/>
          </a:xfrm>
          <a:prstGeom prst="rect">
            <a:avLst/>
          </a:prstGeom>
          <a:noFill/>
        </p:spPr>
        <p:txBody>
          <a:bodyPr wrap="square" rtlCol="0">
            <a:spAutoFit/>
          </a:bodyPr>
          <a:lstStyle/>
          <a:p>
            <a:r>
              <a:rPr lang="zh-CN" altLang="zh-CN" dirty="0"/>
              <a:t>基于</a:t>
            </a:r>
            <a:r>
              <a:rPr lang="zh-CN" altLang="en-US" dirty="0"/>
              <a:t>机器算法选取实验</a:t>
            </a:r>
            <a:r>
              <a:rPr lang="zh-CN" altLang="zh-CN" dirty="0"/>
              <a:t>的客观结果，结合水处理工业场景对模型稳定性、合理性、精准性的核心基础需求，最终选定</a:t>
            </a:r>
            <a:r>
              <a:rPr lang="en-US" altLang="zh-CN" dirty="0"/>
              <a:t>5 </a:t>
            </a:r>
            <a:r>
              <a:rPr lang="zh-CN" altLang="zh-CN" dirty="0"/>
              <a:t>基</a:t>
            </a:r>
            <a:r>
              <a:rPr lang="en-US" altLang="zh-CN" dirty="0"/>
              <a:t> HGBR </a:t>
            </a:r>
            <a:r>
              <a:rPr lang="zh-CN" altLang="zh-CN" dirty="0"/>
              <a:t>中位数集成模型作为混凝智能投药的基础算法框架，同时，考虑到带单调约束</a:t>
            </a:r>
            <a:r>
              <a:rPr lang="en-US" altLang="zh-CN" dirty="0"/>
              <a:t> HGBR </a:t>
            </a:r>
            <a:r>
              <a:rPr lang="zh-CN" altLang="zh-CN" dirty="0"/>
              <a:t>在反向任务中单次推荐精度最高（</a:t>
            </a:r>
            <a:r>
              <a:rPr lang="en-US" altLang="zh-CN" dirty="0"/>
              <a:t>MAE=0.0919dm</a:t>
            </a:r>
            <a:r>
              <a:rPr lang="en-US" altLang="zh-CN" baseline="30000" dirty="0"/>
              <a:t>3</a:t>
            </a:r>
            <a:r>
              <a:rPr lang="en-US" altLang="zh-CN" dirty="0"/>
              <a:t>/min</a:t>
            </a:r>
            <a:r>
              <a:rPr lang="zh-CN" altLang="zh-CN" dirty="0"/>
              <a:t>）的特点，将其确定为辅助基础模型。</a:t>
            </a:r>
            <a:r>
              <a:rPr lang="zh-CN" altLang="en-US" dirty="0"/>
              <a:t>优点如下：</a:t>
            </a:r>
            <a:endParaRPr lang="en-US" altLang="zh-CN" dirty="0"/>
          </a:p>
          <a:p>
            <a:endParaRPr lang="en-US" altLang="zh-CN" dirty="0"/>
          </a:p>
          <a:p>
            <a:r>
              <a:rPr lang="zh-CN" altLang="en-US" dirty="0"/>
              <a:t>（</a:t>
            </a:r>
            <a:r>
              <a:rPr lang="en-US" altLang="zh-CN" dirty="0"/>
              <a:t>1</a:t>
            </a:r>
            <a:r>
              <a:rPr lang="zh-CN" altLang="en-US" dirty="0"/>
              <a:t>）</a:t>
            </a:r>
            <a:r>
              <a:rPr lang="zh-CN" altLang="zh-CN" dirty="0"/>
              <a:t>契合物理规律，保障运行安全；</a:t>
            </a:r>
            <a:endParaRPr lang="en-US" altLang="zh-CN" dirty="0"/>
          </a:p>
          <a:p>
            <a:endParaRPr lang="en-US" altLang="zh-CN" dirty="0"/>
          </a:p>
          <a:p>
            <a:r>
              <a:rPr lang="zh-CN" altLang="en-US" dirty="0"/>
              <a:t>（</a:t>
            </a:r>
            <a:r>
              <a:rPr lang="en-US" altLang="zh-CN" dirty="0"/>
              <a:t>2</a:t>
            </a:r>
            <a:r>
              <a:rPr lang="zh-CN" altLang="en-US" dirty="0"/>
              <a:t>）</a:t>
            </a:r>
            <a:r>
              <a:rPr lang="zh-CN" altLang="zh-CN" dirty="0"/>
              <a:t>稳定性优异，适配长期运维；</a:t>
            </a:r>
            <a:endParaRPr lang="en-US" altLang="zh-CN" dirty="0"/>
          </a:p>
          <a:p>
            <a:endParaRPr lang="zh-CN" altLang="zh-CN" dirty="0"/>
          </a:p>
          <a:p>
            <a:r>
              <a:rPr lang="zh-CN" altLang="en-US" dirty="0"/>
              <a:t>（</a:t>
            </a:r>
            <a:r>
              <a:rPr lang="en-US" altLang="zh-CN" dirty="0"/>
              <a:t>3</a:t>
            </a:r>
            <a:r>
              <a:rPr lang="zh-CN" altLang="en-US" dirty="0"/>
              <a:t>）</a:t>
            </a:r>
            <a:r>
              <a:rPr lang="zh-CN" altLang="zh-CN" dirty="0"/>
              <a:t>精度达标，满足基础需求：前向与反向任务精度均处于第一梯队，为混凝智能投药模型的进一步优化提供了可靠的性能起点。</a:t>
            </a:r>
          </a:p>
          <a:p>
            <a:endParaRPr lang="zh-CN" altLang="zh-CN" dirty="0"/>
          </a:p>
          <a:p>
            <a:endParaRPr lang="zh-CN" altLang="zh-CN" dirty="0"/>
          </a:p>
        </p:txBody>
      </p:sp>
    </p:spTree>
    <p:extLst>
      <p:ext uri="{BB962C8B-B14F-4D97-AF65-F5344CB8AC3E}">
        <p14:creationId xmlns:p14="http://schemas.microsoft.com/office/powerpoint/2010/main" val="3088423923"/>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D241-03E7-05CE-938A-94216D8D660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BDF405ED-91EB-5BFF-C209-3A36F5C8C080}"/>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934D2EB7-651A-D9FC-8BF2-BD3EDA368CEC}"/>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F75E5F0F-0D3B-116B-6CE0-587B92AD38AF}"/>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4550AB1-32F0-BEC2-3487-02BA52D43642}"/>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DDCC9BC6-F69A-0FE6-35D9-1F6A41BBD681}"/>
              </a:ext>
            </a:extLst>
          </p:cNvPr>
          <p:cNvSpPr txBox="1"/>
          <p:nvPr/>
        </p:nvSpPr>
        <p:spPr>
          <a:xfrm>
            <a:off x="1203649" y="1814610"/>
            <a:ext cx="3163078" cy="369332"/>
          </a:xfrm>
          <a:prstGeom prst="rect">
            <a:avLst/>
          </a:prstGeom>
          <a:noFill/>
        </p:spPr>
        <p:txBody>
          <a:bodyPr wrap="square" rtlCol="0">
            <a:spAutoFit/>
          </a:bodyPr>
          <a:lstStyle/>
          <a:p>
            <a:r>
              <a:rPr lang="zh-CN" altLang="en-US" dirty="0"/>
              <a:t>优化目标与基线：</a:t>
            </a:r>
          </a:p>
        </p:txBody>
      </p:sp>
      <p:sp>
        <p:nvSpPr>
          <p:cNvPr id="7" name="文本框 6">
            <a:extLst>
              <a:ext uri="{FF2B5EF4-FFF2-40B4-BE49-F238E27FC236}">
                <a16:creationId xmlns:a16="http://schemas.microsoft.com/office/drawing/2014/main" id="{B198F817-B27A-D7BF-D9ED-91AD15BFB860}"/>
              </a:ext>
            </a:extLst>
          </p:cNvPr>
          <p:cNvSpPr txBox="1"/>
          <p:nvPr/>
        </p:nvSpPr>
        <p:spPr>
          <a:xfrm>
            <a:off x="1688839" y="2337606"/>
            <a:ext cx="7903029"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基线表现：一次早期版本在测试集的</a:t>
            </a:r>
            <a:r>
              <a:rPr lang="en-US" altLang="zh-CN" dirty="0"/>
              <a:t> ±10%</a:t>
            </a:r>
            <a:r>
              <a:rPr lang="zh-CN" altLang="en-US" dirty="0"/>
              <a:t>的准确率</a:t>
            </a:r>
            <a:r>
              <a:rPr lang="zh-CN" altLang="zh-CN" dirty="0"/>
              <a:t>为</a:t>
            </a:r>
            <a:r>
              <a:rPr lang="en-US" altLang="zh-CN" dirty="0"/>
              <a:t> 87.65%</a:t>
            </a:r>
            <a:r>
              <a:rPr lang="zh-CN" altLang="zh-CN" dirty="0"/>
              <a:t>。</a:t>
            </a:r>
          </a:p>
        </p:txBody>
      </p:sp>
      <p:sp>
        <p:nvSpPr>
          <p:cNvPr id="8" name="文本框 7">
            <a:extLst>
              <a:ext uri="{FF2B5EF4-FFF2-40B4-BE49-F238E27FC236}">
                <a16:creationId xmlns:a16="http://schemas.microsoft.com/office/drawing/2014/main" id="{039A8720-53D2-4D80-54B8-8DD2CDF11968}"/>
              </a:ext>
            </a:extLst>
          </p:cNvPr>
          <p:cNvSpPr txBox="1"/>
          <p:nvPr/>
        </p:nvSpPr>
        <p:spPr>
          <a:xfrm>
            <a:off x="1688839" y="2860603"/>
            <a:ext cx="9358604"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优化后最佳表现：</a:t>
            </a:r>
            <a:r>
              <a:rPr lang="en-US" altLang="zh-CN" dirty="0"/>
              <a:t> ±10%</a:t>
            </a:r>
            <a:r>
              <a:rPr lang="zh-CN" altLang="en-US" dirty="0"/>
              <a:t>的准确率</a:t>
            </a:r>
            <a:r>
              <a:rPr lang="zh-CN" altLang="zh-CN" dirty="0"/>
              <a:t>提升到</a:t>
            </a:r>
            <a:r>
              <a:rPr lang="en-US" altLang="zh-CN" dirty="0"/>
              <a:t> 89.81%</a:t>
            </a:r>
            <a:r>
              <a:rPr lang="zh-CN" altLang="zh-CN" dirty="0"/>
              <a:t>，绝对提升</a:t>
            </a:r>
            <a:r>
              <a:rPr lang="en-US" altLang="zh-CN" dirty="0"/>
              <a:t> +2.16 </a:t>
            </a:r>
            <a:r>
              <a:rPr lang="zh-CN" altLang="zh-CN" dirty="0"/>
              <a:t>个百分点。</a:t>
            </a:r>
            <a:endParaRPr lang="zh-CN" altLang="en-US" dirty="0"/>
          </a:p>
        </p:txBody>
      </p:sp>
      <p:pic>
        <p:nvPicPr>
          <p:cNvPr id="9" name="图片 8" descr="关键参数">
            <a:extLst>
              <a:ext uri="{FF2B5EF4-FFF2-40B4-BE49-F238E27FC236}">
                <a16:creationId xmlns:a16="http://schemas.microsoft.com/office/drawing/2014/main" id="{C1B64BB4-7605-30B1-1864-F642814C3C0D}"/>
              </a:ext>
            </a:extLst>
          </p:cNvPr>
          <p:cNvPicPr>
            <a:picLocks noChangeAspect="1"/>
          </p:cNvPicPr>
          <p:nvPr/>
        </p:nvPicPr>
        <p:blipFill>
          <a:blip r:embed="rId4"/>
          <a:stretch>
            <a:fillRect/>
          </a:stretch>
        </p:blipFill>
        <p:spPr>
          <a:xfrm>
            <a:off x="2663903" y="3628066"/>
            <a:ext cx="5271770" cy="1197610"/>
          </a:xfrm>
          <a:prstGeom prst="rect">
            <a:avLst/>
          </a:prstGeom>
        </p:spPr>
      </p:pic>
      <p:sp>
        <p:nvSpPr>
          <p:cNvPr id="10" name="文本框 9">
            <a:extLst>
              <a:ext uri="{FF2B5EF4-FFF2-40B4-BE49-F238E27FC236}">
                <a16:creationId xmlns:a16="http://schemas.microsoft.com/office/drawing/2014/main" id="{1C71D232-C531-73E8-13B4-51C1F5012F47}"/>
              </a:ext>
            </a:extLst>
          </p:cNvPr>
          <p:cNvSpPr txBox="1"/>
          <p:nvPr/>
        </p:nvSpPr>
        <p:spPr>
          <a:xfrm>
            <a:off x="4595324" y="4856526"/>
            <a:ext cx="1119674" cy="369332"/>
          </a:xfrm>
          <a:prstGeom prst="rect">
            <a:avLst/>
          </a:prstGeom>
          <a:noFill/>
        </p:spPr>
        <p:txBody>
          <a:bodyPr wrap="square" rtlCol="0">
            <a:spAutoFit/>
          </a:bodyPr>
          <a:lstStyle/>
          <a:p>
            <a:r>
              <a:rPr lang="zh-CN" altLang="en-US" dirty="0"/>
              <a:t>关键参数</a:t>
            </a:r>
          </a:p>
        </p:txBody>
      </p:sp>
      <p:sp>
        <p:nvSpPr>
          <p:cNvPr id="11" name="文本框 10">
            <a:extLst>
              <a:ext uri="{FF2B5EF4-FFF2-40B4-BE49-F238E27FC236}">
                <a16:creationId xmlns:a16="http://schemas.microsoft.com/office/drawing/2014/main" id="{2567C376-5BC8-7E04-B91F-E9BF5E77663A}"/>
              </a:ext>
            </a:extLst>
          </p:cNvPr>
          <p:cNvSpPr txBox="1"/>
          <p:nvPr/>
        </p:nvSpPr>
        <p:spPr>
          <a:xfrm>
            <a:off x="1688838" y="5256708"/>
            <a:ext cx="7128591" cy="923330"/>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调参后获得的关键参数为</a:t>
            </a:r>
            <a:r>
              <a:rPr lang="en-US" altLang="zh-CN" dirty="0" err="1"/>
              <a:t>min_samples_leaf</a:t>
            </a:r>
            <a:r>
              <a:rPr lang="en-US" altLang="zh-CN" dirty="0"/>
              <a:t>=10,max_leaf_nodes=255,max_iter=1200,max_bins=255,learning_rate=0.08, l2_regularization=0.01</a:t>
            </a:r>
            <a:endParaRPr lang="zh-CN" altLang="en-US" dirty="0"/>
          </a:p>
        </p:txBody>
      </p:sp>
    </p:spTree>
    <p:extLst>
      <p:ext uri="{BB962C8B-B14F-4D97-AF65-F5344CB8AC3E}">
        <p14:creationId xmlns:p14="http://schemas.microsoft.com/office/powerpoint/2010/main" val="2658540338"/>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5709-DFF4-3228-D4EA-9542C8758975}"/>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C4406C2-45AB-ADB3-42E7-E810452723E3}"/>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46F77D5A-F7A8-A9BE-F566-F53051B7BAA5}"/>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252F44B2-50F0-5F1A-4BCF-CAA05F6A5083}"/>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1A8F143-353D-7B62-2DFD-D56D1A626A40}"/>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0A488E72-E464-6524-813F-F12E4B1DD86A}"/>
              </a:ext>
            </a:extLst>
          </p:cNvPr>
          <p:cNvSpPr txBox="1"/>
          <p:nvPr/>
        </p:nvSpPr>
        <p:spPr>
          <a:xfrm>
            <a:off x="1231641" y="1814612"/>
            <a:ext cx="10241409" cy="2308324"/>
          </a:xfrm>
          <a:prstGeom prst="rect">
            <a:avLst/>
          </a:prstGeom>
          <a:noFill/>
        </p:spPr>
        <p:txBody>
          <a:bodyPr wrap="square" rtlCol="0">
            <a:spAutoFit/>
          </a:bodyPr>
          <a:lstStyle/>
          <a:p>
            <a:r>
              <a:rPr lang="zh-CN" altLang="en-US" dirty="0"/>
              <a:t>数据测稳健化：</a:t>
            </a:r>
            <a:endParaRPr lang="en-US" altLang="zh-CN" dirty="0"/>
          </a:p>
          <a:p>
            <a:endParaRPr lang="en-US" altLang="zh-CN" dirty="0"/>
          </a:p>
          <a:p>
            <a:pPr marL="285750" indent="-285750">
              <a:buFont typeface="Wingdings" panose="05000000000000000000" pitchFamily="2" charset="2"/>
              <a:buChar char="l"/>
            </a:pPr>
            <a:r>
              <a:rPr lang="zh-CN" altLang="en-US" dirty="0"/>
              <a:t>极值裁剪：</a:t>
            </a:r>
            <a:r>
              <a:rPr lang="zh-CN" altLang="zh-CN" dirty="0"/>
              <a:t>对训练集</a:t>
            </a:r>
            <a:r>
              <a:rPr lang="en-US" altLang="zh-CN" dirty="0"/>
              <a:t> </a:t>
            </a:r>
            <a:r>
              <a:rPr lang="en-US" altLang="zh-CN" dirty="0" err="1"/>
              <a:t>raw_turbidity</a:t>
            </a:r>
            <a:r>
              <a:rPr lang="zh-CN" altLang="zh-CN" dirty="0"/>
              <a:t>、</a:t>
            </a:r>
            <a:r>
              <a:rPr lang="en-US" altLang="zh-CN" dirty="0"/>
              <a:t>flow </a:t>
            </a:r>
            <a:r>
              <a:rPr lang="zh-CN" altLang="zh-CN" dirty="0"/>
              <a:t>以及目标浊度</a:t>
            </a:r>
            <a:r>
              <a:rPr lang="en-US" altLang="zh-CN" dirty="0"/>
              <a:t> y </a:t>
            </a:r>
            <a:r>
              <a:rPr lang="zh-CN" altLang="zh-CN" dirty="0"/>
              <a:t>进行分位剪裁（</a:t>
            </a:r>
            <a:r>
              <a:rPr lang="en-US" altLang="zh-CN" dirty="0"/>
              <a:t>[0.5%, 99.5%]</a:t>
            </a:r>
            <a:r>
              <a:rPr lang="zh-CN" altLang="zh-CN" dirty="0"/>
              <a:t>），抑制异常值对树模型分裂的干扰。</a:t>
            </a:r>
          </a:p>
          <a:p>
            <a:endParaRPr lang="en-US" altLang="zh-CN" dirty="0"/>
          </a:p>
          <a:p>
            <a:pPr marL="285750" indent="-285750">
              <a:buFont typeface="Wingdings" panose="05000000000000000000" pitchFamily="2" charset="2"/>
              <a:buChar char="l"/>
            </a:pPr>
            <a:r>
              <a:rPr lang="zh-CN" altLang="zh-CN" dirty="0"/>
              <a:t>样本加权</a:t>
            </a:r>
            <a:r>
              <a:rPr lang="zh-CN" altLang="en-US" dirty="0"/>
              <a:t>：</a:t>
            </a:r>
            <a:r>
              <a:rPr lang="zh-CN" altLang="zh-CN" dirty="0"/>
              <a:t>权重公式：</a:t>
            </a:r>
            <a:r>
              <a:rPr lang="en-US" altLang="zh-CN" dirty="0"/>
              <a:t>w = ((1 / (y + eps)) ** 1.8) / mean(...)</a:t>
            </a:r>
            <a:r>
              <a:rPr lang="zh-CN" altLang="zh-CN" dirty="0"/>
              <a:t>，其中</a:t>
            </a:r>
            <a:r>
              <a:rPr lang="en-US" altLang="zh-CN" dirty="0"/>
              <a:t> eps </a:t>
            </a:r>
            <a:r>
              <a:rPr lang="zh-CN" altLang="zh-CN" dirty="0"/>
              <a:t>取目标浊度第</a:t>
            </a:r>
            <a:r>
              <a:rPr lang="en-US" altLang="zh-CN" dirty="0"/>
              <a:t> 10 </a:t>
            </a:r>
            <a:r>
              <a:rPr lang="zh-CN" altLang="zh-CN" dirty="0"/>
              <a:t>分位的</a:t>
            </a:r>
            <a:r>
              <a:rPr lang="en-US" altLang="zh-CN" dirty="0"/>
              <a:t> 8% </a:t>
            </a:r>
            <a:r>
              <a:rPr lang="zh-CN" altLang="zh-CN" dirty="0"/>
              <a:t>或</a:t>
            </a:r>
            <a:r>
              <a:rPr lang="en-US" altLang="zh-CN" dirty="0"/>
              <a:t> 1e-6</a:t>
            </a:r>
            <a:r>
              <a:rPr lang="zh-CN" altLang="zh-CN" dirty="0"/>
              <a:t>，在相对误差指标下，让低浊度样本获得更合理的关注度</a:t>
            </a:r>
            <a:r>
              <a:rPr lang="zh-CN" altLang="en-US" dirty="0"/>
              <a:t>。</a:t>
            </a:r>
            <a:endParaRPr lang="en-US" altLang="zh-CN" dirty="0"/>
          </a:p>
          <a:p>
            <a:endParaRPr lang="zh-CN" altLang="en-US" dirty="0"/>
          </a:p>
        </p:txBody>
      </p:sp>
      <p:pic>
        <p:nvPicPr>
          <p:cNvPr id="4" name="图片 3" descr="样本权重">
            <a:extLst>
              <a:ext uri="{FF2B5EF4-FFF2-40B4-BE49-F238E27FC236}">
                <a16:creationId xmlns:a16="http://schemas.microsoft.com/office/drawing/2014/main" id="{E9BF85F6-0FAB-F20C-45B8-47E69A2252FE}"/>
              </a:ext>
            </a:extLst>
          </p:cNvPr>
          <p:cNvPicPr>
            <a:picLocks noChangeAspect="1"/>
          </p:cNvPicPr>
          <p:nvPr/>
        </p:nvPicPr>
        <p:blipFill>
          <a:blip r:embed="rId4"/>
          <a:stretch>
            <a:fillRect/>
          </a:stretch>
        </p:blipFill>
        <p:spPr>
          <a:xfrm>
            <a:off x="3348467" y="4231423"/>
            <a:ext cx="5267960" cy="1189355"/>
          </a:xfrm>
          <a:prstGeom prst="rect">
            <a:avLst/>
          </a:prstGeom>
        </p:spPr>
      </p:pic>
      <p:sp>
        <p:nvSpPr>
          <p:cNvPr id="5" name="文本框 4">
            <a:extLst>
              <a:ext uri="{FF2B5EF4-FFF2-40B4-BE49-F238E27FC236}">
                <a16:creationId xmlns:a16="http://schemas.microsoft.com/office/drawing/2014/main" id="{DF3DFF6A-660B-91C7-2FDC-3858647B6F3F}"/>
              </a:ext>
            </a:extLst>
          </p:cNvPr>
          <p:cNvSpPr txBox="1"/>
          <p:nvPr/>
        </p:nvSpPr>
        <p:spPr>
          <a:xfrm>
            <a:off x="5438832" y="5529265"/>
            <a:ext cx="1206759" cy="369332"/>
          </a:xfrm>
          <a:prstGeom prst="rect">
            <a:avLst/>
          </a:prstGeom>
          <a:noFill/>
        </p:spPr>
        <p:txBody>
          <a:bodyPr wrap="square" rtlCol="0">
            <a:spAutoFit/>
          </a:bodyPr>
          <a:lstStyle/>
          <a:p>
            <a:r>
              <a:rPr lang="zh-CN" altLang="en-US" dirty="0"/>
              <a:t>样本加权</a:t>
            </a:r>
          </a:p>
        </p:txBody>
      </p:sp>
    </p:spTree>
    <p:extLst>
      <p:ext uri="{BB962C8B-B14F-4D97-AF65-F5344CB8AC3E}">
        <p14:creationId xmlns:p14="http://schemas.microsoft.com/office/powerpoint/2010/main" val="3391187962"/>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A5DB-5AD8-AB6F-DC96-D8E2DA3AFD54}"/>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8BA790F0-9372-8D42-D772-0EFAF0B3CF31}"/>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3C7C8EC7-11A4-FB98-1993-78C1A936E953}"/>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38</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FBB711F3-468D-6796-5191-C9A672E4F51D}"/>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ED220CE-E6C8-341E-0AB4-DC9406B3E658}"/>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34F5A452-8BD2-63CD-444C-A874AF470D4F}"/>
              </a:ext>
            </a:extLst>
          </p:cNvPr>
          <p:cNvSpPr txBox="1"/>
          <p:nvPr/>
        </p:nvSpPr>
        <p:spPr>
          <a:xfrm>
            <a:off x="1231641" y="1814612"/>
            <a:ext cx="10241409" cy="2585323"/>
          </a:xfrm>
          <a:prstGeom prst="rect">
            <a:avLst/>
          </a:prstGeom>
          <a:noFill/>
        </p:spPr>
        <p:txBody>
          <a:bodyPr wrap="square" rtlCol="0">
            <a:spAutoFit/>
          </a:bodyPr>
          <a:lstStyle/>
          <a:p>
            <a:r>
              <a:rPr lang="zh-CN" altLang="en-US" dirty="0"/>
              <a:t>特征与约束：</a:t>
            </a:r>
            <a:endParaRPr lang="en-US" altLang="zh-CN" dirty="0"/>
          </a:p>
          <a:p>
            <a:endParaRPr lang="en-US" altLang="zh-CN" dirty="0"/>
          </a:p>
          <a:p>
            <a:pPr marL="285750" indent="-285750">
              <a:buFont typeface="Wingdings" panose="05000000000000000000" pitchFamily="2" charset="2"/>
              <a:buChar char="l"/>
            </a:pPr>
            <a:r>
              <a:rPr lang="zh-CN" altLang="zh-CN" dirty="0"/>
              <a:t>物理先验与可解释特征增强</a:t>
            </a:r>
          </a:p>
          <a:p>
            <a:r>
              <a:rPr lang="en-US" altLang="zh-CN" dirty="0"/>
              <a:t>	</a:t>
            </a:r>
            <a:r>
              <a:rPr lang="zh-CN" altLang="zh-CN" dirty="0"/>
              <a:t>构造交互与变换：</a:t>
            </a:r>
            <a:r>
              <a:rPr lang="en-US" altLang="zh-CN" dirty="0" err="1"/>
              <a:t>raw_turbidity_x_flow</a:t>
            </a:r>
            <a:r>
              <a:rPr lang="zh-CN" altLang="zh-CN" dirty="0"/>
              <a:t>、</a:t>
            </a:r>
            <a:r>
              <a:rPr lang="en-US" altLang="zh-CN" dirty="0" err="1"/>
              <a:t>raw_turbidity_over_flow</a:t>
            </a:r>
            <a:r>
              <a:rPr lang="zh-CN" altLang="zh-CN" dirty="0"/>
              <a:t>、</a:t>
            </a:r>
            <a:r>
              <a:rPr lang="en-US" altLang="zh-CN" dirty="0" err="1"/>
              <a:t>pac_over_flow</a:t>
            </a:r>
            <a:r>
              <a:rPr lang="zh-CN" altLang="zh-CN" dirty="0"/>
              <a:t>等。</a:t>
            </a:r>
          </a:p>
          <a:p>
            <a:r>
              <a:rPr lang="zh-CN" altLang="zh-CN" dirty="0"/>
              <a:t>将</a:t>
            </a:r>
            <a:r>
              <a:rPr lang="en-US" altLang="zh-CN" dirty="0"/>
              <a:t>“</a:t>
            </a:r>
            <a:r>
              <a:rPr lang="zh-CN" altLang="zh-CN" dirty="0"/>
              <a:t>原水浊度</a:t>
            </a:r>
            <a:r>
              <a:rPr lang="en-US" altLang="zh-CN" dirty="0"/>
              <a:t>/</a:t>
            </a:r>
            <a:r>
              <a:rPr lang="zh-CN" altLang="zh-CN" dirty="0"/>
              <a:t>流量升高</a:t>
            </a:r>
            <a:r>
              <a:rPr lang="en-US" altLang="zh-CN" dirty="0"/>
              <a:t> → </a:t>
            </a:r>
            <a:r>
              <a:rPr lang="zh-CN" altLang="zh-CN" dirty="0"/>
              <a:t>出水浊度上升、</a:t>
            </a:r>
            <a:r>
              <a:rPr lang="en-US" altLang="zh-CN" dirty="0"/>
              <a:t>PAC </a:t>
            </a:r>
            <a:r>
              <a:rPr lang="zh-CN" altLang="zh-CN" dirty="0"/>
              <a:t>增大</a:t>
            </a:r>
            <a:r>
              <a:rPr lang="en-US" altLang="zh-CN" dirty="0"/>
              <a:t> → </a:t>
            </a:r>
            <a:r>
              <a:rPr lang="zh-CN" altLang="zh-CN" dirty="0"/>
              <a:t>出水浊度下降</a:t>
            </a:r>
            <a:r>
              <a:rPr lang="en-US" altLang="zh-CN" dirty="0"/>
              <a:t>”</a:t>
            </a:r>
            <a:r>
              <a:rPr lang="zh-CN" altLang="zh-CN" dirty="0"/>
              <a:t>的物理先验注入到模型中。</a:t>
            </a:r>
            <a:endParaRPr lang="en-US" altLang="zh-CN" dirty="0"/>
          </a:p>
          <a:p>
            <a:endParaRPr lang="zh-CN" altLang="zh-CN" dirty="0"/>
          </a:p>
          <a:p>
            <a:pPr marL="285750" indent="-285750">
              <a:buFont typeface="Wingdings" panose="05000000000000000000" pitchFamily="2" charset="2"/>
              <a:buChar char="l"/>
            </a:pPr>
            <a:r>
              <a:rPr lang="zh-CN" altLang="zh-CN" dirty="0"/>
              <a:t>单调性约束（</a:t>
            </a:r>
            <a:r>
              <a:rPr lang="en-US" altLang="zh-CN" dirty="0" err="1"/>
              <a:t>monotonic_cst</a:t>
            </a:r>
            <a:r>
              <a:rPr lang="zh-CN" altLang="zh-CN" dirty="0"/>
              <a:t>）</a:t>
            </a:r>
          </a:p>
          <a:p>
            <a:r>
              <a:rPr lang="en-US" altLang="zh-CN" dirty="0"/>
              <a:t>	</a:t>
            </a:r>
            <a:r>
              <a:rPr lang="zh-CN" altLang="zh-CN" dirty="0"/>
              <a:t>在</a:t>
            </a:r>
            <a:r>
              <a:rPr lang="en-US" altLang="zh-CN" dirty="0"/>
              <a:t> </a:t>
            </a:r>
            <a:r>
              <a:rPr lang="en-US" altLang="zh-CN" dirty="0" err="1"/>
              <a:t>HistGradientBoostingRegressor</a:t>
            </a:r>
            <a:r>
              <a:rPr lang="en-US" altLang="zh-CN" dirty="0"/>
              <a:t> </a:t>
            </a:r>
            <a:r>
              <a:rPr lang="zh-CN" altLang="zh-CN" dirty="0"/>
              <a:t>上对关键特征施加方向性约束：</a:t>
            </a:r>
            <a:r>
              <a:rPr lang="en-US" altLang="zh-CN" dirty="0" err="1"/>
              <a:t>raw_turbidity</a:t>
            </a:r>
            <a:r>
              <a:rPr lang="en-US" altLang="zh-CN" dirty="0"/>
              <a:t> / flow </a:t>
            </a:r>
            <a:r>
              <a:rPr lang="zh-CN" altLang="zh-CN" dirty="0"/>
              <a:t>等 正单调，</a:t>
            </a:r>
            <a:r>
              <a:rPr lang="en-US" altLang="zh-CN" dirty="0" err="1"/>
              <a:t>pac</a:t>
            </a:r>
            <a:r>
              <a:rPr lang="en-US" altLang="zh-CN" dirty="0"/>
              <a:t> </a:t>
            </a:r>
            <a:r>
              <a:rPr lang="zh-CN" altLang="zh-CN" dirty="0"/>
              <a:t>及其变体 负单调</a:t>
            </a:r>
            <a:r>
              <a:rPr lang="zh-CN" altLang="en-US" dirty="0"/>
              <a:t>。</a:t>
            </a:r>
          </a:p>
        </p:txBody>
      </p:sp>
      <p:sp>
        <p:nvSpPr>
          <p:cNvPr id="5" name="文本框 4">
            <a:extLst>
              <a:ext uri="{FF2B5EF4-FFF2-40B4-BE49-F238E27FC236}">
                <a16:creationId xmlns:a16="http://schemas.microsoft.com/office/drawing/2014/main" id="{23329548-0B80-A56A-9EC3-A1F13AF7B3A6}"/>
              </a:ext>
            </a:extLst>
          </p:cNvPr>
          <p:cNvSpPr txBox="1"/>
          <p:nvPr/>
        </p:nvSpPr>
        <p:spPr>
          <a:xfrm>
            <a:off x="5492620" y="5713009"/>
            <a:ext cx="1206759" cy="369332"/>
          </a:xfrm>
          <a:prstGeom prst="rect">
            <a:avLst/>
          </a:prstGeom>
          <a:noFill/>
        </p:spPr>
        <p:txBody>
          <a:bodyPr wrap="square" rtlCol="0">
            <a:spAutoFit/>
          </a:bodyPr>
          <a:lstStyle/>
          <a:p>
            <a:r>
              <a:rPr lang="zh-CN" altLang="en-US" dirty="0"/>
              <a:t>单调约束</a:t>
            </a:r>
          </a:p>
        </p:txBody>
      </p:sp>
      <p:pic>
        <p:nvPicPr>
          <p:cNvPr id="2" name="图片 1" descr="单调约束">
            <a:extLst>
              <a:ext uri="{FF2B5EF4-FFF2-40B4-BE49-F238E27FC236}">
                <a16:creationId xmlns:a16="http://schemas.microsoft.com/office/drawing/2014/main" id="{2B17ACB1-1D6F-061B-E3D5-73145E71DA9B}"/>
              </a:ext>
            </a:extLst>
          </p:cNvPr>
          <p:cNvPicPr>
            <a:picLocks noChangeAspect="1"/>
          </p:cNvPicPr>
          <p:nvPr/>
        </p:nvPicPr>
        <p:blipFill>
          <a:blip r:embed="rId4"/>
          <a:stretch>
            <a:fillRect/>
          </a:stretch>
        </p:blipFill>
        <p:spPr>
          <a:xfrm>
            <a:off x="2261519" y="4749126"/>
            <a:ext cx="8032587" cy="806162"/>
          </a:xfrm>
          <a:prstGeom prst="rect">
            <a:avLst/>
          </a:prstGeom>
        </p:spPr>
      </p:pic>
    </p:spTree>
    <p:extLst>
      <p:ext uri="{BB962C8B-B14F-4D97-AF65-F5344CB8AC3E}">
        <p14:creationId xmlns:p14="http://schemas.microsoft.com/office/powerpoint/2010/main" val="3778139093"/>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8010-E864-FA22-BB56-33AB4D3961E1}"/>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19DE0798-DCF0-B2BA-1E4D-C7F9C6F1915E}"/>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AB2961A1-47E1-935A-1484-205FBCBDB631}"/>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39</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373A6870-7F69-BE52-5C03-F34BAEE3BE13}"/>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A5A1471-F1D8-D51D-14F0-9C7247450CC8}"/>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15BF573B-870F-D7AD-57F6-39D029FF6D33}"/>
              </a:ext>
            </a:extLst>
          </p:cNvPr>
          <p:cNvSpPr txBox="1"/>
          <p:nvPr/>
        </p:nvSpPr>
        <p:spPr>
          <a:xfrm>
            <a:off x="1062314" y="1814612"/>
            <a:ext cx="10241409" cy="2585323"/>
          </a:xfrm>
          <a:prstGeom prst="rect">
            <a:avLst/>
          </a:prstGeom>
          <a:noFill/>
        </p:spPr>
        <p:txBody>
          <a:bodyPr wrap="square" rtlCol="0">
            <a:spAutoFit/>
          </a:bodyPr>
          <a:lstStyle/>
          <a:p>
            <a:r>
              <a:rPr lang="zh-CN" altLang="en-US" dirty="0"/>
              <a:t>模型与调参：</a:t>
            </a:r>
            <a:endParaRPr lang="en-US" altLang="zh-CN" dirty="0"/>
          </a:p>
          <a:p>
            <a:endParaRPr lang="en-US" altLang="zh-CN" dirty="0"/>
          </a:p>
          <a:p>
            <a:pPr marL="285750" indent="-285750">
              <a:buFont typeface="Wingdings" panose="05000000000000000000" pitchFamily="2" charset="2"/>
              <a:buChar char="l"/>
            </a:pPr>
            <a:r>
              <a:rPr lang="zh-CN" altLang="zh-CN" dirty="0"/>
              <a:t>目标变换：</a:t>
            </a:r>
            <a:r>
              <a:rPr lang="en-US" altLang="zh-CN" dirty="0"/>
              <a:t>log1p-ε</a:t>
            </a:r>
            <a:r>
              <a:rPr lang="zh-CN" altLang="zh-CN" dirty="0"/>
              <a:t>（</a:t>
            </a:r>
            <a:r>
              <a:rPr lang="en-US" altLang="zh-CN" dirty="0" err="1"/>
              <a:t>TransformedTargetRegressor</a:t>
            </a:r>
            <a:r>
              <a:rPr lang="zh-CN" altLang="zh-CN" dirty="0"/>
              <a:t>）</a:t>
            </a:r>
          </a:p>
          <a:p>
            <a:r>
              <a:rPr lang="en-US" altLang="zh-CN" dirty="0"/>
              <a:t>	</a:t>
            </a:r>
            <a:r>
              <a:rPr lang="zh-CN" altLang="zh-CN" dirty="0"/>
              <a:t>对</a:t>
            </a:r>
            <a:r>
              <a:rPr lang="en-US" altLang="zh-CN" dirty="0"/>
              <a:t> y </a:t>
            </a:r>
            <a:r>
              <a:rPr lang="zh-CN" altLang="zh-CN" dirty="0"/>
              <a:t>进行</a:t>
            </a:r>
            <a:r>
              <a:rPr lang="en-US" altLang="zh-CN" dirty="0"/>
              <a:t> log1p(y + ε)</a:t>
            </a:r>
            <a:r>
              <a:rPr lang="zh-CN" altLang="zh-CN" dirty="0"/>
              <a:t>，减弱右偏，提高回归稳定性，配合</a:t>
            </a:r>
            <a:r>
              <a:rPr lang="zh-CN" altLang="en-US" dirty="0"/>
              <a:t>了</a:t>
            </a:r>
            <a:r>
              <a:rPr lang="en-US" altLang="zh-CN" dirty="0"/>
              <a:t> MAE </a:t>
            </a:r>
            <a:r>
              <a:rPr lang="zh-CN" altLang="zh-CN" dirty="0"/>
              <a:t>的下降。</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以</a:t>
            </a:r>
            <a:r>
              <a:rPr lang="en-US" altLang="zh-CN" dirty="0"/>
              <a:t> ±10%</a:t>
            </a:r>
            <a:r>
              <a:rPr lang="zh-CN" altLang="en-US" dirty="0"/>
              <a:t>准确率</a:t>
            </a:r>
            <a:r>
              <a:rPr lang="zh-CN" altLang="zh-CN" dirty="0"/>
              <a:t>为评分的随机搜索（</a:t>
            </a:r>
            <a:r>
              <a:rPr lang="en-US" altLang="zh-CN" dirty="0" err="1"/>
              <a:t>RandomizedSearchCV</a:t>
            </a:r>
            <a:r>
              <a:rPr lang="en-US" altLang="zh-CN" dirty="0"/>
              <a:t>, CV=5</a:t>
            </a:r>
            <a:r>
              <a:rPr lang="zh-CN" altLang="zh-CN" dirty="0"/>
              <a:t>）</a:t>
            </a:r>
          </a:p>
          <a:p>
            <a:r>
              <a:rPr lang="en-US" altLang="zh-CN" dirty="0"/>
              <a:t>	</a:t>
            </a:r>
            <a:r>
              <a:rPr lang="zh-CN" altLang="zh-CN" dirty="0"/>
              <a:t>评分器直接使用相对误差命中率，使调参</a:t>
            </a:r>
            <a:r>
              <a:rPr lang="zh-CN" altLang="en-US" dirty="0"/>
              <a:t>目标</a:t>
            </a:r>
            <a:r>
              <a:rPr lang="zh-CN" altLang="zh-CN" dirty="0"/>
              <a:t>与</a:t>
            </a:r>
            <a:r>
              <a:rPr lang="zh-CN" altLang="en-US" dirty="0"/>
              <a:t>实际</a:t>
            </a:r>
            <a:r>
              <a:rPr lang="zh-CN" altLang="zh-CN" dirty="0"/>
              <a:t>目标一致。</a:t>
            </a:r>
          </a:p>
          <a:p>
            <a:r>
              <a:rPr lang="en-US" altLang="zh-CN" dirty="0"/>
              <a:t>	</a:t>
            </a:r>
            <a:r>
              <a:rPr lang="zh-CN" altLang="en-US" dirty="0"/>
              <a:t>找到</a:t>
            </a:r>
            <a:r>
              <a:rPr lang="zh-CN" altLang="zh-CN" dirty="0"/>
              <a:t>代表性最优参数：</a:t>
            </a:r>
            <a:r>
              <a:rPr lang="en-US" altLang="zh-CN" dirty="0" err="1"/>
              <a:t>learning_rate</a:t>
            </a:r>
            <a:r>
              <a:rPr lang="en-US" altLang="zh-CN" dirty="0"/>
              <a:t>=0.08, </a:t>
            </a:r>
            <a:r>
              <a:rPr lang="en-US" altLang="zh-CN" dirty="0" err="1"/>
              <a:t>max_iter</a:t>
            </a:r>
            <a:r>
              <a:rPr lang="en-US" altLang="zh-CN" dirty="0"/>
              <a:t>=1200, </a:t>
            </a:r>
            <a:r>
              <a:rPr lang="en-US" altLang="zh-CN" dirty="0" err="1"/>
              <a:t>max_leaf_nodes</a:t>
            </a:r>
            <a:r>
              <a:rPr lang="en-US" altLang="zh-CN" dirty="0"/>
              <a:t>=255, </a:t>
            </a:r>
            <a:r>
              <a:rPr lang="en-US" altLang="zh-CN" dirty="0" err="1"/>
              <a:t>min_samples_leaf</a:t>
            </a:r>
            <a:r>
              <a:rPr lang="en-US" altLang="zh-CN" dirty="0"/>
              <a:t>=10, l2=0.01, </a:t>
            </a:r>
            <a:r>
              <a:rPr lang="en-US" altLang="zh-CN" dirty="0" err="1"/>
              <a:t>max_bins</a:t>
            </a:r>
            <a:r>
              <a:rPr lang="en-US" altLang="zh-CN" dirty="0"/>
              <a:t>=255</a:t>
            </a:r>
            <a:r>
              <a:rPr lang="zh-CN" altLang="zh-CN" dirty="0"/>
              <a:t>。</a:t>
            </a:r>
            <a:endParaRPr lang="zh-CN" altLang="en-US" dirty="0"/>
          </a:p>
        </p:txBody>
      </p:sp>
      <p:sp>
        <p:nvSpPr>
          <p:cNvPr id="5" name="文本框 4">
            <a:extLst>
              <a:ext uri="{FF2B5EF4-FFF2-40B4-BE49-F238E27FC236}">
                <a16:creationId xmlns:a16="http://schemas.microsoft.com/office/drawing/2014/main" id="{D3DC8B26-A926-4E69-B873-C81B1192A14F}"/>
              </a:ext>
            </a:extLst>
          </p:cNvPr>
          <p:cNvSpPr txBox="1"/>
          <p:nvPr/>
        </p:nvSpPr>
        <p:spPr>
          <a:xfrm>
            <a:off x="5492620" y="6377057"/>
            <a:ext cx="1206759" cy="369332"/>
          </a:xfrm>
          <a:prstGeom prst="rect">
            <a:avLst/>
          </a:prstGeom>
          <a:noFill/>
        </p:spPr>
        <p:txBody>
          <a:bodyPr wrap="square" rtlCol="0">
            <a:spAutoFit/>
          </a:bodyPr>
          <a:lstStyle/>
          <a:p>
            <a:r>
              <a:rPr lang="zh-CN" altLang="en-US" dirty="0"/>
              <a:t>最优参数</a:t>
            </a:r>
          </a:p>
        </p:txBody>
      </p:sp>
      <p:pic>
        <p:nvPicPr>
          <p:cNvPr id="4" name="图片 3" descr="最优参数">
            <a:extLst>
              <a:ext uri="{FF2B5EF4-FFF2-40B4-BE49-F238E27FC236}">
                <a16:creationId xmlns:a16="http://schemas.microsoft.com/office/drawing/2014/main" id="{19270002-9CCC-DC96-FB74-8B515DE06B09}"/>
              </a:ext>
            </a:extLst>
          </p:cNvPr>
          <p:cNvPicPr>
            <a:picLocks noChangeAspect="1"/>
          </p:cNvPicPr>
          <p:nvPr/>
        </p:nvPicPr>
        <p:blipFill>
          <a:blip r:embed="rId4"/>
          <a:stretch>
            <a:fillRect/>
          </a:stretch>
        </p:blipFill>
        <p:spPr>
          <a:xfrm>
            <a:off x="3546499" y="4410796"/>
            <a:ext cx="5273040" cy="1888490"/>
          </a:xfrm>
          <a:prstGeom prst="rect">
            <a:avLst/>
          </a:prstGeom>
        </p:spPr>
      </p:pic>
    </p:spTree>
    <p:extLst>
      <p:ext uri="{BB962C8B-B14F-4D97-AF65-F5344CB8AC3E}">
        <p14:creationId xmlns:p14="http://schemas.microsoft.com/office/powerpoint/2010/main" val="2606909998"/>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34DA5-6430-0541-E9E5-F998CD6DDAB3}"/>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4C643E0F-12DC-1BCE-ADFA-03ACB475D2DA}"/>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4C8E4A43-3E07-F429-EB9F-F8C73D83A9ED}"/>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E82D4F96-2442-7A64-5E66-DB2F284A6320}"/>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B4344D4-CF1F-224E-AC1C-FEEF74EAADB5}"/>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A14BB99E-EFD3-A67A-6085-CA0C30540480}"/>
              </a:ext>
            </a:extLst>
          </p:cNvPr>
          <p:cNvSpPr txBox="1"/>
          <p:nvPr/>
        </p:nvSpPr>
        <p:spPr>
          <a:xfrm>
            <a:off x="1062314" y="1516492"/>
            <a:ext cx="11043716" cy="4801314"/>
          </a:xfrm>
          <a:prstGeom prst="rect">
            <a:avLst/>
          </a:prstGeom>
          <a:noFill/>
        </p:spPr>
        <p:txBody>
          <a:bodyPr wrap="square" rtlCol="0">
            <a:spAutoFit/>
          </a:bodyPr>
          <a:lstStyle/>
          <a:p>
            <a:r>
              <a:rPr lang="zh-CN" altLang="en-US" dirty="0"/>
              <a:t>标定与后处理：</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b="1" dirty="0"/>
              <a:t>相对分箱乘法标定</a:t>
            </a:r>
            <a:endParaRPr lang="en-US" altLang="zh-CN" b="1" dirty="0"/>
          </a:p>
          <a:p>
            <a:r>
              <a:rPr lang="en-US" altLang="zh-CN" dirty="0"/>
              <a:t>	</a:t>
            </a:r>
            <a:r>
              <a:rPr lang="zh-CN" altLang="zh-CN" dirty="0"/>
              <a:t>以原水浊度为分箱特征，自适应每箱乘法系数，统一处理</a:t>
            </a:r>
            <a:r>
              <a:rPr lang="en-US" altLang="zh-CN" dirty="0"/>
              <a:t>“</a:t>
            </a:r>
            <a:r>
              <a:rPr lang="zh-CN" altLang="zh-CN" dirty="0"/>
              <a:t>不同工况段的系统性偏差</a:t>
            </a:r>
            <a:r>
              <a:rPr lang="en-US" altLang="zh-CN" dirty="0"/>
              <a:t>”</a:t>
            </a:r>
            <a:r>
              <a:rPr lang="zh-CN" altLang="zh-CN" dirty="0"/>
              <a:t>。</a:t>
            </a:r>
          </a:p>
          <a:p>
            <a:pPr marL="285750" indent="-285750">
              <a:buFont typeface="Wingdings" panose="05000000000000000000" pitchFamily="2" charset="2"/>
              <a:buChar char="l"/>
            </a:pPr>
            <a:r>
              <a:rPr lang="zh-CN" altLang="zh-CN" dirty="0"/>
              <a:t>命中率导向二维标定</a:t>
            </a:r>
            <a:endParaRPr lang="en-US" altLang="zh-CN" dirty="0"/>
          </a:p>
          <a:p>
            <a:r>
              <a:rPr lang="en-US" altLang="zh-CN" dirty="0"/>
              <a:t>	</a:t>
            </a:r>
            <a:r>
              <a:rPr lang="zh-CN" altLang="zh-CN" dirty="0"/>
              <a:t>二维分箱（</a:t>
            </a:r>
            <a:r>
              <a:rPr lang="en-US" altLang="zh-CN" dirty="0" err="1"/>
              <a:t>raw_turbidity</a:t>
            </a:r>
            <a:r>
              <a:rPr lang="en-US" altLang="zh-CN" dirty="0"/>
              <a:t> × flow</a:t>
            </a:r>
            <a:r>
              <a:rPr lang="zh-CN" altLang="zh-CN" dirty="0"/>
              <a:t>），在每个工况格点上搜索乘法因子，使</a:t>
            </a:r>
            <a:r>
              <a:rPr lang="en-US" altLang="zh-CN" dirty="0"/>
              <a:t>±10%</a:t>
            </a:r>
            <a:r>
              <a:rPr lang="zh-CN" altLang="en-US" dirty="0"/>
              <a:t>准确率</a:t>
            </a:r>
            <a:r>
              <a:rPr lang="zh-CN" altLang="zh-CN" dirty="0"/>
              <a:t>在该格点最优</a:t>
            </a:r>
            <a:r>
              <a:rPr lang="zh-CN" altLang="en-US" dirty="0"/>
              <a:t>，</a:t>
            </a:r>
            <a:r>
              <a:rPr lang="zh-CN" altLang="zh-CN" dirty="0"/>
              <a:t>对小样本格点采用与全局折中（收缩）以防过拟合。</a:t>
            </a:r>
          </a:p>
          <a:p>
            <a:pPr marL="285750" indent="-285750">
              <a:buFont typeface="Wingdings" panose="05000000000000000000" pitchFamily="2" charset="2"/>
              <a:buChar char="l"/>
            </a:pPr>
            <a:r>
              <a:rPr lang="zh-CN" altLang="zh-CN" dirty="0"/>
              <a:t>残差乘法校准</a:t>
            </a:r>
          </a:p>
          <a:p>
            <a:r>
              <a:rPr lang="en-US" altLang="zh-CN" dirty="0"/>
              <a:t>	</a:t>
            </a:r>
            <a:r>
              <a:rPr lang="zh-CN" altLang="zh-CN" dirty="0"/>
              <a:t>用</a:t>
            </a:r>
            <a:r>
              <a:rPr lang="en-US" altLang="zh-CN" dirty="0"/>
              <a:t> GBDT </a:t>
            </a:r>
            <a:r>
              <a:rPr lang="zh-CN" altLang="zh-CN" dirty="0"/>
              <a:t>拟合</a:t>
            </a:r>
            <a:r>
              <a:rPr lang="en-US" altLang="zh-CN" dirty="0"/>
              <a:t> log((</a:t>
            </a:r>
            <a:r>
              <a:rPr lang="en-US" altLang="zh-CN" dirty="0" err="1"/>
              <a:t>y+ε</a:t>
            </a:r>
            <a:r>
              <a:rPr lang="en-US" altLang="zh-CN" dirty="0"/>
              <a:t>)/(</a:t>
            </a:r>
            <a:r>
              <a:rPr lang="en-US" altLang="zh-CN" dirty="0" err="1"/>
              <a:t>y_pred+ε</a:t>
            </a:r>
            <a:r>
              <a:rPr lang="en-US" altLang="zh-CN" dirty="0"/>
              <a:t>))</a:t>
            </a:r>
            <a:r>
              <a:rPr lang="zh-CN" altLang="zh-CN" dirty="0"/>
              <a:t>，学习</a:t>
            </a:r>
            <a:r>
              <a:rPr lang="en-US" altLang="zh-CN" dirty="0"/>
              <a:t>“</a:t>
            </a:r>
            <a:r>
              <a:rPr lang="zh-CN" altLang="zh-CN" dirty="0"/>
              <a:t>误差随工况的系统性形态</a:t>
            </a:r>
            <a:r>
              <a:rPr lang="en-US" altLang="zh-CN" dirty="0"/>
              <a:t>”</a:t>
            </a:r>
            <a:r>
              <a:rPr lang="zh-CN" altLang="zh-CN" dirty="0"/>
              <a:t>，输出乘法修正；</a:t>
            </a:r>
          </a:p>
          <a:p>
            <a:pPr marL="285750" indent="-285750">
              <a:buFont typeface="Wingdings" panose="05000000000000000000" pitchFamily="2" charset="2"/>
              <a:buChar char="l"/>
            </a:pPr>
            <a:r>
              <a:rPr lang="en-US" altLang="zh-CN" dirty="0"/>
              <a:t>OOF </a:t>
            </a:r>
            <a:r>
              <a:rPr lang="zh-CN" altLang="zh-CN" dirty="0"/>
              <a:t>等渗回归</a:t>
            </a:r>
            <a:endParaRPr lang="en-US" altLang="zh-CN" dirty="0"/>
          </a:p>
          <a:p>
            <a:r>
              <a:rPr lang="en-US" altLang="zh-CN" dirty="0"/>
              <a:t>	</a:t>
            </a:r>
            <a:r>
              <a:rPr lang="zh-CN" altLang="zh-CN" dirty="0"/>
              <a:t>用折外预测拟合等渗单调函数，保证</a:t>
            </a:r>
            <a:r>
              <a:rPr lang="en-US" altLang="zh-CN" dirty="0"/>
              <a:t>“</a:t>
            </a:r>
            <a:r>
              <a:rPr lang="zh-CN" altLang="zh-CN" dirty="0"/>
              <a:t>预测标度</a:t>
            </a:r>
            <a:r>
              <a:rPr lang="en-US" altLang="zh-CN" dirty="0"/>
              <a:t>”</a:t>
            </a:r>
            <a:r>
              <a:rPr lang="zh-CN" altLang="zh-CN" dirty="0"/>
              <a:t>与</a:t>
            </a:r>
            <a:r>
              <a:rPr lang="en-US" altLang="zh-CN" dirty="0"/>
              <a:t>“</a:t>
            </a:r>
            <a:r>
              <a:rPr lang="zh-CN" altLang="zh-CN" dirty="0"/>
              <a:t>真实标度</a:t>
            </a:r>
            <a:r>
              <a:rPr lang="en-US" altLang="zh-CN" dirty="0"/>
              <a:t>”</a:t>
            </a:r>
            <a:r>
              <a:rPr lang="zh-CN" altLang="zh-CN" dirty="0"/>
              <a:t>单调一致，提升整体校准度与阈值命中率。</a:t>
            </a:r>
          </a:p>
          <a:p>
            <a:pPr marL="285750" indent="-285750">
              <a:buFont typeface="Wingdings" panose="05000000000000000000" pitchFamily="2" charset="2"/>
              <a:buChar char="l"/>
            </a:pPr>
            <a:r>
              <a:rPr lang="zh-CN" altLang="zh-CN" dirty="0"/>
              <a:t>最终分段仿射微调</a:t>
            </a:r>
            <a:endParaRPr lang="en-US" altLang="zh-CN" dirty="0"/>
          </a:p>
          <a:p>
            <a:r>
              <a:rPr lang="en-US" altLang="zh-CN" dirty="0"/>
              <a:t>	</a:t>
            </a:r>
            <a:r>
              <a:rPr lang="zh-CN" altLang="zh-CN" dirty="0"/>
              <a:t>在预测值分位上做分段仿射，全局与局部结合：</a:t>
            </a:r>
            <a:br>
              <a:rPr lang="en-US" altLang="zh-CN" dirty="0"/>
            </a:br>
            <a:r>
              <a:rPr lang="en-US" altLang="zh-CN" dirty="0"/>
              <a:t>alpha </a:t>
            </a:r>
            <a:r>
              <a:rPr lang="zh-CN" altLang="zh-CN" dirty="0"/>
              <a:t>∈</a:t>
            </a:r>
            <a:r>
              <a:rPr lang="en-US" altLang="zh-CN" dirty="0"/>
              <a:t> [0.93, 1.11]</a:t>
            </a:r>
            <a:r>
              <a:rPr lang="zh-CN" altLang="zh-CN" dirty="0"/>
              <a:t>、</a:t>
            </a:r>
            <a:r>
              <a:rPr lang="en-US" altLang="zh-CN" dirty="0"/>
              <a:t>bias </a:t>
            </a:r>
            <a:r>
              <a:rPr lang="zh-CN" altLang="zh-CN" dirty="0"/>
              <a:t>∈</a:t>
            </a:r>
            <a:r>
              <a:rPr lang="en-US" altLang="zh-CN" dirty="0"/>
              <a:t> [-0.015, 0.018]</a:t>
            </a:r>
            <a:r>
              <a:rPr lang="zh-CN" altLang="zh-CN" dirty="0"/>
              <a:t>、</a:t>
            </a:r>
            <a:r>
              <a:rPr lang="en-US" altLang="zh-CN" dirty="0"/>
              <a:t>bins=8</a:t>
            </a:r>
            <a:r>
              <a:rPr lang="zh-CN" altLang="zh-CN" dirty="0"/>
              <a:t>、</a:t>
            </a:r>
            <a:r>
              <a:rPr lang="en-US" altLang="zh-CN" dirty="0" err="1"/>
              <a:t>shrink_lambda</a:t>
            </a:r>
            <a:r>
              <a:rPr lang="en-US" altLang="zh-CN" dirty="0"/>
              <a:t>=120</a:t>
            </a:r>
            <a:r>
              <a:rPr lang="zh-CN" altLang="zh-CN" dirty="0"/>
              <a:t>；</a:t>
            </a:r>
            <a:endParaRPr lang="en-US" altLang="zh-CN" dirty="0"/>
          </a:p>
          <a:p>
            <a:pPr marL="285750" indent="-285750">
              <a:buFont typeface="Wingdings" panose="05000000000000000000" pitchFamily="2" charset="2"/>
              <a:buChar char="l"/>
            </a:pPr>
            <a:endParaRPr lang="zh-CN" altLang="zh-CN" dirty="0"/>
          </a:p>
          <a:p>
            <a:r>
              <a:rPr lang="zh-CN" altLang="zh-CN" dirty="0"/>
              <a:t>以上逐级标定是</a:t>
            </a:r>
            <a:r>
              <a:rPr lang="en-US" altLang="zh-CN" dirty="0"/>
              <a:t> ±10%</a:t>
            </a:r>
            <a:r>
              <a:rPr lang="zh-CN" altLang="en-US" dirty="0"/>
              <a:t>准确率提升</a:t>
            </a:r>
            <a:r>
              <a:rPr lang="zh-CN" altLang="zh-CN" dirty="0"/>
              <a:t>的关键。与简单</a:t>
            </a:r>
            <a:r>
              <a:rPr lang="en-US" altLang="zh-CN" dirty="0"/>
              <a:t>“</a:t>
            </a:r>
            <a:r>
              <a:rPr lang="zh-CN" altLang="zh-CN" dirty="0"/>
              <a:t>点预测</a:t>
            </a:r>
            <a:r>
              <a:rPr lang="en-US" altLang="zh-CN" dirty="0"/>
              <a:t>”</a:t>
            </a:r>
            <a:r>
              <a:rPr lang="zh-CN" altLang="zh-CN" dirty="0"/>
              <a:t>相比，这条链路显著降低了在不同工况段的系统性偏差，从而把测试集</a:t>
            </a:r>
            <a:r>
              <a:rPr lang="en-US" altLang="zh-CN" dirty="0"/>
              <a:t> ±10%</a:t>
            </a:r>
            <a:r>
              <a:rPr lang="zh-CN" altLang="en-US" dirty="0"/>
              <a:t>准确率</a:t>
            </a:r>
            <a:r>
              <a:rPr lang="zh-CN" altLang="zh-CN" dirty="0"/>
              <a:t>稳定拉升至</a:t>
            </a:r>
            <a:r>
              <a:rPr lang="en-US" altLang="zh-CN" dirty="0"/>
              <a:t> ≈89.8%</a:t>
            </a:r>
            <a:r>
              <a:rPr lang="zh-CN" altLang="zh-CN" dirty="0"/>
              <a:t>。</a:t>
            </a:r>
          </a:p>
        </p:txBody>
      </p:sp>
    </p:spTree>
    <p:extLst>
      <p:ext uri="{BB962C8B-B14F-4D97-AF65-F5344CB8AC3E}">
        <p14:creationId xmlns:p14="http://schemas.microsoft.com/office/powerpoint/2010/main" val="1022820654"/>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680D3-1A69-DC03-0715-4AC74351311D}"/>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1F88E176-72BE-CA36-8B29-A14EDA7C06D8}"/>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7ED02BC3-443B-4FAD-C720-01D211F68F90}"/>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41</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E49397FE-D6ED-3094-E36A-75DE4D39D542}"/>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2E155A5-A930-A9E8-5E7E-7C1C9CC103F2}"/>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5C81335D-958F-5D1A-D072-D5274E2DF5D4}"/>
              </a:ext>
            </a:extLst>
          </p:cNvPr>
          <p:cNvSpPr txBox="1"/>
          <p:nvPr/>
        </p:nvSpPr>
        <p:spPr>
          <a:xfrm>
            <a:off x="1062314" y="1814612"/>
            <a:ext cx="10241409" cy="2585323"/>
          </a:xfrm>
          <a:prstGeom prst="rect">
            <a:avLst/>
          </a:prstGeom>
          <a:noFill/>
        </p:spPr>
        <p:txBody>
          <a:bodyPr wrap="square" rtlCol="0">
            <a:spAutoFit/>
          </a:bodyPr>
          <a:lstStyle/>
          <a:p>
            <a:r>
              <a:rPr lang="zh-CN" altLang="en-US" dirty="0"/>
              <a:t>区间与决策支持：</a:t>
            </a:r>
            <a:endParaRPr lang="en-US" altLang="zh-CN" dirty="0"/>
          </a:p>
          <a:p>
            <a:endParaRPr lang="en-US" altLang="zh-CN" dirty="0"/>
          </a:p>
          <a:p>
            <a:pPr marL="285750" indent="-285750">
              <a:buFont typeface="Wingdings" panose="05000000000000000000" pitchFamily="2" charset="2"/>
              <a:buChar char="l"/>
            </a:pPr>
            <a:r>
              <a:rPr lang="zh-CN" altLang="zh-CN" dirty="0"/>
              <a:t>分位回归区间（</a:t>
            </a:r>
            <a:r>
              <a:rPr lang="en-US" altLang="zh-CN" dirty="0"/>
              <a:t>5%–95%</a:t>
            </a:r>
            <a:r>
              <a:rPr lang="zh-CN" altLang="zh-CN" dirty="0"/>
              <a:t>）</a:t>
            </a:r>
          </a:p>
          <a:p>
            <a:r>
              <a:rPr lang="en-US" altLang="zh-CN" dirty="0"/>
              <a:t>	</a:t>
            </a:r>
            <a:r>
              <a:rPr lang="zh-CN" altLang="zh-CN" dirty="0"/>
              <a:t>采用</a:t>
            </a:r>
            <a:r>
              <a:rPr lang="en-US" altLang="zh-CN" dirty="0"/>
              <a:t> </a:t>
            </a:r>
            <a:r>
              <a:rPr lang="en-US" altLang="zh-CN" dirty="0" err="1"/>
              <a:t>GradientBoostingRegressor</a:t>
            </a:r>
            <a:r>
              <a:rPr lang="en-US" altLang="zh-CN" dirty="0"/>
              <a:t>(loss=“quantile”) </a:t>
            </a:r>
            <a:r>
              <a:rPr lang="zh-CN" altLang="zh-CN" dirty="0"/>
              <a:t>训练上下分位，测试集区间覆盖率</a:t>
            </a:r>
            <a:r>
              <a:rPr lang="en-US" altLang="zh-CN" dirty="0"/>
              <a:t> ≈0.882</a:t>
            </a:r>
            <a:r>
              <a:rPr lang="zh-CN" altLang="en-US" dirty="0"/>
              <a:t>。</a:t>
            </a:r>
            <a:r>
              <a:rPr lang="zh-CN" altLang="zh-CN" dirty="0"/>
              <a:t>基于区间的达标概率估计（如</a:t>
            </a:r>
            <a:r>
              <a:rPr lang="en-US" altLang="zh-CN" dirty="0"/>
              <a:t> P(y≤0.20NTU)</a:t>
            </a:r>
            <a:r>
              <a:rPr lang="zh-CN" altLang="zh-CN" dirty="0"/>
              <a:t>）用于运行策略与风控提示。</a:t>
            </a:r>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剂量</a:t>
            </a:r>
            <a:r>
              <a:rPr lang="en-US" altLang="zh-CN" dirty="0"/>
              <a:t>-</a:t>
            </a:r>
            <a:r>
              <a:rPr lang="zh-CN" altLang="zh-CN" dirty="0"/>
              <a:t>响应单调修正与网格搜索</a:t>
            </a:r>
            <a:endParaRPr lang="en-US" altLang="zh-CN" dirty="0"/>
          </a:p>
          <a:p>
            <a:r>
              <a:rPr lang="en-US" altLang="zh-CN" dirty="0"/>
              <a:t>	</a:t>
            </a:r>
            <a:r>
              <a:rPr lang="zh-CN" altLang="zh-CN" dirty="0"/>
              <a:t>在固定工况下以</a:t>
            </a:r>
            <a:r>
              <a:rPr lang="en-US" altLang="zh-CN" dirty="0"/>
              <a:t> PAC </a:t>
            </a:r>
            <a:r>
              <a:rPr lang="zh-CN" altLang="zh-CN" dirty="0"/>
              <a:t>为自变量生成响应曲线，并强制单调递减，避免噪声导致的</a:t>
            </a:r>
            <a:r>
              <a:rPr lang="en-US" altLang="zh-CN" dirty="0"/>
              <a:t>“</a:t>
            </a:r>
            <a:r>
              <a:rPr lang="zh-CN" altLang="zh-CN" dirty="0"/>
              <a:t>反直觉</a:t>
            </a:r>
            <a:r>
              <a:rPr lang="en-US" altLang="zh-CN" dirty="0"/>
              <a:t>”</a:t>
            </a:r>
            <a:r>
              <a:rPr lang="zh-CN" altLang="zh-CN" dirty="0"/>
              <a:t>搜索结果；在典型运行中得到误差最小</a:t>
            </a:r>
            <a:r>
              <a:rPr lang="en-US" altLang="zh-CN" dirty="0"/>
              <a:t> PAC</a:t>
            </a:r>
            <a:r>
              <a:rPr lang="zh-CN" altLang="zh-CN" dirty="0"/>
              <a:t>与最小能达标</a:t>
            </a:r>
            <a:r>
              <a:rPr lang="en-US" altLang="zh-CN" dirty="0"/>
              <a:t> PAC</a:t>
            </a:r>
            <a:r>
              <a:rPr lang="zh-CN" altLang="zh-CN" dirty="0"/>
              <a:t>。</a:t>
            </a:r>
          </a:p>
        </p:txBody>
      </p:sp>
      <p:sp>
        <p:nvSpPr>
          <p:cNvPr id="5" name="文本框 4">
            <a:extLst>
              <a:ext uri="{FF2B5EF4-FFF2-40B4-BE49-F238E27FC236}">
                <a16:creationId xmlns:a16="http://schemas.microsoft.com/office/drawing/2014/main" id="{DF620616-5D02-F88F-58CE-CE53AA42892F}"/>
              </a:ext>
            </a:extLst>
          </p:cNvPr>
          <p:cNvSpPr txBox="1"/>
          <p:nvPr/>
        </p:nvSpPr>
        <p:spPr>
          <a:xfrm>
            <a:off x="5579638" y="5503532"/>
            <a:ext cx="1206759" cy="369332"/>
          </a:xfrm>
          <a:prstGeom prst="rect">
            <a:avLst/>
          </a:prstGeom>
          <a:noFill/>
        </p:spPr>
        <p:txBody>
          <a:bodyPr wrap="square" rtlCol="0">
            <a:spAutoFit/>
          </a:bodyPr>
          <a:lstStyle/>
          <a:p>
            <a:r>
              <a:rPr lang="zh-CN" altLang="en-US" dirty="0"/>
              <a:t>区间预测</a:t>
            </a:r>
          </a:p>
        </p:txBody>
      </p:sp>
      <p:pic>
        <p:nvPicPr>
          <p:cNvPr id="2" name="图片 1" descr="区间预测">
            <a:extLst>
              <a:ext uri="{FF2B5EF4-FFF2-40B4-BE49-F238E27FC236}">
                <a16:creationId xmlns:a16="http://schemas.microsoft.com/office/drawing/2014/main" id="{9E4213E3-1EA6-E38D-6D3A-566A0AEB4353}"/>
              </a:ext>
            </a:extLst>
          </p:cNvPr>
          <p:cNvPicPr>
            <a:picLocks noChangeAspect="1"/>
          </p:cNvPicPr>
          <p:nvPr/>
        </p:nvPicPr>
        <p:blipFill>
          <a:blip r:embed="rId4"/>
          <a:stretch>
            <a:fillRect/>
          </a:stretch>
        </p:blipFill>
        <p:spPr>
          <a:xfrm>
            <a:off x="2155103" y="4592778"/>
            <a:ext cx="7881794" cy="686819"/>
          </a:xfrm>
          <a:prstGeom prst="rect">
            <a:avLst/>
          </a:prstGeom>
        </p:spPr>
      </p:pic>
    </p:spTree>
    <p:extLst>
      <p:ext uri="{BB962C8B-B14F-4D97-AF65-F5344CB8AC3E}">
        <p14:creationId xmlns:p14="http://schemas.microsoft.com/office/powerpoint/2010/main" val="310574171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F4101-B185-9F94-29DC-5E7C55F3DE8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AD130012-7F7B-A772-5372-109C2BAE039A}"/>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58F0470D-E60F-26DF-6BCA-AEDFABFA566B}"/>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DC55F03D-A0CF-FDC4-B769-8D6157BC561F}"/>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4BCF89C-50CC-05AD-46D8-FC15B1783910}"/>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AC374499-29F0-F199-28D0-68224BBE54B5}"/>
              </a:ext>
            </a:extLst>
          </p:cNvPr>
          <p:cNvSpPr txBox="1"/>
          <p:nvPr/>
        </p:nvSpPr>
        <p:spPr>
          <a:xfrm>
            <a:off x="1035698" y="1903445"/>
            <a:ext cx="2202024" cy="369332"/>
          </a:xfrm>
          <a:prstGeom prst="rect">
            <a:avLst/>
          </a:prstGeom>
          <a:noFill/>
        </p:spPr>
        <p:txBody>
          <a:bodyPr wrap="square" rtlCol="0">
            <a:spAutoFit/>
          </a:bodyPr>
          <a:lstStyle/>
          <a:p>
            <a:r>
              <a:rPr lang="zh-CN" altLang="en-US" dirty="0"/>
              <a:t>优化指标对比：</a:t>
            </a:r>
          </a:p>
        </p:txBody>
      </p:sp>
      <p:graphicFrame>
        <p:nvGraphicFramePr>
          <p:cNvPr id="7" name="表格 6">
            <a:extLst>
              <a:ext uri="{FF2B5EF4-FFF2-40B4-BE49-F238E27FC236}">
                <a16:creationId xmlns:a16="http://schemas.microsoft.com/office/drawing/2014/main" id="{FAD90DF7-4CE3-7143-76C9-CEAF4794D0F5}"/>
              </a:ext>
            </a:extLst>
          </p:cNvPr>
          <p:cNvGraphicFramePr>
            <a:graphicFrameLocks noGrp="1"/>
          </p:cNvGraphicFramePr>
          <p:nvPr>
            <p:extLst>
              <p:ext uri="{D42A27DB-BD31-4B8C-83A1-F6EECF244321}">
                <p14:modId xmlns:p14="http://schemas.microsoft.com/office/powerpoint/2010/main" val="742897974"/>
              </p:ext>
            </p:extLst>
          </p:nvPr>
        </p:nvGraphicFramePr>
        <p:xfrm>
          <a:off x="2071395" y="2457699"/>
          <a:ext cx="8294915" cy="2247900"/>
        </p:xfrm>
        <a:graphic>
          <a:graphicData uri="http://schemas.openxmlformats.org/drawingml/2006/table">
            <a:tbl>
              <a:tblPr firstRow="1" firstCol="1" bandRow="1">
                <a:tableStyleId>{5C22544A-7EE6-4342-B048-85BDC9FD1C3A}</a:tableStyleId>
              </a:tblPr>
              <a:tblGrid>
                <a:gridCol w="1595536">
                  <a:extLst>
                    <a:ext uri="{9D8B030D-6E8A-4147-A177-3AD203B41FA5}">
                      <a16:colId xmlns:a16="http://schemas.microsoft.com/office/drawing/2014/main" val="302841294"/>
                    </a:ext>
                  </a:extLst>
                </a:gridCol>
                <a:gridCol w="1651518">
                  <a:extLst>
                    <a:ext uri="{9D8B030D-6E8A-4147-A177-3AD203B41FA5}">
                      <a16:colId xmlns:a16="http://schemas.microsoft.com/office/drawing/2014/main" val="509300528"/>
                    </a:ext>
                  </a:extLst>
                </a:gridCol>
                <a:gridCol w="1110343">
                  <a:extLst>
                    <a:ext uri="{9D8B030D-6E8A-4147-A177-3AD203B41FA5}">
                      <a16:colId xmlns:a16="http://schemas.microsoft.com/office/drawing/2014/main" val="1721494031"/>
                    </a:ext>
                  </a:extLst>
                </a:gridCol>
                <a:gridCol w="1511559">
                  <a:extLst>
                    <a:ext uri="{9D8B030D-6E8A-4147-A177-3AD203B41FA5}">
                      <a16:colId xmlns:a16="http://schemas.microsoft.com/office/drawing/2014/main" val="2716957139"/>
                    </a:ext>
                  </a:extLst>
                </a:gridCol>
                <a:gridCol w="2425959">
                  <a:extLst>
                    <a:ext uri="{9D8B030D-6E8A-4147-A177-3AD203B41FA5}">
                      <a16:colId xmlns:a16="http://schemas.microsoft.com/office/drawing/2014/main" val="3656029496"/>
                    </a:ext>
                  </a:extLst>
                </a:gridCol>
              </a:tblGrid>
              <a:tr h="0">
                <a:tc>
                  <a:txBody>
                    <a:bodyPr/>
                    <a:lstStyle/>
                    <a:p>
                      <a:pPr algn="ctr">
                        <a:lnSpc>
                          <a:spcPts val="2100"/>
                        </a:lnSpc>
                        <a:buNone/>
                      </a:pPr>
                      <a:r>
                        <a:rPr lang="zh-CN" sz="1800" kern="0" dirty="0">
                          <a:effectLst/>
                        </a:rPr>
                        <a:t>版本</a:t>
                      </a:r>
                      <a:r>
                        <a:rPr lang="en-US" sz="1800" kern="0" dirty="0">
                          <a:effectLst/>
                        </a:rPr>
                        <a:t> / </a:t>
                      </a:r>
                      <a:r>
                        <a:rPr lang="zh-CN" sz="1800" kern="0" dirty="0">
                          <a:effectLst/>
                        </a:rPr>
                        <a:t>回合</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测试集</a:t>
                      </a:r>
                      <a:r>
                        <a:rPr lang="en-US" sz="1800" kern="0" dirty="0">
                          <a:effectLst/>
                        </a:rPr>
                        <a:t> </a:t>
                      </a:r>
                      <a:r>
                        <a:rPr lang="en-US" altLang="zh-CN" sz="1800" kern="0" dirty="0">
                          <a:effectLst/>
                        </a:rPr>
                        <a:t>±10%</a:t>
                      </a:r>
                      <a:r>
                        <a:rPr lang="zh-CN" altLang="en-US" sz="1800" kern="0" dirty="0">
                          <a:effectLst/>
                        </a:rPr>
                        <a:t>准确率</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测试集</a:t>
                      </a:r>
                      <a:r>
                        <a:rPr lang="en-US" sz="1800" kern="0" dirty="0">
                          <a:effectLst/>
                        </a:rPr>
                        <a:t> R²</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测试集</a:t>
                      </a:r>
                      <a:r>
                        <a:rPr lang="en-US" sz="1800" kern="0" dirty="0">
                          <a:effectLst/>
                        </a:rPr>
                        <a:t> MAE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zh-CN" sz="1800" kern="0" dirty="0">
                          <a:effectLst/>
                        </a:rPr>
                        <a:t>区间覆盖率</a:t>
                      </a:r>
                      <a:r>
                        <a:rPr lang="en-US" sz="1800" kern="0" dirty="0">
                          <a:effectLst/>
                        </a:rPr>
                        <a:t> (5–95%)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3024265707"/>
                  </a:ext>
                </a:extLst>
              </a:tr>
              <a:tr h="0">
                <a:tc>
                  <a:txBody>
                    <a:bodyPr/>
                    <a:lstStyle/>
                    <a:p>
                      <a:pPr algn="ctr">
                        <a:lnSpc>
                          <a:spcPts val="2100"/>
                        </a:lnSpc>
                        <a:buNone/>
                      </a:pPr>
                      <a:r>
                        <a:rPr lang="zh-CN" sz="1800" kern="0">
                          <a:effectLst/>
                        </a:rPr>
                        <a:t>早期基线</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87.65%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100" dirty="0">
                          <a:effectLst/>
                        </a:rPr>
                        <a:t>0.7962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100">
                          <a:effectLst/>
                        </a:rPr>
                        <a:t>0.0115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100">
                          <a:effectLst/>
                        </a:rPr>
                        <a:t>0.826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749052431"/>
                  </a:ext>
                </a:extLst>
              </a:tr>
              <a:tr h="0">
                <a:tc>
                  <a:txBody>
                    <a:bodyPr/>
                    <a:lstStyle/>
                    <a:p>
                      <a:pPr algn="ctr">
                        <a:lnSpc>
                          <a:spcPts val="2100"/>
                        </a:lnSpc>
                        <a:buNone/>
                      </a:pPr>
                      <a:r>
                        <a:rPr lang="zh-CN" sz="1800" kern="0">
                          <a:effectLst/>
                        </a:rPr>
                        <a:t>稳定版</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89.81%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0.8040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0.0109</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0.882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948286427"/>
                  </a:ext>
                </a:extLst>
              </a:tr>
              <a:tr h="0">
                <a:tc>
                  <a:txBody>
                    <a:bodyPr/>
                    <a:lstStyle/>
                    <a:p>
                      <a:pPr algn="ctr">
                        <a:lnSpc>
                          <a:spcPts val="2100"/>
                        </a:lnSpc>
                        <a:buNone/>
                      </a:pPr>
                      <a:r>
                        <a:rPr lang="zh-CN" sz="1800" kern="0">
                          <a:effectLst/>
                        </a:rPr>
                        <a:t>复现实验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89.65%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0.8168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a:effectLst/>
                        </a:rPr>
                        <a:t>0.0107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tc>
                  <a:txBody>
                    <a:bodyPr/>
                    <a:lstStyle/>
                    <a:p>
                      <a:pPr algn="ctr">
                        <a:lnSpc>
                          <a:spcPts val="2100"/>
                        </a:lnSpc>
                        <a:buNone/>
                      </a:pPr>
                      <a:r>
                        <a:rPr lang="en-US" sz="1800" kern="0" dirty="0">
                          <a:effectLst/>
                        </a:rPr>
                        <a:t>0.882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905372460"/>
                  </a:ext>
                </a:extLst>
              </a:tr>
            </a:tbl>
          </a:graphicData>
        </a:graphic>
      </p:graphicFrame>
      <p:sp>
        <p:nvSpPr>
          <p:cNvPr id="8" name="文本框 7">
            <a:extLst>
              <a:ext uri="{FF2B5EF4-FFF2-40B4-BE49-F238E27FC236}">
                <a16:creationId xmlns:a16="http://schemas.microsoft.com/office/drawing/2014/main" id="{FE4C6EDB-6513-08C6-D422-FDFB7CC73B08}"/>
              </a:ext>
            </a:extLst>
          </p:cNvPr>
          <p:cNvSpPr txBox="1"/>
          <p:nvPr/>
        </p:nvSpPr>
        <p:spPr>
          <a:xfrm>
            <a:off x="2475723" y="5205995"/>
            <a:ext cx="7601339" cy="646331"/>
          </a:xfrm>
          <a:prstGeom prst="rect">
            <a:avLst/>
          </a:prstGeom>
          <a:noFill/>
        </p:spPr>
        <p:txBody>
          <a:bodyPr wrap="square" rtlCol="0">
            <a:spAutoFit/>
          </a:bodyPr>
          <a:lstStyle/>
          <a:p>
            <a:pPr marL="285750" lvl="0" indent="-285750" fontAlgn="base">
              <a:buFont typeface="Wingdings" panose="05000000000000000000" pitchFamily="2" charset="2"/>
              <a:buChar char="l"/>
            </a:pPr>
            <a:r>
              <a:rPr lang="zh-CN" altLang="zh-CN" dirty="0">
                <a:effectLst>
                  <a:glow>
                    <a:srgbClr val="000000"/>
                  </a:glow>
                  <a:outerShdw sx="0" sy="0">
                    <a:srgbClr val="000000"/>
                  </a:outerShdw>
                  <a:reflection stA="0" endPos="0" fadeDir="0" sx="0" sy="0"/>
                </a:effectLst>
              </a:rPr>
              <a:t>多次复现实验在</a:t>
            </a:r>
            <a:r>
              <a:rPr lang="en-US" altLang="zh-CN" dirty="0">
                <a:effectLst>
                  <a:glow>
                    <a:srgbClr val="000000"/>
                  </a:glow>
                  <a:outerShdw sx="0" sy="0">
                    <a:srgbClr val="000000"/>
                  </a:outerShdw>
                  <a:reflection stA="0" endPos="0" fadeDir="0" sx="0" sy="0"/>
                </a:effectLst>
              </a:rPr>
              <a:t> 89.65%–89.81% </a:t>
            </a:r>
            <a:r>
              <a:rPr lang="zh-CN" altLang="zh-CN" dirty="0">
                <a:effectLst>
                  <a:glow>
                    <a:srgbClr val="000000"/>
                  </a:glow>
                  <a:outerShdw sx="0" sy="0">
                    <a:srgbClr val="000000"/>
                  </a:outerShdw>
                  <a:reflection stA="0" endPos="0" fadeDir="0" sx="0" sy="0"/>
                </a:effectLst>
              </a:rPr>
              <a:t>间轻微抖动，属于随机种子与抽样带来的正常浮动；整体能力稳定在</a:t>
            </a:r>
            <a:r>
              <a:rPr lang="en-US" altLang="zh-CN" dirty="0">
                <a:effectLst>
                  <a:glow>
                    <a:srgbClr val="000000"/>
                  </a:glow>
                  <a:outerShdw sx="0" sy="0">
                    <a:srgbClr val="000000"/>
                  </a:outerShdw>
                  <a:reflection stA="0" endPos="0" fadeDir="0" sx="0" sy="0"/>
                </a:effectLst>
              </a:rPr>
              <a:t> ≈89.8% </a:t>
            </a:r>
            <a:r>
              <a:rPr lang="zh-CN" altLang="zh-CN" dirty="0">
                <a:effectLst>
                  <a:glow>
                    <a:srgbClr val="000000"/>
                  </a:glow>
                  <a:outerShdw sx="0" sy="0">
                    <a:srgbClr val="000000"/>
                  </a:outerShdw>
                  <a:reflection stA="0" endPos="0" fadeDir="0" sx="0" sy="0"/>
                </a:effectLst>
              </a:rPr>
              <a:t>档位。</a:t>
            </a:r>
          </a:p>
        </p:txBody>
      </p:sp>
    </p:spTree>
    <p:extLst>
      <p:ext uri="{BB962C8B-B14F-4D97-AF65-F5344CB8AC3E}">
        <p14:creationId xmlns:p14="http://schemas.microsoft.com/office/powerpoint/2010/main" val="1886607649"/>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DF736-0868-E8D6-0ED7-3B91892A46F0}"/>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097DE969-F62A-B3D7-77D9-1CAB7A91DEFC}"/>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66252373-E0C0-1210-5670-A91FA0E46432}"/>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43</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B08AC0C8-9B0C-90B0-EA1A-AEAEB26B4D7C}"/>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6AC6B48-DC7E-7451-011C-36C7DED595A3}"/>
              </a:ext>
            </a:extLst>
          </p:cNvPr>
          <p:cNvSpPr txBox="1"/>
          <p:nvPr/>
        </p:nvSpPr>
        <p:spPr>
          <a:xfrm>
            <a:off x="694166" y="859106"/>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pic>
        <p:nvPicPr>
          <p:cNvPr id="2" name="图片 1" descr="prediction_vs_true_rel10pct_zoomx4">
            <a:extLst>
              <a:ext uri="{FF2B5EF4-FFF2-40B4-BE49-F238E27FC236}">
                <a16:creationId xmlns:a16="http://schemas.microsoft.com/office/drawing/2014/main" id="{65DB0D6F-E5C7-F593-F241-A3C244B6F639}"/>
              </a:ext>
            </a:extLst>
          </p:cNvPr>
          <p:cNvPicPr>
            <a:picLocks noChangeAspect="1"/>
          </p:cNvPicPr>
          <p:nvPr/>
        </p:nvPicPr>
        <p:blipFill>
          <a:blip r:embed="rId4"/>
          <a:stretch>
            <a:fillRect/>
          </a:stretch>
        </p:blipFill>
        <p:spPr>
          <a:xfrm>
            <a:off x="1248992" y="1181561"/>
            <a:ext cx="8550924" cy="3664976"/>
          </a:xfrm>
          <a:prstGeom prst="rect">
            <a:avLst/>
          </a:prstGeom>
        </p:spPr>
      </p:pic>
      <p:sp>
        <p:nvSpPr>
          <p:cNvPr id="3" name="文本框 2">
            <a:extLst>
              <a:ext uri="{FF2B5EF4-FFF2-40B4-BE49-F238E27FC236}">
                <a16:creationId xmlns:a16="http://schemas.microsoft.com/office/drawing/2014/main" id="{E7AFE612-E013-2A46-7E7F-5B120BDF939E}"/>
              </a:ext>
            </a:extLst>
          </p:cNvPr>
          <p:cNvSpPr txBox="1"/>
          <p:nvPr/>
        </p:nvSpPr>
        <p:spPr>
          <a:xfrm>
            <a:off x="3613325" y="4868467"/>
            <a:ext cx="4086808" cy="369332"/>
          </a:xfrm>
          <a:prstGeom prst="rect">
            <a:avLst/>
          </a:prstGeom>
          <a:noFill/>
        </p:spPr>
        <p:txBody>
          <a:bodyPr wrap="square" rtlCol="0">
            <a:spAutoFit/>
          </a:bodyPr>
          <a:lstStyle/>
          <a:p>
            <a:r>
              <a:rPr lang="zh-CN" altLang="en-US" dirty="0"/>
              <a:t>前向模型真实出水浊度与预测浊度对比</a:t>
            </a:r>
          </a:p>
        </p:txBody>
      </p:sp>
      <p:sp>
        <p:nvSpPr>
          <p:cNvPr id="4" name="文本框 3">
            <a:extLst>
              <a:ext uri="{FF2B5EF4-FFF2-40B4-BE49-F238E27FC236}">
                <a16:creationId xmlns:a16="http://schemas.microsoft.com/office/drawing/2014/main" id="{31B88312-1D5B-EF56-8560-36D009B37548}"/>
              </a:ext>
            </a:extLst>
          </p:cNvPr>
          <p:cNvSpPr txBox="1"/>
          <p:nvPr/>
        </p:nvSpPr>
        <p:spPr>
          <a:xfrm>
            <a:off x="1709880" y="5491773"/>
            <a:ext cx="7893698"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给出了预测出水浊度与真实出水浊度的浮动大小，基本控制在</a:t>
            </a:r>
            <a:r>
              <a:rPr lang="en-US" altLang="zh-CN" dirty="0"/>
              <a:t>±10%</a:t>
            </a:r>
            <a:r>
              <a:rPr lang="zh-CN" altLang="en-US" dirty="0"/>
              <a:t>区间内。</a:t>
            </a:r>
          </a:p>
        </p:txBody>
      </p:sp>
    </p:spTree>
    <p:extLst>
      <p:ext uri="{BB962C8B-B14F-4D97-AF65-F5344CB8AC3E}">
        <p14:creationId xmlns:p14="http://schemas.microsoft.com/office/powerpoint/2010/main" val="4093667612"/>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6064-8F0A-ACDB-BB2B-D85F49BE1BFF}"/>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1C2DC647-C8AF-3914-EF85-A86B9390AE4A}"/>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035783F6-2900-D40B-E25D-731D129538B2}"/>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BA78B3F3-AADE-CC16-80CF-06B8EE35B5C1}"/>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90AB2E6-BA6B-8940-AB5A-187C7CAA8C83}"/>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混凝智能投药模型优化</a:t>
            </a:r>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3104C2F2-EB65-426E-2CA4-52B39B3FC5B0}"/>
              </a:ext>
            </a:extLst>
          </p:cNvPr>
          <p:cNvSpPr txBox="1"/>
          <p:nvPr/>
        </p:nvSpPr>
        <p:spPr>
          <a:xfrm>
            <a:off x="3861347" y="5320387"/>
            <a:ext cx="4086808" cy="369332"/>
          </a:xfrm>
          <a:prstGeom prst="rect">
            <a:avLst/>
          </a:prstGeom>
          <a:noFill/>
        </p:spPr>
        <p:txBody>
          <a:bodyPr wrap="square" rtlCol="0">
            <a:spAutoFit/>
          </a:bodyPr>
          <a:lstStyle/>
          <a:p>
            <a:r>
              <a:rPr lang="zh-CN" altLang="en-US" dirty="0"/>
              <a:t>反向模型真实</a:t>
            </a:r>
            <a:r>
              <a:rPr lang="en-US" altLang="zh-CN" dirty="0"/>
              <a:t>PAC</a:t>
            </a:r>
            <a:r>
              <a:rPr lang="zh-CN" altLang="en-US" dirty="0"/>
              <a:t>与预测</a:t>
            </a:r>
            <a:r>
              <a:rPr lang="en-US" altLang="zh-CN" dirty="0"/>
              <a:t>PAC</a:t>
            </a:r>
            <a:r>
              <a:rPr lang="zh-CN" altLang="en-US" dirty="0"/>
              <a:t>对比</a:t>
            </a:r>
          </a:p>
        </p:txBody>
      </p:sp>
      <p:pic>
        <p:nvPicPr>
          <p:cNvPr id="4" name="图片 3" descr="inverse_pac_vs_true_rel10pct_zoomx4">
            <a:extLst>
              <a:ext uri="{FF2B5EF4-FFF2-40B4-BE49-F238E27FC236}">
                <a16:creationId xmlns:a16="http://schemas.microsoft.com/office/drawing/2014/main" id="{FB1E332E-5F26-81C0-CA95-B936E2B1153A}"/>
              </a:ext>
            </a:extLst>
          </p:cNvPr>
          <p:cNvPicPr>
            <a:picLocks noChangeAspect="1"/>
          </p:cNvPicPr>
          <p:nvPr/>
        </p:nvPicPr>
        <p:blipFill>
          <a:blip r:embed="rId4"/>
          <a:stretch>
            <a:fillRect/>
          </a:stretch>
        </p:blipFill>
        <p:spPr>
          <a:xfrm>
            <a:off x="1723112" y="1731110"/>
            <a:ext cx="8363279" cy="3584550"/>
          </a:xfrm>
          <a:prstGeom prst="rect">
            <a:avLst/>
          </a:prstGeom>
        </p:spPr>
      </p:pic>
      <p:sp>
        <p:nvSpPr>
          <p:cNvPr id="2" name="文本框 1">
            <a:extLst>
              <a:ext uri="{FF2B5EF4-FFF2-40B4-BE49-F238E27FC236}">
                <a16:creationId xmlns:a16="http://schemas.microsoft.com/office/drawing/2014/main" id="{5D183D64-7F32-7613-3A41-29C1A5C31502}"/>
              </a:ext>
            </a:extLst>
          </p:cNvPr>
          <p:cNvSpPr txBox="1"/>
          <p:nvPr/>
        </p:nvSpPr>
        <p:spPr>
          <a:xfrm>
            <a:off x="2588279" y="5878489"/>
            <a:ext cx="6639697" cy="64633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通过真实</a:t>
            </a:r>
            <a:r>
              <a:rPr lang="en-US" altLang="zh-CN" dirty="0"/>
              <a:t>PAC</a:t>
            </a:r>
            <a:r>
              <a:rPr lang="zh-CN" altLang="en-US" dirty="0"/>
              <a:t>与预测</a:t>
            </a:r>
            <a:r>
              <a:rPr lang="en-US" altLang="zh-CN" dirty="0"/>
              <a:t>PAC</a:t>
            </a:r>
            <a:r>
              <a:rPr lang="zh-CN" altLang="en-US" dirty="0"/>
              <a:t>的对比展现出模型优化过后预测的真实情况，同时给出预测区间来给药耗降低提供支撑。</a:t>
            </a:r>
          </a:p>
        </p:txBody>
      </p:sp>
    </p:spTree>
    <p:extLst>
      <p:ext uri="{BB962C8B-B14F-4D97-AF65-F5344CB8AC3E}">
        <p14:creationId xmlns:p14="http://schemas.microsoft.com/office/powerpoint/2010/main" val="98996139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052-5CAE-D37F-A44C-76B47827EB5C}"/>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9A90A75D-4495-132D-78B4-653CB8AE0380}"/>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D0842591-66C3-F3BC-3327-3D31A9FBDB43}"/>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878E9C0A-4AD1-03CD-91E6-D24738E1C721}"/>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A09259A-E761-1C73-77E6-7B0F355F9EB8}"/>
              </a:ext>
            </a:extLst>
          </p:cNvPr>
          <p:cNvSpPr txBox="1"/>
          <p:nvPr/>
        </p:nvSpPr>
        <p:spPr>
          <a:xfrm>
            <a:off x="538778" y="845115"/>
            <a:ext cx="4629527" cy="646331"/>
          </a:xfrm>
          <a:prstGeom prst="rect">
            <a:avLst/>
          </a:prstGeom>
          <a:noFill/>
        </p:spPr>
        <p:txBody>
          <a:bodyPr wrap="square" rtlCol="0">
            <a:spAutoFit/>
          </a:bodyPr>
          <a:lstStyle/>
          <a:p>
            <a:r>
              <a:rPr lang="zh-CN" altLang="zh-CN" b="1" dirty="0"/>
              <a:t>混凝智能投药模型</a:t>
            </a:r>
            <a:r>
              <a:rPr lang="zh-CN" altLang="en-US" b="1" dirty="0"/>
              <a:t>集成平台</a:t>
            </a:r>
            <a:endParaRPr lang="zh-CN" altLang="zh-CN" b="1" dirty="0"/>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8324A09B-F171-A3A0-B57C-33A643657199}"/>
              </a:ext>
            </a:extLst>
          </p:cNvPr>
          <p:cNvSpPr txBox="1"/>
          <p:nvPr/>
        </p:nvSpPr>
        <p:spPr>
          <a:xfrm>
            <a:off x="2285417" y="4877071"/>
            <a:ext cx="2659224" cy="369332"/>
          </a:xfrm>
          <a:prstGeom prst="rect">
            <a:avLst/>
          </a:prstGeom>
          <a:noFill/>
        </p:spPr>
        <p:txBody>
          <a:bodyPr wrap="square" rtlCol="0">
            <a:spAutoFit/>
          </a:bodyPr>
          <a:lstStyle/>
          <a:p>
            <a:r>
              <a:rPr lang="zh-CN" altLang="en-US" dirty="0"/>
              <a:t>模型层</a:t>
            </a:r>
            <a:r>
              <a:rPr lang="en-US" altLang="zh-CN" dirty="0"/>
              <a:t>—</a:t>
            </a:r>
            <a:r>
              <a:rPr lang="zh-CN" altLang="en-US" dirty="0"/>
              <a:t>数据层</a:t>
            </a:r>
            <a:r>
              <a:rPr lang="en-US" altLang="zh-CN" dirty="0"/>
              <a:t>—</a:t>
            </a:r>
            <a:r>
              <a:rPr lang="zh-CN" altLang="en-US" dirty="0"/>
              <a:t>交互层</a:t>
            </a:r>
          </a:p>
        </p:txBody>
      </p:sp>
      <p:pic>
        <p:nvPicPr>
          <p:cNvPr id="2" name="图片 1" descr="1">
            <a:extLst>
              <a:ext uri="{FF2B5EF4-FFF2-40B4-BE49-F238E27FC236}">
                <a16:creationId xmlns:a16="http://schemas.microsoft.com/office/drawing/2014/main" id="{1BC0F3C1-2032-F93E-3345-AA8080E6288A}"/>
              </a:ext>
            </a:extLst>
          </p:cNvPr>
          <p:cNvPicPr>
            <a:picLocks noChangeAspect="1"/>
          </p:cNvPicPr>
          <p:nvPr/>
        </p:nvPicPr>
        <p:blipFill>
          <a:blip r:embed="rId4"/>
          <a:stretch>
            <a:fillRect/>
          </a:stretch>
        </p:blipFill>
        <p:spPr>
          <a:xfrm>
            <a:off x="370561" y="1348447"/>
            <a:ext cx="7407560" cy="3014092"/>
          </a:xfrm>
          <a:prstGeom prst="rect">
            <a:avLst/>
          </a:prstGeom>
        </p:spPr>
      </p:pic>
      <p:sp>
        <p:nvSpPr>
          <p:cNvPr id="5" name="文本框 4">
            <a:extLst>
              <a:ext uri="{FF2B5EF4-FFF2-40B4-BE49-F238E27FC236}">
                <a16:creationId xmlns:a16="http://schemas.microsoft.com/office/drawing/2014/main" id="{8568C4FE-1F36-E509-5A37-C0353ADB34F3}"/>
              </a:ext>
            </a:extLst>
          </p:cNvPr>
          <p:cNvSpPr txBox="1"/>
          <p:nvPr/>
        </p:nvSpPr>
        <p:spPr>
          <a:xfrm>
            <a:off x="7910156" y="1348447"/>
            <a:ext cx="4074339" cy="4524315"/>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模型层：加载训练端生成的前向</a:t>
            </a:r>
            <a:r>
              <a:rPr lang="en-US" altLang="zh-CN" dirty="0"/>
              <a:t> / </a:t>
            </a:r>
            <a:r>
              <a:rPr lang="zh-CN" altLang="zh-CN" dirty="0"/>
              <a:t>反向模型（含点预测与</a:t>
            </a:r>
            <a:r>
              <a:rPr lang="en-US" altLang="zh-CN" dirty="0"/>
              <a:t> q05/q95 </a:t>
            </a:r>
            <a:r>
              <a:rPr lang="zh-CN" altLang="zh-CN" dirty="0"/>
              <a:t>分位预测模型）及</a:t>
            </a:r>
            <a:r>
              <a:rPr lang="en-US" altLang="zh-CN" dirty="0"/>
              <a:t> 5 </a:t>
            </a:r>
            <a:r>
              <a:rPr lang="zh-CN" altLang="zh-CN" dirty="0"/>
              <a:t>类校准器（相对区间校准器、精度目标校准器等）</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数据层：默认读取标准化数据文件exported_water_quality_09_cleaned.xlsx，支持自定义文件路径，自动提取 PAC 浓度 1%~99% 分位范围作为搜索边界，同时兼容手动指定参数范围。</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交互层：采用页签式布局与侧边栏全局配置相结合的设计，支持参数实时输入、结果可视化展示，操作流程简洁直观。</a:t>
            </a:r>
            <a:endParaRPr lang="zh-CN" altLang="en-US" dirty="0"/>
          </a:p>
        </p:txBody>
      </p:sp>
    </p:spTree>
    <p:extLst>
      <p:ext uri="{BB962C8B-B14F-4D97-AF65-F5344CB8AC3E}">
        <p14:creationId xmlns:p14="http://schemas.microsoft.com/office/powerpoint/2010/main" val="2341490984"/>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BA857-AFAD-9737-4A7B-075B572FC5C7}"/>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DF17FA41-2063-939A-E499-032D31A02281}"/>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62380FD9-A060-E0D2-A42D-89470F0F74E1}"/>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57F8ED2E-4F76-DDCA-2B3C-5BC2CF541DA4}"/>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7C12239-61AA-A4AE-0B46-9B2250F5B1BA}"/>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a:t>
            </a:r>
            <a:r>
              <a:rPr lang="zh-CN" altLang="en-US" b="1" dirty="0"/>
              <a:t>集成平台</a:t>
            </a:r>
            <a:r>
              <a:rPr lang="en-US" altLang="zh-CN" b="1" dirty="0"/>
              <a:t>(</a:t>
            </a:r>
            <a:r>
              <a:rPr lang="zh-CN" altLang="en-US" b="1" dirty="0"/>
              <a:t>前向模型</a:t>
            </a:r>
            <a:r>
              <a:rPr lang="en-US" altLang="zh-CN" b="1" dirty="0"/>
              <a:t>)</a:t>
            </a:r>
            <a:r>
              <a:rPr lang="zh-CN" altLang="en-US" b="1" dirty="0"/>
              <a:t>：</a:t>
            </a:r>
            <a:endParaRPr lang="zh-CN" altLang="zh-CN" b="1" dirty="0"/>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E9C9E3B6-B3E4-2383-9304-678CE5E5CA0C}"/>
              </a:ext>
            </a:extLst>
          </p:cNvPr>
          <p:cNvSpPr txBox="1"/>
          <p:nvPr/>
        </p:nvSpPr>
        <p:spPr>
          <a:xfrm>
            <a:off x="1426812" y="5098756"/>
            <a:ext cx="3116424" cy="369332"/>
          </a:xfrm>
          <a:prstGeom prst="rect">
            <a:avLst/>
          </a:prstGeom>
          <a:noFill/>
        </p:spPr>
        <p:txBody>
          <a:bodyPr wrap="square" rtlCol="0">
            <a:spAutoFit/>
          </a:bodyPr>
          <a:lstStyle/>
          <a:p>
            <a:r>
              <a:rPr lang="zh-CN" altLang="zh-CN" dirty="0"/>
              <a:t>点预测—预测区间—达标概率</a:t>
            </a:r>
            <a:endParaRPr lang="zh-CN" altLang="en-US" dirty="0"/>
          </a:p>
        </p:txBody>
      </p:sp>
      <p:pic>
        <p:nvPicPr>
          <p:cNvPr id="4" name="图片 3" descr="PAC-出水浊度">
            <a:extLst>
              <a:ext uri="{FF2B5EF4-FFF2-40B4-BE49-F238E27FC236}">
                <a16:creationId xmlns:a16="http://schemas.microsoft.com/office/drawing/2014/main" id="{F58439F6-E547-C8DA-07F2-D04E34643E55}"/>
              </a:ext>
            </a:extLst>
          </p:cNvPr>
          <p:cNvPicPr>
            <a:picLocks noChangeAspect="1"/>
          </p:cNvPicPr>
          <p:nvPr/>
        </p:nvPicPr>
        <p:blipFill>
          <a:blip r:embed="rId4"/>
          <a:stretch>
            <a:fillRect/>
          </a:stretch>
        </p:blipFill>
        <p:spPr>
          <a:xfrm>
            <a:off x="670261" y="2080564"/>
            <a:ext cx="7189257" cy="2639785"/>
          </a:xfrm>
          <a:prstGeom prst="rect">
            <a:avLst/>
          </a:prstGeom>
        </p:spPr>
      </p:pic>
      <p:sp>
        <p:nvSpPr>
          <p:cNvPr id="7" name="文本框 6">
            <a:extLst>
              <a:ext uri="{FF2B5EF4-FFF2-40B4-BE49-F238E27FC236}">
                <a16:creationId xmlns:a16="http://schemas.microsoft.com/office/drawing/2014/main" id="{905479BF-54F3-3FF8-8BC5-C9C03E3982D4}"/>
              </a:ext>
            </a:extLst>
          </p:cNvPr>
          <p:cNvSpPr txBox="1"/>
          <p:nvPr/>
        </p:nvSpPr>
        <p:spPr>
          <a:xfrm>
            <a:off x="8294914" y="1722190"/>
            <a:ext cx="2982193" cy="4247317"/>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输入相关水质参数</a:t>
            </a:r>
            <a:r>
              <a:rPr lang="zh-CN" altLang="zh-CN" dirty="0"/>
              <a:t>以及目标出水浊度等关键</a:t>
            </a:r>
            <a:r>
              <a:rPr lang="zh-CN" altLang="en-US" dirty="0"/>
              <a:t>数据，其中目标出水浊度可以自行进行设定。</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点击运行前向预测按钮会输出</a:t>
            </a:r>
            <a:r>
              <a:rPr lang="zh-CN" altLang="zh-CN" dirty="0"/>
              <a:t>出水浊度的点预测值、</a:t>
            </a:r>
            <a:r>
              <a:rPr lang="en-US" altLang="zh-CN" dirty="0"/>
              <a:t>q05/q95 </a:t>
            </a:r>
            <a:r>
              <a:rPr lang="zh-CN" altLang="zh-CN" dirty="0"/>
              <a:t>分位区间及达标概率（基于目标浊度估算）。</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通过对点预测值以及达标概率的判断可以及时的调整西池</a:t>
            </a:r>
            <a:r>
              <a:rPr lang="en-US" altLang="zh-CN" dirty="0"/>
              <a:t>PAC</a:t>
            </a:r>
            <a:r>
              <a:rPr lang="zh-CN" altLang="zh-CN" dirty="0"/>
              <a:t>的投加来稳定出水浊度。</a:t>
            </a:r>
            <a:endParaRPr lang="zh-CN" altLang="en-US" dirty="0"/>
          </a:p>
        </p:txBody>
      </p:sp>
    </p:spTree>
    <p:extLst>
      <p:ext uri="{BB962C8B-B14F-4D97-AF65-F5344CB8AC3E}">
        <p14:creationId xmlns:p14="http://schemas.microsoft.com/office/powerpoint/2010/main" val="3301144379"/>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6426-057B-D3F7-C756-F35A6EF46477}"/>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23031A6F-2169-5942-CFD5-0A17908FE75B}"/>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226B18C2-91B2-544B-0DAA-36668CC406C8}"/>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A7075251-27B3-4813-38DD-D51D7D7ED220}"/>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B94CD4D-048B-6B95-39AF-29B52251AD8B}"/>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a:t>
            </a:r>
            <a:r>
              <a:rPr lang="zh-CN" altLang="en-US" b="1" dirty="0"/>
              <a:t>集成平台</a:t>
            </a:r>
            <a:r>
              <a:rPr lang="en-US" altLang="zh-CN" b="1" dirty="0"/>
              <a:t>(</a:t>
            </a:r>
            <a:r>
              <a:rPr lang="zh-CN" altLang="en-US" b="1" dirty="0"/>
              <a:t>反向模型</a:t>
            </a:r>
            <a:r>
              <a:rPr lang="en-US" altLang="zh-CN" b="1" dirty="0"/>
              <a:t>)</a:t>
            </a:r>
            <a:r>
              <a:rPr lang="zh-CN" altLang="en-US" b="1" dirty="0"/>
              <a:t>：</a:t>
            </a:r>
            <a:endParaRPr lang="zh-CN" altLang="zh-CN" b="1" dirty="0"/>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FCC9B318-5997-C540-D96B-67863D3022A8}"/>
              </a:ext>
            </a:extLst>
          </p:cNvPr>
          <p:cNvSpPr txBox="1"/>
          <p:nvPr/>
        </p:nvSpPr>
        <p:spPr>
          <a:xfrm>
            <a:off x="3147896" y="5505052"/>
            <a:ext cx="2044176" cy="369332"/>
          </a:xfrm>
          <a:prstGeom prst="rect">
            <a:avLst/>
          </a:prstGeom>
          <a:noFill/>
        </p:spPr>
        <p:txBody>
          <a:bodyPr wrap="square" rtlCol="0">
            <a:spAutoFit/>
          </a:bodyPr>
          <a:lstStyle/>
          <a:p>
            <a:r>
              <a:rPr lang="zh-CN" altLang="zh-CN" dirty="0"/>
              <a:t>点预测—预测区间</a:t>
            </a:r>
            <a:endParaRPr lang="zh-CN" altLang="en-US" dirty="0"/>
          </a:p>
        </p:txBody>
      </p:sp>
      <p:sp>
        <p:nvSpPr>
          <p:cNvPr id="7" name="文本框 6">
            <a:extLst>
              <a:ext uri="{FF2B5EF4-FFF2-40B4-BE49-F238E27FC236}">
                <a16:creationId xmlns:a16="http://schemas.microsoft.com/office/drawing/2014/main" id="{906415BC-5A97-54F7-1471-A1CF0AC3F6FC}"/>
              </a:ext>
            </a:extLst>
          </p:cNvPr>
          <p:cNvSpPr txBox="1"/>
          <p:nvPr/>
        </p:nvSpPr>
        <p:spPr>
          <a:xfrm>
            <a:off x="8145624" y="1442401"/>
            <a:ext cx="2982193" cy="4247317"/>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输入相关水质参数</a:t>
            </a:r>
            <a:r>
              <a:rPr lang="zh-CN" altLang="zh-CN" dirty="0"/>
              <a:t>以及目标出水浊度等关键</a:t>
            </a:r>
            <a:r>
              <a:rPr lang="zh-CN" altLang="en-US" dirty="0"/>
              <a:t>数据，其中目标出水浊度可以自行进行设定。</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点击运行反向给药按钮会</a:t>
            </a:r>
            <a:r>
              <a:rPr lang="zh-CN" altLang="zh-CN" dirty="0"/>
              <a:t>输出满足目标水质的</a:t>
            </a:r>
            <a:r>
              <a:rPr lang="en-US" altLang="zh-CN" dirty="0"/>
              <a:t> PAC </a:t>
            </a:r>
            <a:r>
              <a:rPr lang="zh-CN" altLang="zh-CN" dirty="0"/>
              <a:t>剂量点预测值、偏节省型（</a:t>
            </a:r>
            <a:r>
              <a:rPr lang="en-US" altLang="zh-CN" dirty="0"/>
              <a:t>q05</a:t>
            </a:r>
            <a:r>
              <a:rPr lang="zh-CN" altLang="zh-CN" dirty="0"/>
              <a:t>）和偏保守型（</a:t>
            </a:r>
            <a:r>
              <a:rPr lang="en-US" altLang="zh-CN" dirty="0"/>
              <a:t>q95</a:t>
            </a:r>
            <a:r>
              <a:rPr lang="zh-CN" altLang="zh-CN" dirty="0"/>
              <a:t>）分位建议值。</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通过对点预测值以及区间的判断可以及时的降低西池</a:t>
            </a:r>
            <a:r>
              <a:rPr lang="en-US" altLang="zh-CN" dirty="0"/>
              <a:t>PAC</a:t>
            </a:r>
            <a:r>
              <a:rPr lang="zh-CN" altLang="zh-CN" dirty="0"/>
              <a:t>的投加来达到降低的药耗的目标。</a:t>
            </a:r>
          </a:p>
        </p:txBody>
      </p:sp>
      <p:pic>
        <p:nvPicPr>
          <p:cNvPr id="5" name="图片 4" descr="反向给药">
            <a:extLst>
              <a:ext uri="{FF2B5EF4-FFF2-40B4-BE49-F238E27FC236}">
                <a16:creationId xmlns:a16="http://schemas.microsoft.com/office/drawing/2014/main" id="{F2AE773F-A854-1B75-6838-9B34CE9EB506}"/>
              </a:ext>
            </a:extLst>
          </p:cNvPr>
          <p:cNvPicPr>
            <a:picLocks noChangeAspect="1"/>
          </p:cNvPicPr>
          <p:nvPr/>
        </p:nvPicPr>
        <p:blipFill>
          <a:blip r:embed="rId4"/>
          <a:stretch>
            <a:fillRect/>
          </a:stretch>
        </p:blipFill>
        <p:spPr>
          <a:xfrm>
            <a:off x="914893" y="1609620"/>
            <a:ext cx="6510182" cy="3638759"/>
          </a:xfrm>
          <a:prstGeom prst="rect">
            <a:avLst/>
          </a:prstGeom>
        </p:spPr>
      </p:pic>
    </p:spTree>
    <p:extLst>
      <p:ext uri="{BB962C8B-B14F-4D97-AF65-F5344CB8AC3E}">
        <p14:creationId xmlns:p14="http://schemas.microsoft.com/office/powerpoint/2010/main" val="764904220"/>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CE163-5642-D4A7-A931-A18CF527EE8E}"/>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1526914F-CD1C-4273-6452-38D715B03731}"/>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1FE56D5B-B44D-520E-3669-8581178DBD26}"/>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48</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2CF5D667-3A06-86A7-BD38-FDE6F3CC5CCF}"/>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1DE31F0-ABD9-FC55-044C-A3C59FE3DA70}"/>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a:t>
            </a:r>
            <a:r>
              <a:rPr lang="zh-CN" altLang="en-US" b="1" dirty="0"/>
              <a:t>集成平台</a:t>
            </a:r>
            <a:r>
              <a:rPr lang="en-US" altLang="zh-CN" b="1" dirty="0"/>
              <a:t>(</a:t>
            </a:r>
            <a:r>
              <a:rPr lang="zh-CN" altLang="en-US" b="1" dirty="0"/>
              <a:t>前向搜索</a:t>
            </a:r>
            <a:r>
              <a:rPr lang="en-US" altLang="zh-CN" b="1" dirty="0"/>
              <a:t>)</a:t>
            </a:r>
            <a:r>
              <a:rPr lang="zh-CN" altLang="en-US" b="1" dirty="0"/>
              <a:t>：</a:t>
            </a:r>
            <a:endParaRPr lang="zh-CN" altLang="zh-CN" b="1" dirty="0"/>
          </a:p>
          <a:p>
            <a:endParaRPr lang="zh-CN" altLang="en-US" b="1"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72FC5536-D595-8AAE-0579-20B7760A534F}"/>
              </a:ext>
            </a:extLst>
          </p:cNvPr>
          <p:cNvSpPr txBox="1"/>
          <p:nvPr/>
        </p:nvSpPr>
        <p:spPr>
          <a:xfrm>
            <a:off x="3161920" y="5320387"/>
            <a:ext cx="2044176" cy="369332"/>
          </a:xfrm>
          <a:prstGeom prst="rect">
            <a:avLst/>
          </a:prstGeom>
          <a:noFill/>
        </p:spPr>
        <p:txBody>
          <a:bodyPr wrap="square" rtlCol="0">
            <a:spAutoFit/>
          </a:bodyPr>
          <a:lstStyle/>
          <a:p>
            <a:r>
              <a:rPr lang="zh-CN" altLang="en-US" dirty="0"/>
              <a:t>最小投药量预测</a:t>
            </a:r>
          </a:p>
        </p:txBody>
      </p:sp>
      <p:pic>
        <p:nvPicPr>
          <p:cNvPr id="2" name="图片 1" descr="前向搜索">
            <a:extLst>
              <a:ext uri="{FF2B5EF4-FFF2-40B4-BE49-F238E27FC236}">
                <a16:creationId xmlns:a16="http://schemas.microsoft.com/office/drawing/2014/main" id="{757D286E-D65F-E24C-C724-79B74ECBA1E4}"/>
              </a:ext>
            </a:extLst>
          </p:cNvPr>
          <p:cNvPicPr>
            <a:picLocks noChangeAspect="1"/>
          </p:cNvPicPr>
          <p:nvPr/>
        </p:nvPicPr>
        <p:blipFill>
          <a:blip r:embed="rId4"/>
          <a:stretch>
            <a:fillRect/>
          </a:stretch>
        </p:blipFill>
        <p:spPr>
          <a:xfrm>
            <a:off x="670261" y="1581347"/>
            <a:ext cx="6738245" cy="3638408"/>
          </a:xfrm>
          <a:prstGeom prst="rect">
            <a:avLst/>
          </a:prstGeom>
        </p:spPr>
      </p:pic>
      <p:sp>
        <p:nvSpPr>
          <p:cNvPr id="9" name="文本框 8">
            <a:extLst>
              <a:ext uri="{FF2B5EF4-FFF2-40B4-BE49-F238E27FC236}">
                <a16:creationId xmlns:a16="http://schemas.microsoft.com/office/drawing/2014/main" id="{14D48305-40A9-BA4F-9837-70EDA23A3B09}"/>
              </a:ext>
            </a:extLst>
          </p:cNvPr>
          <p:cNvSpPr txBox="1"/>
          <p:nvPr/>
        </p:nvSpPr>
        <p:spPr>
          <a:xfrm>
            <a:off x="7744409" y="2563533"/>
            <a:ext cx="3978592" cy="1477328"/>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固定原水条件下，沿</a:t>
            </a:r>
            <a:r>
              <a:rPr lang="en-US" altLang="zh-CN" dirty="0"/>
              <a:t> PAC </a:t>
            </a:r>
            <a:r>
              <a:rPr lang="zh-CN" altLang="zh-CN" dirty="0"/>
              <a:t>浓度搜索范围生成网格数据，通过前向模型推理与单调校正（保证</a:t>
            </a:r>
            <a:r>
              <a:rPr lang="en-US" altLang="zh-CN" dirty="0"/>
              <a:t> PAC↑→</a:t>
            </a:r>
            <a:r>
              <a:rPr lang="zh-CN" altLang="zh-CN" dirty="0"/>
              <a:t>浊度</a:t>
            </a:r>
            <a:r>
              <a:rPr lang="en-US" altLang="zh-CN" dirty="0"/>
              <a:t>↓</a:t>
            </a:r>
            <a:r>
              <a:rPr lang="zh-CN" altLang="zh-CN" dirty="0"/>
              <a:t>的物理逻辑）</a:t>
            </a:r>
            <a:r>
              <a:rPr lang="zh-CN" altLang="en-US" dirty="0"/>
              <a:t>，输出</a:t>
            </a:r>
            <a:r>
              <a:rPr lang="zh-CN" altLang="zh-CN" dirty="0"/>
              <a:t>关键指标（最小达标</a:t>
            </a:r>
            <a:r>
              <a:rPr lang="en-US" altLang="zh-CN" dirty="0"/>
              <a:t> PAC</a:t>
            </a:r>
            <a:r>
              <a:rPr lang="zh-CN" altLang="zh-CN" dirty="0"/>
              <a:t>、误差最小</a:t>
            </a:r>
            <a:r>
              <a:rPr lang="en-US" altLang="zh-CN" dirty="0"/>
              <a:t> PAC</a:t>
            </a:r>
            <a:r>
              <a:rPr lang="zh-CN" altLang="zh-CN" dirty="0"/>
              <a:t>）</a:t>
            </a:r>
            <a:endParaRPr lang="zh-CN" altLang="en-US" dirty="0"/>
          </a:p>
        </p:txBody>
      </p:sp>
    </p:spTree>
    <p:extLst>
      <p:ext uri="{BB962C8B-B14F-4D97-AF65-F5344CB8AC3E}">
        <p14:creationId xmlns:p14="http://schemas.microsoft.com/office/powerpoint/2010/main" val="78841464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5073-928D-7CC7-C217-D2ADF3AAA98D}"/>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63AF6B0E-7681-B7F4-6E5F-C0F51B42A889}"/>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B53A3C2C-CD4E-CE1A-ED49-32FD7080B33C}"/>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49</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C8D4B83E-6B9C-3764-7CE3-F0094EA6498A}"/>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11827AB-2701-1FA0-8E11-DA78C002CCEF}"/>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a:t>
            </a:r>
            <a:r>
              <a:rPr lang="zh-CN" altLang="en-US" b="1" dirty="0"/>
              <a:t>集成平台</a:t>
            </a:r>
            <a:r>
              <a:rPr lang="en-US" altLang="zh-CN" b="1" dirty="0"/>
              <a:t>(</a:t>
            </a:r>
            <a:r>
              <a:rPr lang="zh-CN" altLang="en-US" b="1" dirty="0"/>
              <a:t>前向搜索</a:t>
            </a:r>
            <a:r>
              <a:rPr lang="en-US" altLang="zh-CN" b="1" dirty="0"/>
              <a:t>)</a:t>
            </a:r>
            <a:r>
              <a:rPr lang="zh-CN" altLang="en-US" b="1" dirty="0"/>
              <a:t>：</a:t>
            </a:r>
            <a:endParaRPr lang="zh-CN" altLang="zh-CN" b="1" dirty="0"/>
          </a:p>
          <a:p>
            <a:endParaRPr lang="zh-CN" altLang="en-US" b="1" dirty="0">
              <a:latin typeface="黑体" panose="02010609060101010101" pitchFamily="49" charset="-122"/>
              <a:ea typeface="黑体" panose="02010609060101010101" pitchFamily="49" charset="-122"/>
            </a:endParaRPr>
          </a:p>
        </p:txBody>
      </p:sp>
      <p:pic>
        <p:nvPicPr>
          <p:cNvPr id="5" name="图片 4" descr="剂量-响应曲线">
            <a:extLst>
              <a:ext uri="{FF2B5EF4-FFF2-40B4-BE49-F238E27FC236}">
                <a16:creationId xmlns:a16="http://schemas.microsoft.com/office/drawing/2014/main" id="{4EEE9DE8-4D9C-9761-73BC-EBA61A48C580}"/>
              </a:ext>
            </a:extLst>
          </p:cNvPr>
          <p:cNvPicPr>
            <a:picLocks noChangeAspect="1"/>
          </p:cNvPicPr>
          <p:nvPr/>
        </p:nvPicPr>
        <p:blipFill>
          <a:blip r:embed="rId4"/>
          <a:stretch>
            <a:fillRect/>
          </a:stretch>
        </p:blipFill>
        <p:spPr>
          <a:xfrm>
            <a:off x="1065540" y="1720348"/>
            <a:ext cx="6264956" cy="3949613"/>
          </a:xfrm>
          <a:prstGeom prst="rect">
            <a:avLst/>
          </a:prstGeom>
        </p:spPr>
      </p:pic>
      <p:sp>
        <p:nvSpPr>
          <p:cNvPr id="7" name="文本框 6">
            <a:extLst>
              <a:ext uri="{FF2B5EF4-FFF2-40B4-BE49-F238E27FC236}">
                <a16:creationId xmlns:a16="http://schemas.microsoft.com/office/drawing/2014/main" id="{35AE9046-DBC4-AD18-98BB-21E225E5DD47}"/>
              </a:ext>
            </a:extLst>
          </p:cNvPr>
          <p:cNvSpPr txBox="1"/>
          <p:nvPr/>
        </p:nvSpPr>
        <p:spPr>
          <a:xfrm>
            <a:off x="3316275" y="5958251"/>
            <a:ext cx="1763485" cy="369332"/>
          </a:xfrm>
          <a:prstGeom prst="rect">
            <a:avLst/>
          </a:prstGeom>
          <a:noFill/>
        </p:spPr>
        <p:txBody>
          <a:bodyPr wrap="square" rtlCol="0">
            <a:spAutoFit/>
          </a:bodyPr>
          <a:lstStyle/>
          <a:p>
            <a:r>
              <a:rPr lang="zh-CN" altLang="en-US" dirty="0"/>
              <a:t>剂量</a:t>
            </a:r>
            <a:r>
              <a:rPr lang="en-US" altLang="zh-CN" dirty="0"/>
              <a:t>—</a:t>
            </a:r>
            <a:r>
              <a:rPr lang="zh-CN" altLang="en-US" dirty="0"/>
              <a:t>响应曲线</a:t>
            </a:r>
          </a:p>
        </p:txBody>
      </p:sp>
      <p:sp>
        <p:nvSpPr>
          <p:cNvPr id="10" name="文本框 9">
            <a:extLst>
              <a:ext uri="{FF2B5EF4-FFF2-40B4-BE49-F238E27FC236}">
                <a16:creationId xmlns:a16="http://schemas.microsoft.com/office/drawing/2014/main" id="{0C94D4E0-C12F-CAFE-D55D-A22A30361309}"/>
              </a:ext>
            </a:extLst>
          </p:cNvPr>
          <p:cNvSpPr txBox="1"/>
          <p:nvPr/>
        </p:nvSpPr>
        <p:spPr>
          <a:xfrm>
            <a:off x="7627508" y="3094989"/>
            <a:ext cx="3498952" cy="1477328"/>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在运行前向搜索时生成的剂量</a:t>
            </a:r>
            <a:r>
              <a:rPr lang="en-US" altLang="zh-CN" dirty="0"/>
              <a:t>—</a:t>
            </a:r>
            <a:r>
              <a:rPr lang="zh-CN" altLang="en-US" dirty="0"/>
              <a:t>相应曲线。显式的展现了前向搜索的全过程。也展现了边际效应递减导致过量投加</a:t>
            </a:r>
            <a:r>
              <a:rPr lang="en-US" altLang="zh-CN" dirty="0"/>
              <a:t>PAC</a:t>
            </a:r>
            <a:r>
              <a:rPr lang="zh-CN" altLang="en-US" dirty="0"/>
              <a:t>的问题。</a:t>
            </a:r>
          </a:p>
        </p:txBody>
      </p:sp>
    </p:spTree>
    <p:extLst>
      <p:ext uri="{BB962C8B-B14F-4D97-AF65-F5344CB8AC3E}">
        <p14:creationId xmlns:p14="http://schemas.microsoft.com/office/powerpoint/2010/main" val="435478609"/>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A875A-7E11-5D14-A654-CF7311FCC1C0}"/>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851C2AA9-23C2-7E35-7AC3-B072DE22464F}"/>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77EFE0D3-975D-2815-82CB-26B49CE54DC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CB84DD2C-BA42-17D8-72E3-F115771FCCBF}"/>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3.6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5110FB1-87B6-7E6C-4823-78CE8EB3DDF0}"/>
              </a:ext>
            </a:extLst>
          </p:cNvPr>
          <p:cNvSpPr txBox="1"/>
          <p:nvPr/>
        </p:nvSpPr>
        <p:spPr>
          <a:xfrm>
            <a:off x="670261" y="1168281"/>
            <a:ext cx="4629527" cy="646331"/>
          </a:xfrm>
          <a:prstGeom prst="rect">
            <a:avLst/>
          </a:prstGeom>
          <a:noFill/>
        </p:spPr>
        <p:txBody>
          <a:bodyPr wrap="square" rtlCol="0">
            <a:spAutoFit/>
          </a:bodyPr>
          <a:lstStyle/>
          <a:p>
            <a:r>
              <a:rPr lang="zh-CN" altLang="zh-CN" b="1" dirty="0"/>
              <a:t>混凝智能投药模型</a:t>
            </a:r>
            <a:r>
              <a:rPr lang="zh-CN" altLang="en-US" b="1" dirty="0"/>
              <a:t>集成平台：</a:t>
            </a:r>
            <a:endParaRPr lang="zh-CN" altLang="zh-CN" b="1" dirty="0"/>
          </a:p>
          <a:p>
            <a:endParaRPr lang="zh-CN" altLang="en-US" b="1"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4B0941E3-9F41-6E1D-4003-A7FC3C458AD6}"/>
              </a:ext>
            </a:extLst>
          </p:cNvPr>
          <p:cNvSpPr txBox="1"/>
          <p:nvPr/>
        </p:nvSpPr>
        <p:spPr>
          <a:xfrm>
            <a:off x="1911801" y="6237492"/>
            <a:ext cx="1833952" cy="369332"/>
          </a:xfrm>
          <a:prstGeom prst="rect">
            <a:avLst/>
          </a:prstGeom>
          <a:noFill/>
        </p:spPr>
        <p:txBody>
          <a:bodyPr wrap="square" rtlCol="0">
            <a:spAutoFit/>
          </a:bodyPr>
          <a:lstStyle/>
          <a:p>
            <a:r>
              <a:rPr lang="zh-CN" altLang="en-US" dirty="0"/>
              <a:t>搜索页高级设置</a:t>
            </a:r>
          </a:p>
        </p:txBody>
      </p:sp>
      <p:sp>
        <p:nvSpPr>
          <p:cNvPr id="10" name="文本框 9">
            <a:extLst>
              <a:ext uri="{FF2B5EF4-FFF2-40B4-BE49-F238E27FC236}">
                <a16:creationId xmlns:a16="http://schemas.microsoft.com/office/drawing/2014/main" id="{842A6A3D-F1FE-78F5-EFDC-2466B592A0AD}"/>
              </a:ext>
            </a:extLst>
          </p:cNvPr>
          <p:cNvSpPr txBox="1"/>
          <p:nvPr/>
        </p:nvSpPr>
        <p:spPr>
          <a:xfrm>
            <a:off x="4329404" y="1814612"/>
            <a:ext cx="6815717" cy="3970318"/>
          </a:xfrm>
          <a:prstGeom prst="rect">
            <a:avLst/>
          </a:prstGeom>
          <a:noFill/>
        </p:spPr>
        <p:txBody>
          <a:bodyPr wrap="square" rtlCol="0">
            <a:spAutoFit/>
          </a:bodyPr>
          <a:lstStyle/>
          <a:p>
            <a:r>
              <a:rPr lang="zh-CN" altLang="zh-CN" dirty="0"/>
              <a:t>搜索高级设置页签中可以设置网格点数，也可以选择是否进行单调矫正，是否显示</a:t>
            </a:r>
            <a:r>
              <a:rPr lang="en-US" altLang="zh-CN" dirty="0"/>
              <a:t>-</a:t>
            </a:r>
            <a:r>
              <a:rPr lang="zh-CN" altLang="zh-CN" dirty="0"/>
              <a:t>剂量响应曲线，也可以手动指定</a:t>
            </a:r>
            <a:r>
              <a:rPr lang="en-US" altLang="zh-CN" dirty="0"/>
              <a:t>PAC</a:t>
            </a:r>
            <a:r>
              <a:rPr lang="zh-CN" altLang="zh-CN" dirty="0"/>
              <a:t>的搜索范围，未指定时会自动匹配</a:t>
            </a:r>
            <a:r>
              <a:rPr lang="zh-CN" altLang="en-US" dirty="0"/>
              <a:t>为（</a:t>
            </a:r>
            <a:r>
              <a:rPr lang="en-US" altLang="zh-CN" dirty="0"/>
              <a:t>1%</a:t>
            </a:r>
            <a:r>
              <a:rPr lang="zh-CN" altLang="en-US" dirty="0"/>
              <a:t>，</a:t>
            </a:r>
            <a:r>
              <a:rPr lang="en-US" altLang="zh-CN" dirty="0"/>
              <a:t>99%</a:t>
            </a:r>
            <a:r>
              <a:rPr lang="zh-CN" altLang="en-US" dirty="0"/>
              <a:t>）区间</a:t>
            </a:r>
            <a:r>
              <a:rPr lang="zh-CN" altLang="zh-CN" dirty="0"/>
              <a:t>。</a:t>
            </a:r>
            <a:r>
              <a:rPr lang="zh-CN" altLang="en-US" dirty="0"/>
              <a:t>网格点数划分：</a:t>
            </a:r>
            <a:endParaRPr lang="en-US" altLang="zh-CN" dirty="0"/>
          </a:p>
          <a:p>
            <a:pPr marL="285750" lvl="0" indent="-285750">
              <a:buFont typeface="Wingdings" panose="05000000000000000000" pitchFamily="2" charset="2"/>
              <a:buChar char="l"/>
            </a:pPr>
            <a:endParaRPr lang="en-US" altLang="zh-CN" dirty="0"/>
          </a:p>
          <a:p>
            <a:pPr marL="285750" lvl="0" indent="-285750">
              <a:buFont typeface="Wingdings" panose="05000000000000000000" pitchFamily="2" charset="2"/>
              <a:buChar char="l"/>
            </a:pPr>
            <a:r>
              <a:rPr lang="zh-CN" altLang="zh-CN" dirty="0"/>
              <a:t>常规工况（原水水质稳定、</a:t>
            </a:r>
            <a:r>
              <a:rPr lang="en-US" altLang="zh-CN" dirty="0"/>
              <a:t>PAC </a:t>
            </a:r>
            <a:r>
              <a:rPr lang="zh-CN" altLang="zh-CN" dirty="0"/>
              <a:t>范围窄）：</a:t>
            </a:r>
            <a:r>
              <a:rPr lang="en-US" altLang="zh-CN" dirty="0"/>
              <a:t>201~401 </a:t>
            </a:r>
            <a:r>
              <a:rPr lang="zh-CN" altLang="zh-CN" dirty="0"/>
              <a:t>点，既能快速出结果，又能保证关键值计算准确。</a:t>
            </a:r>
            <a:endParaRPr lang="en-US" altLang="zh-CN" dirty="0"/>
          </a:p>
          <a:p>
            <a:pPr marL="285750" lvl="0" indent="-285750">
              <a:buFont typeface="Wingdings" panose="05000000000000000000" pitchFamily="2" charset="2"/>
              <a:buChar char="l"/>
            </a:pPr>
            <a:endParaRPr lang="zh-CN" altLang="zh-CN" dirty="0"/>
          </a:p>
          <a:p>
            <a:pPr marL="285750" lvl="0" indent="-285750">
              <a:buFont typeface="Wingdings" panose="05000000000000000000" pitchFamily="2" charset="2"/>
              <a:buChar char="l"/>
            </a:pPr>
            <a:r>
              <a:rPr lang="zh-CN" altLang="zh-CN" dirty="0"/>
              <a:t>复杂工况（原水波动大、需精准找最优</a:t>
            </a:r>
            <a:r>
              <a:rPr lang="en-US" altLang="zh-CN" dirty="0"/>
              <a:t> PAC</a:t>
            </a:r>
            <a:r>
              <a:rPr lang="zh-CN" altLang="zh-CN" dirty="0"/>
              <a:t>）：</a:t>
            </a:r>
            <a:r>
              <a:rPr lang="en-US" altLang="zh-CN" dirty="0"/>
              <a:t>601~1001 </a:t>
            </a:r>
            <a:r>
              <a:rPr lang="zh-CN" altLang="zh-CN" dirty="0"/>
              <a:t>点，通过加密采样捕捉浊度变化细节。</a:t>
            </a:r>
            <a:endParaRPr lang="en-US" altLang="zh-CN" dirty="0"/>
          </a:p>
          <a:p>
            <a:pPr marL="285750" lvl="0" indent="-285750">
              <a:buFont typeface="Wingdings" panose="05000000000000000000" pitchFamily="2" charset="2"/>
              <a:buChar char="l"/>
            </a:pPr>
            <a:endParaRPr lang="zh-CN" altLang="zh-CN" dirty="0"/>
          </a:p>
          <a:p>
            <a:pPr marL="285750" lvl="0" indent="-285750">
              <a:buFont typeface="Wingdings" panose="05000000000000000000" pitchFamily="2" charset="2"/>
              <a:buChar char="l"/>
            </a:pPr>
            <a:r>
              <a:rPr lang="zh-CN" altLang="zh-CN" dirty="0"/>
              <a:t>快速预览（仅需大致了解剂量</a:t>
            </a:r>
            <a:r>
              <a:rPr lang="en-US" altLang="zh-CN" dirty="0"/>
              <a:t> - </a:t>
            </a:r>
            <a:r>
              <a:rPr lang="zh-CN" altLang="zh-CN" dirty="0"/>
              <a:t>响应趋势）：</a:t>
            </a:r>
            <a:r>
              <a:rPr lang="en-US" altLang="zh-CN" dirty="0"/>
              <a:t>101 </a:t>
            </a:r>
            <a:r>
              <a:rPr lang="zh-CN" altLang="zh-CN" dirty="0"/>
              <a:t>点，最快完成计算，适合初步决策参考。</a:t>
            </a:r>
          </a:p>
          <a:p>
            <a:pPr marL="285750" indent="-285750">
              <a:buFont typeface="Wingdings" panose="05000000000000000000" pitchFamily="2" charset="2"/>
              <a:buChar char="l"/>
            </a:pPr>
            <a:endParaRPr lang="en-US" altLang="zh-CN" dirty="0"/>
          </a:p>
          <a:p>
            <a:r>
              <a:rPr lang="zh-CN" altLang="zh-CN" dirty="0"/>
              <a:t>默认</a:t>
            </a:r>
            <a:r>
              <a:rPr lang="en-US" altLang="zh-CN" dirty="0"/>
              <a:t> 401 </a:t>
            </a:r>
            <a:r>
              <a:rPr lang="zh-CN" altLang="zh-CN" dirty="0"/>
              <a:t>点是兼顾精度与效率的最优选择，一般情况无需改变。</a:t>
            </a:r>
            <a:endParaRPr lang="zh-CN" altLang="en-US" dirty="0"/>
          </a:p>
        </p:txBody>
      </p:sp>
      <p:pic>
        <p:nvPicPr>
          <p:cNvPr id="2" name="图片 1" descr="搜索高级设置">
            <a:extLst>
              <a:ext uri="{FF2B5EF4-FFF2-40B4-BE49-F238E27FC236}">
                <a16:creationId xmlns:a16="http://schemas.microsoft.com/office/drawing/2014/main" id="{A6FA61B4-0704-34F5-A9EF-0E31BA95B4E2}"/>
              </a:ext>
            </a:extLst>
          </p:cNvPr>
          <p:cNvPicPr>
            <a:picLocks noChangeAspect="1"/>
          </p:cNvPicPr>
          <p:nvPr/>
        </p:nvPicPr>
        <p:blipFill>
          <a:blip r:embed="rId4"/>
          <a:stretch>
            <a:fillRect/>
          </a:stretch>
        </p:blipFill>
        <p:spPr>
          <a:xfrm>
            <a:off x="1982269" y="1632188"/>
            <a:ext cx="1763485" cy="4326063"/>
          </a:xfrm>
          <a:prstGeom prst="rect">
            <a:avLst/>
          </a:prstGeom>
        </p:spPr>
      </p:pic>
    </p:spTree>
    <p:extLst>
      <p:ext uri="{BB962C8B-B14F-4D97-AF65-F5344CB8AC3E}">
        <p14:creationId xmlns:p14="http://schemas.microsoft.com/office/powerpoint/2010/main" val="960665429"/>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DE54D-BD35-854B-BD56-2C90D44EB4BE}"/>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5F7474DC-415C-0EFB-6A05-B22DC4E91089}"/>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996E3A8C-65EA-F0F2-D79B-E6856EDD38E4}"/>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51</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0FC6A659-6539-4573-BE73-5DFF45A89044}"/>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3.7 </a:t>
            </a:r>
            <a:r>
              <a:rPr lang="zh-CN" altLang="en-US" sz="2400" dirty="0">
                <a:solidFill>
                  <a:srgbClr val="002060"/>
                </a:solidFill>
                <a:latin typeface="微软雅黑" panose="020B0503020204020204" pitchFamily="34" charset="-122"/>
                <a:ea typeface="微软雅黑" panose="020B0503020204020204" pitchFamily="34" charset="-122"/>
              </a:rPr>
              <a:t>模型降药耗合理性与支撑</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1E2A4DE-A73E-C2E4-2856-09528A089D7C}"/>
                  </a:ext>
                </a:extLst>
              </p:cNvPr>
              <p:cNvSpPr txBox="1"/>
              <p:nvPr/>
            </p:nvSpPr>
            <p:spPr>
              <a:xfrm>
                <a:off x="1407367" y="1502228"/>
                <a:ext cx="9377266" cy="4776372"/>
              </a:xfrm>
              <a:prstGeom prst="rect">
                <a:avLst/>
              </a:prstGeom>
              <a:noFill/>
            </p:spPr>
            <p:txBody>
              <a:bodyPr wrap="square" rtlCol="0">
                <a:spAutoFit/>
              </a:bodyPr>
              <a:lstStyle/>
              <a:p>
                <a:r>
                  <a:rPr lang="zh-CN" altLang="zh-CN" dirty="0"/>
                  <a:t>本项目的降药逻辑是通过前向模型在给定工况下对</a:t>
                </a:r>
                <a:r>
                  <a:rPr lang="en-US" altLang="zh-CN" dirty="0"/>
                  <a:t> PAC</a:t>
                </a:r>
                <a:r>
                  <a:rPr lang="zh-CN" altLang="zh-CN" dirty="0"/>
                  <a:t>–浊度关系进行显式搜索。对每一条运行工况</a:t>
                </a:r>
                <a:r>
                  <a:rPr lang="en-US" altLang="zh-CN" dirty="0"/>
                  <a:t> (</a:t>
                </a:r>
                <a:r>
                  <a:rPr lang="en-US" altLang="zh-CN" dirty="0" err="1"/>
                  <a:t>x</a:t>
                </a:r>
                <a:r>
                  <a:rPr lang="en-US" altLang="zh-CN" baseline="-25000" dirty="0" err="1"/>
                  <a:t>raw_turb</a:t>
                </a:r>
                <a:r>
                  <a:rPr lang="zh-CN" altLang="zh-CN" baseline="-25000" dirty="0"/>
                  <a:t>，</a:t>
                </a:r>
                <a:r>
                  <a:rPr lang="en-US" altLang="zh-CN" dirty="0" err="1"/>
                  <a:t>x</a:t>
                </a:r>
                <a:r>
                  <a:rPr lang="en-US" altLang="zh-CN" baseline="-25000" dirty="0" err="1"/>
                  <a:t>temp</a:t>
                </a:r>
                <a:r>
                  <a:rPr lang="zh-CN" altLang="zh-CN" baseline="-25000" dirty="0"/>
                  <a:t>，</a:t>
                </a:r>
                <a:r>
                  <a:rPr lang="en-US" altLang="zh-CN" dirty="0" err="1"/>
                  <a:t>x</a:t>
                </a:r>
                <a:r>
                  <a:rPr lang="en-US" altLang="zh-CN" baseline="-25000" dirty="0" err="1"/>
                  <a:t>pH</a:t>
                </a:r>
                <a:r>
                  <a:rPr lang="zh-CN" altLang="zh-CN" baseline="-25000" dirty="0"/>
                  <a:t>，</a:t>
                </a:r>
                <a:r>
                  <a:rPr lang="en-US" altLang="zh-CN" dirty="0" err="1"/>
                  <a:t>x</a:t>
                </a:r>
                <a:r>
                  <a:rPr lang="en-US" altLang="zh-CN" baseline="-25000" dirty="0" err="1"/>
                  <a:t>flow</a:t>
                </a:r>
                <a:r>
                  <a:rPr lang="en-US" altLang="zh-CN" dirty="0"/>
                  <a:t>)</a:t>
                </a:r>
                <a:r>
                  <a:rPr lang="zh-CN" altLang="zh-CN" dirty="0"/>
                  <a:t>，在训练集中</a:t>
                </a:r>
                <a:r>
                  <a:rPr lang="en-US" altLang="zh-CN" dirty="0"/>
                  <a:t> PAC </a:t>
                </a:r>
                <a:r>
                  <a:rPr lang="zh-CN" altLang="zh-CN" dirty="0"/>
                  <a:t>的</a:t>
                </a:r>
                <a:r>
                  <a:rPr lang="en-US" altLang="zh-CN" dirty="0"/>
                  <a:t> 1%</a:t>
                </a:r>
                <a:r>
                  <a:rPr lang="zh-CN" altLang="zh-CN" dirty="0"/>
                  <a:t>–</a:t>
                </a:r>
                <a:r>
                  <a:rPr lang="en-US" altLang="zh-CN" dirty="0"/>
                  <a:t>99% </a:t>
                </a:r>
                <a:r>
                  <a:rPr lang="zh-CN" altLang="zh-CN" dirty="0"/>
                  <a:t>分位区间内构建等间隔网格</a:t>
                </a:r>
                <a:r>
                  <a:rPr lang="en-US" altLang="zh-CN" dirty="0"/>
                  <a:t> {p</a:t>
                </a:r>
                <a:r>
                  <a:rPr lang="en-US" altLang="zh-CN" baseline="-25000" dirty="0"/>
                  <a:t>1</a:t>
                </a:r>
                <a:r>
                  <a:rPr lang="zh-CN" altLang="zh-CN" baseline="-25000" dirty="0"/>
                  <a:t>，</a:t>
                </a:r>
                <a:r>
                  <a:rPr lang="zh-CN" altLang="zh-CN" dirty="0"/>
                  <a:t>…，</a:t>
                </a:r>
                <a:r>
                  <a:rPr lang="en-US" altLang="zh-CN" dirty="0" err="1"/>
                  <a:t>p</a:t>
                </a:r>
                <a:r>
                  <a:rPr lang="en-US" altLang="zh-CN" baseline="-25000" dirty="0" err="1"/>
                  <a:t>n</a:t>
                </a:r>
                <a:r>
                  <a:rPr lang="en-US" altLang="zh-CN" dirty="0"/>
                  <a:t>}</a:t>
                </a:r>
                <a:r>
                  <a:rPr lang="zh-CN" altLang="zh-CN" dirty="0"/>
                  <a:t>，利用前向模型及其校准链得到对应预测浊度</a:t>
                </a:r>
                <a14:m>
                  <m:oMath xmlns:m="http://schemas.openxmlformats.org/officeDocument/2006/math">
                    <m:acc>
                      <m:accPr>
                        <m:chr m:val="̂"/>
                        <m:ctrlPr>
                          <a:rPr lang="zh-CN" altLang="zh-CN" i="1">
                            <a:latin typeface="Cambria Math" panose="02040503050406030204" pitchFamily="18" charset="0"/>
                          </a:rPr>
                        </m:ctrlPr>
                      </m:accPr>
                      <m:e>
                        <m:r>
                          <a:rPr lang="zh-CN" altLang="en-US" i="1">
                            <a:latin typeface="Cambria Math" panose="02040503050406030204" pitchFamily="18" charset="0"/>
                          </a:rPr>
                          <m:t>𝑦</m:t>
                        </m:r>
                      </m:e>
                    </m:acc>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r>
                      <a:rPr lang="zh-CN" altLang="zh-CN" i="1">
                        <a:latin typeface="Cambria Math" panose="02040503050406030204" pitchFamily="18" charset="0"/>
                      </a:rPr>
                      <m:t>)</m:t>
                    </m:r>
                  </m:oMath>
                </a14:m>
                <a:r>
                  <a:rPr lang="zh-CN" altLang="zh-CN" dirty="0"/>
                  <a:t>，并在此基础上定义“最小能达标</a:t>
                </a:r>
                <a:r>
                  <a:rPr lang="en-US" altLang="zh-CN" dirty="0"/>
                  <a:t> PAC</a:t>
                </a:r>
                <a:r>
                  <a:rPr lang="zh-CN" altLang="zh-CN" dirty="0"/>
                  <a:t>”为：</a:t>
                </a:r>
              </a:p>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r>
                        <a:rPr lang="zh-CN"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𝑎𝑟𝑔</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𝑝</m:t>
                              </m:r>
                            </m:e>
                            <m:sub>
                              <m:r>
                                <a:rPr lang="en-US" altLang="zh-CN" i="1">
                                  <a:latin typeface="Cambria Math" panose="02040503050406030204" pitchFamily="18" charset="0"/>
                                </a:rPr>
                                <m:t>𝑖</m:t>
                              </m:r>
                            </m:sub>
                          </m:sSub>
                        </m:sub>
                        <m:sup>
                          <m:r>
                            <a:rPr lang="en-US" altLang="zh-CN" i="1">
                              <a:latin typeface="Cambria Math" panose="02040503050406030204" pitchFamily="18" charset="0"/>
                            </a:rPr>
                            <m:t>𝑚𝑖𝑛</m:t>
                          </m:r>
                        </m:sup>
                      </m:sSubSup>
                      <m:r>
                        <a:rPr lang="zh-CN" altLang="zh-CN">
                          <a:latin typeface="Cambria Math" panose="02040503050406030204" pitchFamily="18" charset="0"/>
                        </a:rPr>
                        <m:t> </m:t>
                      </m:r>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r>
                            <a:rPr lang="zh-CN" altLang="en-US" i="1">
                              <a:latin typeface="Cambria Math" panose="02040503050406030204" pitchFamily="18" charset="0"/>
                            </a:rPr>
                            <m:t>𝑦</m:t>
                          </m:r>
                        </m:e>
                      </m:acc>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𝑖</m:t>
                          </m:r>
                        </m:sub>
                      </m:sSub>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𝑡𝑎𝑟𝑔𝑒𝑡</m:t>
                          </m:r>
                        </m:sub>
                      </m:sSub>
                      <m:r>
                        <a:rPr lang="en-US" altLang="zh-CN" i="1">
                          <a:latin typeface="Cambria Math" panose="02040503050406030204" pitchFamily="18" charset="0"/>
                        </a:rPr>
                        <m:t>}</m:t>
                      </m:r>
                      <m:r>
                        <a:rPr lang="zh-CN" altLang="zh-CN" i="1">
                          <a:latin typeface="Cambria Math" panose="02040503050406030204" pitchFamily="18" charset="0"/>
                        </a:rPr>
                        <m:t>​</m:t>
                      </m:r>
                    </m:oMath>
                  </m:oMathPara>
                </a14:m>
                <a:endParaRPr lang="zh-CN" altLang="zh-CN" dirty="0"/>
              </a:p>
              <a:p>
                <a:r>
                  <a:rPr lang="zh-CN" altLang="zh-CN" dirty="0"/>
                  <a:t>在离线评估中，为了评估“在不降低当前出水水质的前提下是否存在冗余投加”，我们取目标浊度</a:t>
                </a:r>
                <a:r>
                  <a:rPr lang="en-US" altLang="zh-CN" dirty="0"/>
                  <a:t> </a:t>
                </a:r>
                <a:r>
                  <a:rPr lang="en-US" altLang="zh-CN" dirty="0" err="1"/>
                  <a:t>y</a:t>
                </a:r>
                <a:r>
                  <a:rPr lang="en-US" altLang="zh-CN" baseline="-25000" dirty="0" err="1"/>
                  <a:t>target</a:t>
                </a:r>
                <a:r>
                  <a:rPr lang="en-US" altLang="zh-CN" dirty="0"/>
                  <a:t>=</a:t>
                </a:r>
                <a:r>
                  <a:rPr lang="en-US" altLang="zh-CN" dirty="0" err="1"/>
                  <a:t>y</a:t>
                </a:r>
                <a:r>
                  <a:rPr lang="en-US" altLang="zh-CN" baseline="-25000" dirty="0" err="1"/>
                  <a:t>true</a:t>
                </a:r>
                <a:r>
                  <a:rPr lang="zh-CN" altLang="zh-CN" dirty="0"/>
                  <a:t>（即真实出水浊度），并对测试集</a:t>
                </a:r>
                <a:r>
                  <a:rPr lang="en-US" altLang="zh-CN" dirty="0"/>
                  <a:t> 9,618 </a:t>
                </a:r>
                <a:r>
                  <a:rPr lang="zh-CN" altLang="zh-CN" dirty="0"/>
                  <a:t>条样本逐一计算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 与历史真实投加量 </a:t>
                </a:r>
                <a14:m>
                  <m:oMath xmlns:m="http://schemas.openxmlformats.org/officeDocument/2006/math">
                    <m:r>
                      <a:rPr lang="en-US" altLang="zh-CN" i="1">
                        <a:latin typeface="Cambria Math" panose="02040503050406030204" pitchFamily="18" charset="0"/>
                      </a:rPr>
                      <m:t>𝑝</m:t>
                    </m:r>
                  </m:oMath>
                </a14:m>
                <a:r>
                  <a:rPr lang="en-US" altLang="zh-CN" baseline="-25000" dirty="0"/>
                  <a:t>real</a:t>
                </a:r>
                <a:r>
                  <a:rPr lang="zh-CN" altLang="zh-CN" dirty="0"/>
                  <a:t>的差值。统计结果表明：</a:t>
                </a:r>
              </a:p>
              <a:p>
                <a:pPr marL="285750" indent="-285750">
                  <a:buFont typeface="Wingdings" panose="05000000000000000000" pitchFamily="2" charset="2"/>
                  <a:buChar char="l"/>
                </a:pPr>
                <a:r>
                  <a:rPr lang="zh-CN" altLang="zh-CN" dirty="0"/>
                  <a:t>在</a:t>
                </a:r>
                <a:r>
                  <a:rPr lang="en-US" altLang="zh-CN" dirty="0"/>
                  <a:t> 72.62% </a:t>
                </a:r>
                <a:r>
                  <a:rPr lang="zh-CN" altLang="zh-CN" dirty="0"/>
                  <a:t>的样本中，存在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𝑟𝑒𝑎𝑙</m:t>
                        </m:r>
                      </m:sub>
                    </m:sSub>
                  </m:oMath>
                </a14:m>
                <a:r>
                  <a:rPr lang="en-US" altLang="zh-CN" dirty="0"/>
                  <a:t>&gt;</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，即模型认为在保持当时出水浊度不变的前提下，</a:t>
                </a:r>
                <a:r>
                  <a:rPr lang="en-US" altLang="zh-CN" dirty="0"/>
                  <a:t>PAC </a:t>
                </a:r>
                <a:r>
                  <a:rPr lang="zh-CN" altLang="zh-CN" dirty="0"/>
                  <a:t>存在一定冗余；</a:t>
                </a:r>
              </a:p>
              <a:p>
                <a:pPr marL="285750" indent="-285750">
                  <a:buFont typeface="Wingdings" panose="05000000000000000000" pitchFamily="2" charset="2"/>
                  <a:buChar char="l"/>
                </a:pPr>
                <a:r>
                  <a:rPr lang="zh-CN" altLang="zh-CN" dirty="0"/>
                  <a:t>在这部分“存在节药空间”的样本内，平均可节省比例</a:t>
                </a:r>
                <a14:m>
                  <m:oMath xmlns:m="http://schemas.openxmlformats.org/officeDocument/2006/math">
                    <m:r>
                      <a:rPr lang="zh-CN" altLang="en-US" i="1">
                        <a:latin typeface="Cambria Math" panose="02040503050406030204" pitchFamily="18" charset="0"/>
                      </a:rPr>
                      <m:t>𝔼</m:t>
                    </m:r>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𝑟𝑒𝑎𝑙</m:t>
                                </m:r>
                                <m:r>
                                  <a:rPr lang="zh-CN" altLang="zh-CN">
                                    <a:latin typeface="Cambria Math" panose="02040503050406030204" pitchFamily="18" charset="0"/>
                                  </a:rPr>
                                  <m:t> </m:t>
                                </m:r>
                              </m:sub>
                            </m:sSub>
                            <m:r>
                              <a:rPr lang="zh-CN" altLang="en-US" i="1">
                                <a:latin typeface="Cambria Math" panose="02040503050406030204" pitchFamily="18" charset="0"/>
                              </a:rPr>
                              <m:t>−</m:t>
                            </m:r>
                            <m:sSup>
                              <m:sSupPr>
                                <m:ctrlPr>
                                  <a:rPr lang="zh-CN" altLang="zh-CN" i="1">
                                    <a:latin typeface="Cambria Math" panose="02040503050406030204" pitchFamily="18" charset="0"/>
                                  </a:rPr>
                                </m:ctrlPr>
                              </m:sSupPr>
                              <m:e>
                                <m:r>
                                  <a:rPr lang="zh-CN" altLang="en-US" i="1">
                                    <a:latin typeface="Cambria Math" panose="02040503050406030204" pitchFamily="18" charset="0"/>
                                  </a:rPr>
                                  <m:t>𝑝</m:t>
                                </m:r>
                              </m:e>
                              <m:sup>
                                <m:r>
                                  <a:rPr lang="zh-CN" altLang="en-US" i="1">
                                    <a:latin typeface="Cambria Math" panose="02040503050406030204" pitchFamily="18" charset="0"/>
                                  </a:rPr>
                                  <m:t>∗</m:t>
                                </m:r>
                              </m:sup>
                            </m:sSup>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𝑟𝑒𝑎𝑙</m:t>
                                </m:r>
                              </m:sub>
                            </m:sSub>
                          </m:den>
                        </m:f>
                      </m:e>
                    </m:d>
                  </m:oMath>
                </a14:m>
                <a:r>
                  <a:rPr lang="zh-CN" altLang="zh-CN" dirty="0"/>
                  <a:t> 约为</a:t>
                </a:r>
                <a:r>
                  <a:rPr lang="en-US" altLang="zh-CN" dirty="0"/>
                  <a:t> 23.97%</a:t>
                </a:r>
                <a:r>
                  <a:rPr lang="zh-CN" altLang="zh-CN" dirty="0"/>
                  <a:t>；</a:t>
                </a:r>
              </a:p>
              <a:p>
                <a:pPr marL="285750" indent="-285750">
                  <a:buFont typeface="Wingdings" panose="05000000000000000000" pitchFamily="2" charset="2"/>
                  <a:buChar char="l"/>
                </a:pPr>
                <a:r>
                  <a:rPr lang="zh-CN" altLang="zh-CN" dirty="0"/>
                  <a:t>若从整体药耗角度出发，对所有样本求和后比较 ∑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𝑟𝑒𝑎𝑙</m:t>
                        </m:r>
                      </m:sub>
                    </m:sSub>
                  </m:oMath>
                </a14:m>
                <a:r>
                  <a:rPr lang="zh-CN" altLang="zh-CN" dirty="0"/>
                  <a:t>与 ∑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，净药耗理论节省空间约为</a:t>
                </a:r>
                <a:r>
                  <a:rPr lang="en-US" altLang="zh-CN" dirty="0"/>
                  <a:t> 14.3%</a:t>
                </a:r>
                <a:r>
                  <a:rPr lang="zh-CN" altLang="zh-CN" dirty="0"/>
                  <a:t>。</a:t>
                </a:r>
              </a:p>
              <a:p>
                <a:r>
                  <a:rPr lang="zh-CN" altLang="zh-CN" dirty="0"/>
                  <a:t>这说明，在当前运行水平下，仅通过在既有工况下寻找“最小能达标</a:t>
                </a:r>
                <a:r>
                  <a:rPr lang="en-US" altLang="zh-CN" dirty="0"/>
                  <a:t> PAC</a:t>
                </a:r>
                <a:r>
                  <a:rPr lang="zh-CN" altLang="zh-CN" dirty="0"/>
                  <a:t>”就已经显现出明确的潜在降药空间，且这一结论是建立在完整测试集统计意义上的，而非个别工况的“个案现象”。</a:t>
                </a:r>
                <a:endParaRPr lang="zh-CN" altLang="en-US" dirty="0"/>
              </a:p>
            </p:txBody>
          </p:sp>
        </mc:Choice>
        <mc:Fallback xmlns="">
          <p:sp>
            <p:nvSpPr>
              <p:cNvPr id="2" name="文本框 1">
                <a:extLst>
                  <a:ext uri="{FF2B5EF4-FFF2-40B4-BE49-F238E27FC236}">
                    <a16:creationId xmlns:a16="http://schemas.microsoft.com/office/drawing/2014/main" id="{E1E2A4DE-A73E-C2E4-2856-09528A089D7C}"/>
                  </a:ext>
                </a:extLst>
              </p:cNvPr>
              <p:cNvSpPr txBox="1">
                <a:spLocks noRot="1" noChangeAspect="1" noMove="1" noResize="1" noEditPoints="1" noAdjustHandles="1" noChangeArrowheads="1" noChangeShapeType="1" noTextEdit="1"/>
              </p:cNvSpPr>
              <p:nvPr/>
            </p:nvSpPr>
            <p:spPr>
              <a:xfrm>
                <a:off x="1407367" y="1502228"/>
                <a:ext cx="9377266" cy="4776372"/>
              </a:xfrm>
              <a:prstGeom prst="rect">
                <a:avLst/>
              </a:prstGeom>
              <a:blipFill>
                <a:blip r:embed="rId4"/>
                <a:stretch>
                  <a:fillRect l="-585" t="-638" r="-585" b="-1148"/>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5A05BADA-716E-4FF4-F327-C910EB506616}"/>
              </a:ext>
            </a:extLst>
          </p:cNvPr>
          <p:cNvSpPr txBox="1"/>
          <p:nvPr/>
        </p:nvSpPr>
        <p:spPr>
          <a:xfrm>
            <a:off x="718950" y="951722"/>
            <a:ext cx="2724046"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整体降药逻辑分析：</a:t>
            </a:r>
          </a:p>
        </p:txBody>
      </p:sp>
    </p:spTree>
    <p:extLst>
      <p:ext uri="{BB962C8B-B14F-4D97-AF65-F5344CB8AC3E}">
        <p14:creationId xmlns:p14="http://schemas.microsoft.com/office/powerpoint/2010/main" val="608084558"/>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8544-5894-6B00-58D9-B9FED896A29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58556352-AE22-CADC-8608-89E7A7E5EDAB}"/>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9BCDAD6A-661C-0098-2B1C-9618A4115A1E}"/>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D81CB6CE-D4F9-6213-EB14-353AF05851A0}"/>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3.7 </a:t>
            </a:r>
            <a:r>
              <a:rPr lang="zh-CN" altLang="en-US" sz="2400" dirty="0">
                <a:solidFill>
                  <a:srgbClr val="002060"/>
                </a:solidFill>
                <a:latin typeface="微软雅黑" panose="020B0503020204020204" pitchFamily="34" charset="-122"/>
                <a:ea typeface="微软雅黑" panose="020B0503020204020204" pitchFamily="34" charset="-122"/>
              </a:rPr>
              <a:t>模型降药耗合理性与支撑</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pic>
        <p:nvPicPr>
          <p:cNvPr id="2" name="图片 1" descr="scatter_pac_real_vs_min_ok">
            <a:extLst>
              <a:ext uri="{FF2B5EF4-FFF2-40B4-BE49-F238E27FC236}">
                <a16:creationId xmlns:a16="http://schemas.microsoft.com/office/drawing/2014/main" id="{D5F0644A-4389-F23A-3618-C42793D22A3A}"/>
              </a:ext>
            </a:extLst>
          </p:cNvPr>
          <p:cNvPicPr>
            <a:picLocks noChangeAspect="1"/>
          </p:cNvPicPr>
          <p:nvPr/>
        </p:nvPicPr>
        <p:blipFill>
          <a:blip r:embed="rId4"/>
          <a:stretch>
            <a:fillRect/>
          </a:stretch>
        </p:blipFill>
        <p:spPr>
          <a:xfrm>
            <a:off x="388976" y="711015"/>
            <a:ext cx="6449631" cy="4837223"/>
          </a:xfrm>
          <a:prstGeom prst="rect">
            <a:avLst/>
          </a:prstGeom>
        </p:spPr>
      </p:pic>
      <p:sp>
        <p:nvSpPr>
          <p:cNvPr id="3" name="文本框 2">
            <a:extLst>
              <a:ext uri="{FF2B5EF4-FFF2-40B4-BE49-F238E27FC236}">
                <a16:creationId xmlns:a16="http://schemas.microsoft.com/office/drawing/2014/main" id="{521FCEA3-8442-9E7F-6270-942EF1AAB680}"/>
              </a:ext>
            </a:extLst>
          </p:cNvPr>
          <p:cNvSpPr txBox="1"/>
          <p:nvPr/>
        </p:nvSpPr>
        <p:spPr>
          <a:xfrm>
            <a:off x="7137918" y="1922105"/>
            <a:ext cx="4132529" cy="3139321"/>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t>图中有一条</a:t>
            </a:r>
            <a:r>
              <a:rPr lang="en-US" altLang="zh-CN" dirty="0"/>
              <a:t>y=x</a:t>
            </a:r>
            <a:r>
              <a:rPr lang="zh-CN" altLang="en-US" dirty="0"/>
              <a:t>的直线来分割模型在某个时间点工况是否能够节约</a:t>
            </a:r>
            <a:r>
              <a:rPr lang="en-US" altLang="zh-CN" dirty="0"/>
              <a:t>PAC</a:t>
            </a:r>
            <a:r>
              <a:rPr lang="zh-CN" altLang="en-US" dirty="0"/>
              <a:t>。</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在函数上方，最小达标</a:t>
            </a:r>
            <a:r>
              <a:rPr lang="en-US" altLang="zh-CN" dirty="0"/>
              <a:t>PAC</a:t>
            </a:r>
            <a:r>
              <a:rPr lang="zh-CN" altLang="en-US" dirty="0"/>
              <a:t>大于真实</a:t>
            </a:r>
            <a:r>
              <a:rPr lang="en-US" altLang="zh-CN" dirty="0"/>
              <a:t>PAC</a:t>
            </a:r>
            <a:r>
              <a:rPr lang="zh-CN" altLang="en-US" dirty="0"/>
              <a:t>投加量。是需要多加药的工况。</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在函数下方，最小达标</a:t>
            </a:r>
            <a:r>
              <a:rPr lang="en-US" altLang="zh-CN" dirty="0"/>
              <a:t>PAC</a:t>
            </a:r>
            <a:r>
              <a:rPr lang="zh-CN" altLang="en-US" dirty="0"/>
              <a:t>小于真实</a:t>
            </a:r>
            <a:r>
              <a:rPr lang="en-US" altLang="zh-CN" dirty="0"/>
              <a:t>PAC</a:t>
            </a:r>
            <a:r>
              <a:rPr lang="zh-CN" altLang="en-US" dirty="0"/>
              <a:t>投加量。是可以降药耗的工况。</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en-US" dirty="0"/>
              <a:t>明显下方的点数要远超上方的点数，进一步</a:t>
            </a:r>
            <a:r>
              <a:rPr lang="zh-CN" altLang="zh-CN" dirty="0"/>
              <a:t>显现出明确的潜在降药空间</a:t>
            </a:r>
            <a:r>
              <a:rPr lang="zh-CN" altLang="en-US" dirty="0"/>
              <a:t>。</a:t>
            </a:r>
            <a:endParaRPr lang="en-US" altLang="zh-CN" dirty="0"/>
          </a:p>
        </p:txBody>
      </p:sp>
    </p:spTree>
    <p:extLst>
      <p:ext uri="{BB962C8B-B14F-4D97-AF65-F5344CB8AC3E}">
        <p14:creationId xmlns:p14="http://schemas.microsoft.com/office/powerpoint/2010/main" val="2152901538"/>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485D0-9EDC-3304-59E9-4E6FE6A7945E}"/>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D24E87DE-C363-D4B2-300A-EC0EAEDCBA86}"/>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93E37005-CBAB-BFCF-31F9-B5F1823C9FEE}"/>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53</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9789ABEB-EA9A-EEEE-1611-3608D4FAAACE}"/>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3.7 </a:t>
            </a:r>
            <a:r>
              <a:rPr lang="zh-CN" altLang="en-US" sz="2400" dirty="0">
                <a:solidFill>
                  <a:srgbClr val="002060"/>
                </a:solidFill>
                <a:latin typeface="微软雅黑" panose="020B0503020204020204" pitchFamily="34" charset="-122"/>
                <a:ea typeface="微软雅黑" panose="020B0503020204020204" pitchFamily="34" charset="-122"/>
              </a:rPr>
              <a:t>智能加药模型构建与应用</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pic>
        <p:nvPicPr>
          <p:cNvPr id="2" name="图片 1" descr="hist_pac_saving_pct">
            <a:extLst>
              <a:ext uri="{FF2B5EF4-FFF2-40B4-BE49-F238E27FC236}">
                <a16:creationId xmlns:a16="http://schemas.microsoft.com/office/drawing/2014/main" id="{2C8DE0E4-1A7F-A248-7D53-AB12C28F793B}"/>
              </a:ext>
            </a:extLst>
          </p:cNvPr>
          <p:cNvPicPr>
            <a:picLocks noChangeAspect="1"/>
          </p:cNvPicPr>
          <p:nvPr/>
        </p:nvPicPr>
        <p:blipFill>
          <a:blip r:embed="rId4"/>
          <a:stretch>
            <a:fillRect/>
          </a:stretch>
        </p:blipFill>
        <p:spPr>
          <a:xfrm>
            <a:off x="438557" y="780828"/>
            <a:ext cx="6580725" cy="4935544"/>
          </a:xfrm>
          <a:prstGeom prst="rect">
            <a:avLst/>
          </a:prstGeom>
        </p:spPr>
      </p:pic>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4A961EAD-8249-84B2-F687-D3EF9232D537}"/>
                  </a:ext>
                </a:extLst>
              </p:cNvPr>
              <p:cNvSpPr txBox="1"/>
              <p:nvPr/>
            </p:nvSpPr>
            <p:spPr>
              <a:xfrm>
                <a:off x="7232993" y="1177488"/>
                <a:ext cx="4793350" cy="3970318"/>
              </a:xfrm>
              <a:prstGeom prst="rect">
                <a:avLst/>
              </a:prstGeom>
              <a:noFill/>
            </p:spPr>
            <p:txBody>
              <a:bodyPr wrap="square" rtlCol="0">
                <a:spAutoFit/>
              </a:bodyPr>
              <a:lstStyle/>
              <a:p>
                <a:pPr marL="285750" indent="-285750">
                  <a:buFont typeface="Wingdings" panose="05000000000000000000" pitchFamily="2" charset="2"/>
                  <a:buChar char="l"/>
                </a:pPr>
                <a:r>
                  <a:rPr lang="zh-CN" altLang="zh-CN" dirty="0"/>
                  <a:t>离线分析同样暴露了模型在某些工况下的保守性：在</a:t>
                </a:r>
                <a:r>
                  <a:rPr lang="en-US" altLang="zh-CN" dirty="0"/>
                  <a:t> 27.15% </a:t>
                </a:r>
                <a:r>
                  <a:rPr lang="zh-CN" altLang="zh-CN" dirty="0"/>
                  <a:t>的样本中统计发现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𝑟𝑒𝑎𝑙</m:t>
                        </m:r>
                      </m:sub>
                    </m:sSub>
                  </m:oMath>
                </a14:m>
                <a:r>
                  <a:rPr lang="en-US" altLang="zh-CN" baseline="-25000" dirty="0"/>
                  <a:t> </a:t>
                </a:r>
                <a:r>
                  <a:rPr lang="en-US" altLang="zh-CN" dirty="0"/>
                  <a:t>&lt;</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 即模型认为“要维持当时的出水浊度，理论上需要更高的</a:t>
                </a:r>
                <a:r>
                  <a:rPr lang="en-US" altLang="zh-CN" dirty="0"/>
                  <a:t> PAC </a:t>
                </a:r>
                <a:r>
                  <a:rPr lang="zh-CN" altLang="zh-CN" dirty="0"/>
                  <a:t>投加”，节约比例见</a:t>
                </a:r>
                <a:r>
                  <a:rPr lang="zh-CN" altLang="en-US" dirty="0"/>
                  <a:t>左图</a:t>
                </a:r>
                <a:r>
                  <a:rPr lang="zh-CN" altLang="zh-CN" dirty="0"/>
                  <a:t>。而</a:t>
                </a:r>
                <a:r>
                  <a:rPr lang="zh-CN" altLang="en-US" dirty="0"/>
                  <a:t>实际上的运</a:t>
                </a:r>
                <a:r>
                  <a:rPr lang="zh-CN" altLang="zh-CN" dirty="0"/>
                  <a:t>行结果表明，这些时刻</a:t>
                </a:r>
                <a:r>
                  <a:rPr lang="zh-CN" altLang="en-US" dirty="0"/>
                  <a:t>的出水</a:t>
                </a:r>
                <a:r>
                  <a:rPr lang="zh-CN" altLang="zh-CN" dirty="0"/>
                  <a:t>同样达标，这说明：</a:t>
                </a: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zh-CN" altLang="zh-CN" dirty="0"/>
                  <a:t>一方面，模型在个别工况下可能存在一定高估偏差；</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另一方面，也反映出现场工艺中</a:t>
                </a:r>
                <a:r>
                  <a:rPr lang="zh-CN" altLang="en-US" dirty="0"/>
                  <a:t>实际工况可能会受到其余</a:t>
                </a:r>
                <a:r>
                  <a:rPr lang="zh-CN" altLang="zh-CN" dirty="0"/>
                  <a:t>影响因素（例如搅拌条件</a:t>
                </a:r>
                <a:r>
                  <a:rPr lang="zh-CN" altLang="en-US" dirty="0"/>
                  <a:t>、</a:t>
                </a:r>
                <a:r>
                  <a:rPr lang="zh-CN" altLang="zh-CN" dirty="0"/>
                  <a:t>、其他药剂协同等）</a:t>
                </a:r>
                <a:r>
                  <a:rPr lang="zh-CN" altLang="en-US" dirty="0"/>
                  <a:t>的</a:t>
                </a:r>
                <a:r>
                  <a:rPr lang="zh-CN" altLang="zh-CN" dirty="0"/>
                  <a:t>作用。</a:t>
                </a:r>
              </a:p>
              <a:p>
                <a:pPr marL="285750" indent="-285750">
                  <a:buFont typeface="Wingdings" panose="05000000000000000000" pitchFamily="2" charset="2"/>
                  <a:buChar char="l"/>
                </a:pPr>
                <a:endParaRPr lang="zh-CN" altLang="en-US" dirty="0"/>
              </a:p>
            </p:txBody>
          </p:sp>
        </mc:Choice>
        <mc:Fallback>
          <p:sp>
            <p:nvSpPr>
              <p:cNvPr id="3" name="文本框 2">
                <a:extLst>
                  <a:ext uri="{FF2B5EF4-FFF2-40B4-BE49-F238E27FC236}">
                    <a16:creationId xmlns:a16="http://schemas.microsoft.com/office/drawing/2014/main" id="{4A961EAD-8249-84B2-F687-D3EF9232D537}"/>
                  </a:ext>
                </a:extLst>
              </p:cNvPr>
              <p:cNvSpPr txBox="1">
                <a:spLocks noRot="1" noChangeAspect="1" noMove="1" noResize="1" noEditPoints="1" noAdjustHandles="1" noChangeArrowheads="1" noChangeShapeType="1" noTextEdit="1"/>
              </p:cNvSpPr>
              <p:nvPr/>
            </p:nvSpPr>
            <p:spPr>
              <a:xfrm>
                <a:off x="7232993" y="1177488"/>
                <a:ext cx="4793350" cy="3970318"/>
              </a:xfrm>
              <a:prstGeom prst="rect">
                <a:avLst/>
              </a:prstGeom>
              <a:blipFill>
                <a:blip r:embed="rId5"/>
                <a:stretch>
                  <a:fillRect l="-891" t="-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7352083"/>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4F2A-38ED-8860-08E5-AD0A3EDF6E1A}"/>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98A400B2-D649-93DE-8A54-782D2D50CE1A}"/>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C21E603F-6511-1715-7F39-6C46D56B19B8}"/>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54</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AE177CCC-A728-B20F-C798-B6DA44C1FC1E}"/>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3.7 </a:t>
            </a:r>
            <a:r>
              <a:rPr lang="zh-CN" altLang="en-US" sz="2400" dirty="0">
                <a:solidFill>
                  <a:srgbClr val="002060"/>
                </a:solidFill>
                <a:latin typeface="微软雅黑" panose="020B0503020204020204" pitchFamily="34" charset="-122"/>
                <a:ea typeface="微软雅黑" panose="020B0503020204020204" pitchFamily="34" charset="-122"/>
              </a:rPr>
              <a:t>模型降药耗合理性与支撑</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DFE9094-B0A4-70B4-5323-E74549E98D2A}"/>
                  </a:ext>
                </a:extLst>
              </p:cNvPr>
              <p:cNvSpPr txBox="1"/>
              <p:nvPr/>
            </p:nvSpPr>
            <p:spPr>
              <a:xfrm>
                <a:off x="1474235" y="1776824"/>
                <a:ext cx="9097348" cy="3970318"/>
              </a:xfrm>
              <a:prstGeom prst="rect">
                <a:avLst/>
              </a:prstGeom>
              <a:noFill/>
            </p:spPr>
            <p:txBody>
              <a:bodyPr wrap="square" rtlCol="0">
                <a:spAutoFit/>
              </a:bodyPr>
              <a:lstStyle/>
              <a:p>
                <a:r>
                  <a:rPr lang="zh-CN" altLang="zh-CN" dirty="0"/>
                  <a:t>在反向方向上（目标浊度 →</a:t>
                </a:r>
                <a:r>
                  <a:rPr lang="en-US" altLang="zh-CN" dirty="0"/>
                  <a:t> PAC</a:t>
                </a:r>
                <a:r>
                  <a:rPr lang="zh-CN" altLang="zh-CN" dirty="0"/>
                  <a:t>），我们不仅训练了点估计模型，还训练了</a:t>
                </a:r>
                <a:r>
                  <a:rPr lang="en-US" altLang="zh-CN" dirty="0"/>
                  <a:t> PAC </a:t>
                </a:r>
                <a:r>
                  <a:rPr lang="zh-CN" altLang="zh-CN" dirty="0"/>
                  <a:t>的分位数回归模型（</a:t>
                </a:r>
                <a:r>
                  <a:rPr lang="en-US" altLang="zh-CN" dirty="0"/>
                  <a:t>q05 / q95 </a:t>
                </a:r>
                <a:r>
                  <a:rPr lang="zh-CN" altLang="zh-CN" dirty="0"/>
                  <a:t>等），用于刻画在历史数据中“同等达标水平下</a:t>
                </a:r>
                <a:r>
                  <a:rPr lang="en-US" altLang="zh-CN" dirty="0"/>
                  <a:t> PAC </a:t>
                </a:r>
                <a:r>
                  <a:rPr lang="zh-CN" altLang="zh-CN" dirty="0"/>
                  <a:t>的经验分布”。在给定目标浊度及工况条件下，模型输出的</a:t>
                </a:r>
                <a:r>
                  <a:rPr lang="en-US" altLang="zh-CN" dirty="0"/>
                  <a:t> PAC </a:t>
                </a:r>
                <a:r>
                  <a:rPr lang="zh-CN" altLang="zh-CN" dirty="0"/>
                  <a:t>区间</a:t>
                </a:r>
                <a:r>
                  <a:rPr lang="en-US" altLang="zh-CN" dirty="0"/>
                  <a:t> [q</a:t>
                </a:r>
                <a:r>
                  <a:rPr lang="en-US" altLang="zh-CN" baseline="-25000" dirty="0"/>
                  <a:t>05</a:t>
                </a:r>
                <a:r>
                  <a:rPr lang="en-US" altLang="zh-CN" dirty="0"/>
                  <a:t>,q</a:t>
                </a:r>
                <a:r>
                  <a:rPr lang="en-US" altLang="zh-CN" baseline="-25000" dirty="0"/>
                  <a:t>95</a:t>
                </a:r>
                <a:r>
                  <a:rPr lang="en-US" altLang="zh-CN" dirty="0"/>
                  <a:t>]</a:t>
                </a:r>
                <a:r>
                  <a:rPr lang="zh-CN" altLang="en-US" dirty="0"/>
                  <a:t>如下</a:t>
                </a:r>
                <a:r>
                  <a:rPr lang="zh-CN" altLang="zh-CN" dirty="0"/>
                  <a:t>：</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区间下界</a:t>
                </a:r>
                <a:r>
                  <a:rPr lang="en-US" altLang="zh-CN" dirty="0"/>
                  <a:t> q05</a:t>
                </a:r>
                <a:r>
                  <a:rPr lang="zh-CN" altLang="zh-CN" dirty="0"/>
                  <a:t>：对应历史上较为节省的一侧投加水平。</a:t>
                </a:r>
                <a:r>
                  <a:rPr lang="zh-CN" altLang="en-US" dirty="0"/>
                  <a:t>在</a:t>
                </a:r>
                <a:r>
                  <a:rPr lang="zh-CN" altLang="zh-CN" dirty="0"/>
                  <a:t>模型无系统偏差</a:t>
                </a:r>
                <a:r>
                  <a:rPr lang="zh-CN" altLang="en-US" dirty="0"/>
                  <a:t>的情况下</a:t>
                </a:r>
                <a:r>
                  <a:rPr lang="zh-CN" altLang="zh-CN" dirty="0"/>
                  <a:t>，</a:t>
                </a:r>
                <a:r>
                  <a:rPr lang="zh-CN" altLang="en-US" dirty="0"/>
                  <a:t>代表</a:t>
                </a:r>
                <a:r>
                  <a:rPr lang="zh-CN" altLang="zh-CN" dirty="0"/>
                  <a:t>着在约</a:t>
                </a:r>
                <a:r>
                  <a:rPr lang="en-US" altLang="zh-CN" dirty="0"/>
                  <a:t> 95% </a:t>
                </a:r>
                <a:r>
                  <a:rPr lang="zh-CN" altLang="zh-CN" dirty="0"/>
                  <a:t>的类似工况下，</a:t>
                </a:r>
                <a:r>
                  <a:rPr lang="en-US" altLang="zh-CN" dirty="0"/>
                  <a:t>PAC </a:t>
                </a:r>
                <a:r>
                  <a:rPr lang="zh-CN" altLang="zh-CN" dirty="0"/>
                  <a:t>投加高于该值仍能保证达到目标浊度。因此</a:t>
                </a:r>
                <a:r>
                  <a:rPr lang="en-US" altLang="zh-CN" dirty="0"/>
                  <a:t> q05 </a:t>
                </a:r>
                <a:r>
                  <a:rPr lang="zh-CN" altLang="zh-CN" dirty="0"/>
                  <a:t>可以作为“偏节省侧”的建议值，用于水质稳定、风险容忍度较高的场景；</a:t>
                </a:r>
                <a:endParaRPr lang="en-US" altLang="zh-CN" dirty="0"/>
              </a:p>
              <a:p>
                <a:pPr marL="285750" indent="-285750">
                  <a:buFont typeface="Wingdings" panose="05000000000000000000" pitchFamily="2" charset="2"/>
                  <a:buChar char="l"/>
                </a:pPr>
                <a:endParaRPr lang="zh-CN" altLang="zh-CN" dirty="0"/>
              </a:p>
              <a:p>
                <a:pPr marL="285750" indent="-285750">
                  <a:buFont typeface="Wingdings" panose="05000000000000000000" pitchFamily="2" charset="2"/>
                  <a:buChar char="l"/>
                </a:pPr>
                <a:r>
                  <a:rPr lang="zh-CN" altLang="zh-CN" dirty="0"/>
                  <a:t>区间中位数或</a:t>
                </a:r>
                <a:r>
                  <a:rPr lang="en-US" altLang="zh-CN" dirty="0"/>
                  <a:t> q05~q50 </a:t>
                </a:r>
                <a:r>
                  <a:rPr lang="zh-CN" altLang="zh-CN" dirty="0"/>
                  <a:t>中部：对应在历史样本中既避免明显过量，又兼顾一定安全富余的区域，更适合作为初期试运行或在线自动控制的主推荐区间。</a:t>
                </a:r>
                <a:endParaRPr lang="en-US" altLang="zh-CN" dirty="0"/>
              </a:p>
              <a:p>
                <a:pPr marL="285750" indent="-285750">
                  <a:buFont typeface="Wingdings" panose="05000000000000000000" pitchFamily="2" charset="2"/>
                  <a:buChar char="l"/>
                </a:pPr>
                <a:endParaRPr lang="zh-CN" altLang="zh-CN" dirty="0"/>
              </a:p>
              <a:p>
                <a:r>
                  <a:rPr lang="zh-CN" altLang="zh-CN" dirty="0"/>
                  <a:t>结合前述前向搜索得到的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，分位区间的作用可以理解为：在理论最小达标</a:t>
                </a:r>
                <a:r>
                  <a:rPr lang="en-US" altLang="zh-CN" dirty="0"/>
                  <a:t> PAC </a:t>
                </a:r>
                <a:r>
                  <a:rPr lang="zh-CN" altLang="zh-CN" dirty="0"/>
                  <a:t>的基础上叠加一个基于历史经验统计的安全缓冲层，使节药空间具有可量化的风险边界，而不是简单</a:t>
                </a:r>
                <a:r>
                  <a:rPr lang="zh-CN" altLang="en-US" dirty="0"/>
                  <a:t>的少投药</a:t>
                </a:r>
                <a:r>
                  <a:rPr lang="zh-CN" altLang="zh-CN" dirty="0"/>
                  <a:t>。</a:t>
                </a:r>
              </a:p>
            </p:txBody>
          </p:sp>
        </mc:Choice>
        <mc:Fallback xmlns="">
          <p:sp>
            <p:nvSpPr>
              <p:cNvPr id="4" name="文本框 3">
                <a:extLst>
                  <a:ext uri="{FF2B5EF4-FFF2-40B4-BE49-F238E27FC236}">
                    <a16:creationId xmlns:a16="http://schemas.microsoft.com/office/drawing/2014/main" id="{0DFE9094-B0A4-70B4-5323-E74549E98D2A}"/>
                  </a:ext>
                </a:extLst>
              </p:cNvPr>
              <p:cNvSpPr txBox="1">
                <a:spLocks noRot="1" noChangeAspect="1" noMove="1" noResize="1" noEditPoints="1" noAdjustHandles="1" noChangeArrowheads="1" noChangeShapeType="1" noTextEdit="1"/>
              </p:cNvSpPr>
              <p:nvPr/>
            </p:nvSpPr>
            <p:spPr>
              <a:xfrm>
                <a:off x="1474235" y="1776824"/>
                <a:ext cx="9097348" cy="3970318"/>
              </a:xfrm>
              <a:prstGeom prst="rect">
                <a:avLst/>
              </a:prstGeom>
              <a:blipFill>
                <a:blip r:embed="rId4"/>
                <a:stretch>
                  <a:fillRect l="-603" t="-767" r="-469" b="-138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62E32A8E-4B28-F2A8-8558-9C64EE924B7A}"/>
              </a:ext>
            </a:extLst>
          </p:cNvPr>
          <p:cNvSpPr txBox="1"/>
          <p:nvPr/>
        </p:nvSpPr>
        <p:spPr>
          <a:xfrm>
            <a:off x="718950" y="951722"/>
            <a:ext cx="2724046"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分位回归降药逻辑分析：</a:t>
            </a:r>
          </a:p>
        </p:txBody>
      </p:sp>
    </p:spTree>
    <p:extLst>
      <p:ext uri="{BB962C8B-B14F-4D97-AF65-F5344CB8AC3E}">
        <p14:creationId xmlns:p14="http://schemas.microsoft.com/office/powerpoint/2010/main" val="804133937"/>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449BE-ED2E-EE9E-752B-2F66993765C9}"/>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DE65445E-BEFF-8B3B-2B34-1C52064F7BBC}"/>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A3D367FC-308E-D91E-4551-873558FFEBD3}"/>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55</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86166EA0-8F8C-0367-295D-476F5D6DF260}"/>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3.7 </a:t>
            </a:r>
            <a:r>
              <a:rPr lang="zh-CN" altLang="en-US" sz="2400" dirty="0">
                <a:solidFill>
                  <a:srgbClr val="002060"/>
                </a:solidFill>
                <a:latin typeface="微软雅黑" panose="020B0503020204020204" pitchFamily="34" charset="-122"/>
                <a:ea typeface="微软雅黑" panose="020B0503020204020204" pitchFamily="34" charset="-122"/>
              </a:rPr>
              <a:t>模型降药耗合理性与支撑</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3D075D1-AA9E-AC11-DD1E-8285AF4D73E7}"/>
              </a:ext>
            </a:extLst>
          </p:cNvPr>
          <p:cNvSpPr txBox="1"/>
          <p:nvPr/>
        </p:nvSpPr>
        <p:spPr>
          <a:xfrm>
            <a:off x="718950" y="951722"/>
            <a:ext cx="2724046"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降药结论：</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10FAA58F-51E8-26B6-D370-7AAF48C20229}"/>
                  </a:ext>
                </a:extLst>
              </p:cNvPr>
              <p:cNvSpPr txBox="1"/>
              <p:nvPr/>
            </p:nvSpPr>
            <p:spPr>
              <a:xfrm>
                <a:off x="1352938" y="1800808"/>
                <a:ext cx="9638523" cy="4062779"/>
              </a:xfrm>
              <a:prstGeom prst="rect">
                <a:avLst/>
              </a:prstGeom>
              <a:noFill/>
            </p:spPr>
            <p:txBody>
              <a:bodyPr wrap="square" rtlCol="0">
                <a:spAutoFit/>
              </a:bodyPr>
              <a:lstStyle/>
              <a:p>
                <a:r>
                  <a:rPr lang="zh-CN" altLang="en-US" dirty="0"/>
                  <a:t>结合上述分析</a:t>
                </a:r>
                <a:r>
                  <a:rPr lang="zh-CN" altLang="zh-CN" dirty="0"/>
                  <a:t>，</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 更适合被理解为“理论节药下限”而非“线上控制设定值”。</a:t>
                </a:r>
                <a:r>
                  <a:rPr lang="zh-CN" altLang="en-US" dirty="0"/>
                  <a:t>因此</a:t>
                </a:r>
                <a:r>
                  <a:rPr lang="zh-CN" altLang="zh-CN" dirty="0"/>
                  <a:t>，建议在工程应用中采用如下安全控制逻辑：</a:t>
                </a:r>
              </a:p>
              <a:p>
                <a:r>
                  <a:rPr lang="zh-CN" altLang="zh-CN" dirty="0"/>
                  <a:t>在线控制时不直接将</a:t>
                </a:r>
                <a:r>
                  <a:rPr lang="en-US" altLang="zh-CN" dirty="0"/>
                  <a:t> PAC </a:t>
                </a:r>
                <a:r>
                  <a:rPr lang="zh-CN" altLang="zh-CN" dirty="0"/>
                  <a:t>降到</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oMath>
                </a14:m>
                <a:r>
                  <a:rPr lang="zh-CN" altLang="zh-CN" dirty="0"/>
                  <a:t>，而是在此基础上叠加安全系数，可以设定：</a:t>
                </a:r>
                <a:endParaRPr lang="en-US" altLang="zh-CN" dirty="0"/>
              </a:p>
              <a:p>
                <a:endParaRPr lang="zh-CN" altLang="zh-CN" dirty="0"/>
              </a:p>
              <a:p>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𝑜𝑛𝑙𝑖𝑛𝑒</m:t>
                          </m:r>
                          <m:r>
                            <a:rPr lang="zh-CN" altLang="zh-CN" sz="1600">
                              <a:latin typeface="Cambria Math" panose="02040503050406030204" pitchFamily="18" charset="0"/>
                            </a:rPr>
                            <m:t> </m:t>
                          </m:r>
                        </m:sub>
                      </m:sSub>
                      <m:r>
                        <a:rPr lang="zh-CN" altLang="zh-CN" sz="1600" i="1">
                          <a:latin typeface="Cambria Math" panose="02040503050406030204" pitchFamily="18" charset="0"/>
                        </a:rPr>
                        <m:t>=</m:t>
                      </m:r>
                      <m:func>
                        <m:funcPr>
                          <m:ctrlPr>
                            <a:rPr lang="zh-CN" altLang="zh-CN" sz="1600" i="1">
                              <a:latin typeface="Cambria Math" panose="02040503050406030204" pitchFamily="18" charset="0"/>
                            </a:rPr>
                          </m:ctrlPr>
                        </m:funcPr>
                        <m:fName>
                          <m:r>
                            <m:rPr>
                              <m:sty m:val="p"/>
                            </m:rPr>
                            <a:rPr lang="zh-CN" altLang="zh-CN" sz="1600">
                              <a:latin typeface="Cambria Math" panose="02040503050406030204" pitchFamily="18" charset="0"/>
                            </a:rPr>
                            <m:t>max</m:t>
                          </m:r>
                        </m:fName>
                        <m:e>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𝑝</m:t>
                                  </m:r>
                                </m:e>
                                <m:sup>
                                  <m:r>
                                    <a:rPr lang="en-US" altLang="zh-CN" sz="1600" i="1">
                                      <a:latin typeface="Cambria Math" panose="02040503050406030204" pitchFamily="18" charset="0"/>
                                    </a:rPr>
                                    <m:t>∗</m:t>
                                  </m:r>
                                </m:sup>
                              </m:sSup>
                              <m:r>
                                <a:rPr lang="zh-CN" altLang="zh-CN" sz="1600">
                                  <a:latin typeface="Cambria Math" panose="02040503050406030204" pitchFamily="18" charset="0"/>
                                </a:rPr>
                                <m:t>×</m:t>
                              </m:r>
                              <m:d>
                                <m:dPr>
                                  <m:ctrlPr>
                                    <a:rPr lang="zh-CN" altLang="zh-CN" sz="1600" i="1">
                                      <a:latin typeface="Cambria Math" panose="02040503050406030204" pitchFamily="18" charset="0"/>
                                    </a:rPr>
                                  </m:ctrlPr>
                                </m:dPr>
                                <m:e>
                                  <m:r>
                                    <a:rPr lang="zh-CN" altLang="zh-CN" sz="1600" i="1">
                                      <a:latin typeface="Cambria Math" panose="02040503050406030204" pitchFamily="18" charset="0"/>
                                    </a:rPr>
                                    <m:t>1+</m:t>
                                  </m:r>
                                  <m:r>
                                    <a:rPr lang="zh-CN" altLang="en-US" sz="1600" i="1">
                                      <a:latin typeface="Cambria Math" panose="02040503050406030204" pitchFamily="18" charset="0"/>
                                    </a:rPr>
                                    <m:t>𝛿</m:t>
                                  </m:r>
                                </m:e>
                              </m:d>
                              <m:r>
                                <a:rPr lang="zh-CN"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zh-CN" altLang="en-US" sz="1600" i="1">
                                      <a:latin typeface="Cambria Math" panose="02040503050406030204" pitchFamily="18" charset="0"/>
                                    </a:rPr>
                                    <m:t>𝑝</m:t>
                                  </m:r>
                                </m:e>
                                <m:sub>
                                  <m:r>
                                    <m:rPr>
                                      <m:sty m:val="p"/>
                                    </m:rPr>
                                    <a:rPr lang="zh-CN" altLang="zh-CN" sz="1600">
                                      <a:latin typeface="Cambria Math" panose="02040503050406030204" pitchFamily="18" charset="0"/>
                                    </a:rPr>
                                    <m:t>min</m:t>
                                  </m:r>
                                  <m:r>
                                    <a:rPr lang="zh-CN" altLang="zh-CN" sz="1600" i="1">
                                      <a:latin typeface="Cambria Math" panose="02040503050406030204" pitchFamily="18" charset="0"/>
                                    </a:rPr>
                                    <m:t>_</m:t>
                                  </m:r>
                                  <m:r>
                                    <a:rPr lang="zh-CN" altLang="zh-CN" sz="1600">
                                      <a:latin typeface="Cambria Math" panose="02040503050406030204" pitchFamily="18" charset="0"/>
                                    </a:rPr>
                                    <m:t>经验</m:t>
                                  </m:r>
                                  <m:r>
                                    <a:rPr lang="zh-CN" altLang="zh-CN" sz="1600">
                                      <a:latin typeface="Cambria Math" panose="02040503050406030204" pitchFamily="18" charset="0"/>
                                    </a:rPr>
                                    <m:t> </m:t>
                                  </m:r>
                                </m:sub>
                              </m:sSub>
                            </m:e>
                          </m:d>
                        </m:e>
                      </m:func>
                    </m:oMath>
                  </m:oMathPara>
                </a14:m>
                <a:endParaRPr lang="en-US" altLang="zh-CN" sz="1600" dirty="0"/>
              </a:p>
              <a:p>
                <a:endParaRPr lang="zh-CN" altLang="zh-CN" dirty="0"/>
              </a:p>
              <a:p>
                <a:r>
                  <a:rPr lang="zh-CN" altLang="zh-CN" dirty="0"/>
                  <a:t>其中δ取</a:t>
                </a:r>
                <a:r>
                  <a:rPr lang="en-US" altLang="zh-CN" dirty="0"/>
                  <a:t> 5%</a:t>
                </a:r>
                <a:r>
                  <a:rPr lang="zh-CN" altLang="zh-CN" dirty="0"/>
                  <a:t>–</a:t>
                </a:r>
                <a:r>
                  <a:rPr lang="en-US" altLang="zh-CN" dirty="0"/>
                  <a:t>10% </a:t>
                </a:r>
                <a:r>
                  <a:rPr lang="zh-CN" altLang="zh-CN" dirty="0"/>
                  <a:t>作为初始安全裕度，</a:t>
                </a:r>
                <a:r>
                  <a:rPr lang="en-US" altLang="zh-CN" dirty="0" err="1"/>
                  <a:t>p</a:t>
                </a:r>
                <a:r>
                  <a:rPr lang="en-US" altLang="zh-CN" baseline="-25000" dirty="0" err="1"/>
                  <a:t>min</a:t>
                </a:r>
                <a:r>
                  <a:rPr lang="en-US" altLang="zh-CN" baseline="-25000" dirty="0"/>
                  <a:t>_</a:t>
                </a:r>
                <a:r>
                  <a:rPr lang="zh-CN" altLang="zh-CN" baseline="-25000" dirty="0"/>
                  <a:t>经验</a:t>
                </a:r>
                <a:r>
                  <a:rPr lang="zh-CN" altLang="zh-CN" dirty="0"/>
                  <a:t>为工艺侧认可的经验下限</a:t>
                </a:r>
                <a:r>
                  <a:rPr lang="zh-CN" altLang="en-US" dirty="0"/>
                  <a:t>，即点预测给出的</a:t>
                </a:r>
                <a:r>
                  <a:rPr lang="en-US" altLang="zh-CN" dirty="0"/>
                  <a:t>PAC</a:t>
                </a:r>
                <a:r>
                  <a:rPr lang="zh-CN" altLang="en-US" dirty="0"/>
                  <a:t>投加量。</a:t>
                </a:r>
                <a:endParaRPr lang="en-US" altLang="zh-CN" dirty="0"/>
              </a:p>
              <a:p>
                <a:endParaRPr lang="zh-CN" altLang="zh-CN" dirty="0"/>
              </a:p>
              <a:p>
                <a:r>
                  <a:rPr lang="zh-CN" altLang="zh-CN" dirty="0"/>
                  <a:t>对于模型给出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r>
                      <a:rPr lang="en-US" altLang="zh-CN">
                        <a:latin typeface="Cambria Math" panose="02040503050406030204" pitchFamily="18" charset="0"/>
                      </a:rPr>
                      <m:t>&gt;</m:t>
                    </m:r>
                    <m:r>
                      <a:rPr lang="en-US" altLang="zh-CN" i="1">
                        <a:latin typeface="Cambria Math" panose="02040503050406030204" pitchFamily="18" charset="0"/>
                      </a:rPr>
                      <m:t>𝑝</m:t>
                    </m:r>
                  </m:oMath>
                </a14:m>
                <a:r>
                  <a:rPr lang="en-US" altLang="zh-CN" baseline="-25000" dirty="0"/>
                  <a:t>real</a:t>
                </a:r>
                <a:r>
                  <a:rPr lang="zh-CN" altLang="zh-CN" dirty="0"/>
                  <a:t>的工况，可视为风险工况，需重点关注与复核，避免在线策略在这些区域触碰到超标风险</a:t>
                </a:r>
                <a:r>
                  <a:rPr lang="zh-CN" altLang="en-US" dirty="0"/>
                  <a:t>。</a:t>
                </a:r>
                <a:endParaRPr lang="en-US" altLang="zh-CN" dirty="0"/>
              </a:p>
              <a:p>
                <a:endParaRPr lang="zh-CN" altLang="zh-CN" dirty="0"/>
              </a:p>
              <a:p>
                <a:r>
                  <a:rPr lang="zh-CN" altLang="zh-CN" b="1" dirty="0"/>
                  <a:t>通过上述设计，模型既能在统计意义上识别出明确的节药潜力，又不会在工程实践中推导出“无安全缓冲”的激进投加策略，实现“节药可行性”和“水质安全性”的平衡。</a:t>
                </a:r>
              </a:p>
            </p:txBody>
          </p:sp>
        </mc:Choice>
        <mc:Fallback>
          <p:sp>
            <p:nvSpPr>
              <p:cNvPr id="2" name="文本框 1">
                <a:extLst>
                  <a:ext uri="{FF2B5EF4-FFF2-40B4-BE49-F238E27FC236}">
                    <a16:creationId xmlns:a16="http://schemas.microsoft.com/office/drawing/2014/main" id="{10FAA58F-51E8-26B6-D370-7AAF48C20229}"/>
                  </a:ext>
                </a:extLst>
              </p:cNvPr>
              <p:cNvSpPr txBox="1">
                <a:spLocks noRot="1" noChangeAspect="1" noMove="1" noResize="1" noEditPoints="1" noAdjustHandles="1" noChangeArrowheads="1" noChangeShapeType="1" noTextEdit="1"/>
              </p:cNvSpPr>
              <p:nvPr/>
            </p:nvSpPr>
            <p:spPr>
              <a:xfrm>
                <a:off x="1352938" y="1800808"/>
                <a:ext cx="9638523" cy="4062779"/>
              </a:xfrm>
              <a:prstGeom prst="rect">
                <a:avLst/>
              </a:prstGeom>
              <a:blipFill>
                <a:blip r:embed="rId4"/>
                <a:stretch>
                  <a:fillRect l="-569" t="-750" r="-316" b="-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1573990"/>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0707-2E58-276D-C590-09A67BCB7B6F}"/>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6DDA6E5D-58F2-D1E1-1D64-2F5C0E2A5258}"/>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53B6A555-A0A1-A85C-B0A4-627C7AE0340F}"/>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56</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1C591D7D-2866-2228-8E49-1343C343FBB3}"/>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3.8 </a:t>
            </a:r>
            <a:r>
              <a:rPr lang="zh-CN" altLang="en-US" sz="2400" dirty="0">
                <a:solidFill>
                  <a:srgbClr val="002060"/>
                </a:solidFill>
                <a:latin typeface="微软雅黑" panose="020B0503020204020204" pitchFamily="34" charset="-122"/>
                <a:ea typeface="微软雅黑" panose="020B0503020204020204" pitchFamily="34" charset="-122"/>
              </a:rPr>
              <a:t>总结</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E18CAE78-5EAF-C693-5F3C-D52D3D527A83}"/>
              </a:ext>
            </a:extLst>
          </p:cNvPr>
          <p:cNvSpPr txBox="1"/>
          <p:nvPr/>
        </p:nvSpPr>
        <p:spPr>
          <a:xfrm>
            <a:off x="1331944" y="1302274"/>
            <a:ext cx="9528111" cy="3416320"/>
          </a:xfrm>
          <a:prstGeom prst="rect">
            <a:avLst/>
          </a:prstGeom>
          <a:noFill/>
        </p:spPr>
        <p:txBody>
          <a:bodyPr wrap="square" rtlCol="0">
            <a:spAutoFit/>
          </a:bodyPr>
          <a:lstStyle/>
          <a:p>
            <a:r>
              <a:rPr lang="zh-CN" altLang="en-US" dirty="0"/>
              <a:t>本次研究围绕水质参数与投药量分析，矾花形态参数与投药量分析，机器学习算法选取，模型搭建与优化，降低药耗，集成平台搭建共完成以下六项研究，详细情况如下：</a:t>
            </a:r>
            <a:endParaRPr lang="en-US" altLang="zh-CN" dirty="0"/>
          </a:p>
          <a:p>
            <a:endParaRPr lang="en-US" altLang="zh-CN" dirty="0"/>
          </a:p>
          <a:p>
            <a:pPr marL="342900" indent="-342900">
              <a:buFont typeface="+mj-lt"/>
              <a:buAutoNum type="arabicPeriod"/>
            </a:pPr>
            <a:r>
              <a:rPr lang="zh-CN" altLang="en-US" dirty="0"/>
              <a:t>通过对水质参数与投药量之间的</a:t>
            </a:r>
            <a:r>
              <a:rPr lang="en-US" altLang="zh-CN" dirty="0"/>
              <a:t>Pearson</a:t>
            </a:r>
            <a:r>
              <a:rPr lang="zh-CN" altLang="zh-CN" dirty="0"/>
              <a:t>、</a:t>
            </a:r>
            <a:r>
              <a:rPr lang="en-US" altLang="zh-CN" dirty="0"/>
              <a:t>Spearman</a:t>
            </a:r>
            <a:r>
              <a:rPr lang="zh-CN" altLang="zh-CN" dirty="0"/>
              <a:t>与偏相关</a:t>
            </a:r>
            <a:r>
              <a:rPr lang="zh-CN" altLang="en-US" dirty="0"/>
              <a:t>等相关系数的分析，发现了</a:t>
            </a:r>
            <a:r>
              <a:rPr lang="zh-CN" altLang="zh-CN" dirty="0"/>
              <a:t>建立多变量、非线性模型以实现精准解耦控制的必要性。</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通过对矾花各个挡位粒径数量与投药量之间的相关参数分析，发现了</a:t>
            </a:r>
            <a:r>
              <a:rPr lang="zh-CN" altLang="zh-CN" dirty="0"/>
              <a:t>中粒径矾花（</a:t>
            </a:r>
            <a:r>
              <a:rPr lang="en-US" altLang="zh-CN" dirty="0"/>
              <a:t>200-600</a:t>
            </a:r>
            <a:r>
              <a:rPr lang="zh-CN" altLang="zh-CN" dirty="0"/>
              <a:t>μ</a:t>
            </a:r>
            <a:r>
              <a:rPr lang="en-US" altLang="zh-CN" dirty="0"/>
              <a:t>m</a:t>
            </a:r>
            <a:r>
              <a:rPr lang="zh-CN" altLang="zh-CN" dirty="0"/>
              <a:t>）</a:t>
            </a:r>
            <a:r>
              <a:rPr lang="zh-CN" altLang="en-US" dirty="0"/>
              <a:t>、中大粒径矾花（</a:t>
            </a:r>
            <a:r>
              <a:rPr lang="en-US" altLang="zh-CN" dirty="0"/>
              <a:t>800-3900</a:t>
            </a:r>
            <a:r>
              <a:rPr lang="zh-CN" altLang="en-US" dirty="0"/>
              <a:t>）</a:t>
            </a:r>
            <a:r>
              <a:rPr lang="zh-CN" altLang="zh-CN" dirty="0"/>
              <a:t>与</a:t>
            </a:r>
            <a:r>
              <a:rPr lang="en-US" altLang="zh-CN" dirty="0"/>
              <a:t>PAC</a:t>
            </a:r>
            <a:r>
              <a:rPr lang="zh-CN" altLang="zh-CN" dirty="0"/>
              <a:t>投加量呈现出高度显著的强正相关</a:t>
            </a:r>
            <a:r>
              <a:rPr lang="zh-CN" altLang="en-US" dirty="0"/>
              <a:t>，验证了矾花形态与水质之间的强相关性。</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通过对不同机器学习算法的实验对比，最终选取了以</a:t>
            </a:r>
            <a:r>
              <a:rPr lang="en-US" altLang="zh-CN" dirty="0"/>
              <a:t>5</a:t>
            </a:r>
            <a:r>
              <a:rPr lang="zh-CN" altLang="zh-CN" dirty="0"/>
              <a:t>基</a:t>
            </a:r>
            <a:r>
              <a:rPr lang="en-US" altLang="zh-CN" dirty="0"/>
              <a:t>HGBR</a:t>
            </a:r>
            <a:r>
              <a:rPr lang="zh-CN" altLang="zh-CN" dirty="0"/>
              <a:t>中位数集成为核心的基础模型框架</a:t>
            </a:r>
            <a:r>
              <a:rPr lang="zh-CN" altLang="en-US" dirty="0"/>
              <a:t>，引入</a:t>
            </a:r>
            <a:r>
              <a:rPr lang="zh-CN" altLang="zh-CN" dirty="0"/>
              <a:t>带单调约束的</a:t>
            </a:r>
            <a:r>
              <a:rPr lang="en-US" altLang="zh-CN" dirty="0"/>
              <a:t>HGBR</a:t>
            </a:r>
            <a:r>
              <a:rPr lang="zh-CN" altLang="en-US" dirty="0"/>
              <a:t>作为辅助模型，形成了</a:t>
            </a:r>
            <a:r>
              <a:rPr lang="zh-CN" altLang="zh-CN" dirty="0"/>
              <a:t>契合水处理工业场景</a:t>
            </a:r>
            <a:r>
              <a:rPr lang="zh-CN" altLang="en-US" dirty="0"/>
              <a:t>的核心模型</a:t>
            </a:r>
            <a:r>
              <a:rPr lang="zh-CN" altLang="zh-CN" dirty="0"/>
              <a:t>。</a:t>
            </a:r>
            <a:endParaRPr lang="en-US" altLang="zh-CN" dirty="0"/>
          </a:p>
        </p:txBody>
      </p:sp>
    </p:spTree>
    <p:extLst>
      <p:ext uri="{BB962C8B-B14F-4D97-AF65-F5344CB8AC3E}">
        <p14:creationId xmlns:p14="http://schemas.microsoft.com/office/powerpoint/2010/main" val="905033511"/>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C8F72-193E-E4FA-1FED-28A9E4A875B3}"/>
            </a:ext>
          </a:extLst>
        </p:cNvPr>
        <p:cNvGrpSpPr/>
        <p:nvPr/>
      </p:nvGrpSpPr>
      <p:grpSpPr>
        <a:xfrm>
          <a:off x="0" y="0"/>
          <a:ext cx="0" cy="0"/>
          <a:chOff x="0" y="0"/>
          <a:chExt cx="0" cy="0"/>
        </a:xfrm>
      </p:grpSpPr>
      <p:sp>
        <p:nvSpPr>
          <p:cNvPr id="36" name="梯形 35">
            <a:extLst>
              <a:ext uri="{FF2B5EF4-FFF2-40B4-BE49-F238E27FC236}">
                <a16:creationId xmlns:a16="http://schemas.microsoft.com/office/drawing/2014/main" id="{90E9CAA3-0842-952C-DC5A-D1ABF2DFCF27}"/>
              </a:ext>
            </a:extLst>
          </p:cNvPr>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a:extLst>
              <a:ext uri="{FF2B5EF4-FFF2-40B4-BE49-F238E27FC236}">
                <a16:creationId xmlns:a16="http://schemas.microsoft.com/office/drawing/2014/main" id="{AC2C2A47-2D89-A25B-D3F1-E83DD3E8FA2A}"/>
              </a:ext>
            </a:extLst>
          </p:cNvPr>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57</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a:extLst>
              <a:ext uri="{FF2B5EF4-FFF2-40B4-BE49-F238E27FC236}">
                <a16:creationId xmlns:a16="http://schemas.microsoft.com/office/drawing/2014/main" id="{EB39F771-2C35-BB71-E66C-4A3685F29A0E}"/>
              </a:ext>
            </a:extLst>
          </p:cNvPr>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lvl="0" algn="just">
              <a:lnSpc>
                <a:spcPct val="100000"/>
              </a:lnSpc>
              <a:spcBef>
                <a:spcPts val="0"/>
              </a:spcBef>
              <a:defRPr/>
            </a:pPr>
            <a:r>
              <a:rPr lang="en-US" altLang="zh-CN" sz="2400" dirty="0">
                <a:solidFill>
                  <a:srgbClr val="002060"/>
                </a:solidFill>
                <a:latin typeface="微软雅黑" panose="020B0503020204020204" pitchFamily="34" charset="-122"/>
                <a:ea typeface="微软雅黑" panose="020B0503020204020204" pitchFamily="34" charset="-122"/>
              </a:rPr>
              <a:t>3.8 </a:t>
            </a:r>
            <a:r>
              <a:rPr lang="zh-CN" altLang="en-US" sz="2400" dirty="0">
                <a:solidFill>
                  <a:srgbClr val="002060"/>
                </a:solidFill>
                <a:latin typeface="微软雅黑" panose="020B0503020204020204" pitchFamily="34" charset="-122"/>
                <a:ea typeface="微软雅黑" panose="020B0503020204020204" pitchFamily="34" charset="-122"/>
              </a:rPr>
              <a:t>总结</a:t>
            </a:r>
            <a:endParaRPr lang="en-US" altLang="zh-CN" sz="2400" spc="200" dirty="0">
              <a:solidFill>
                <a:srgbClr val="00206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C10E20B-B4E6-528A-78C8-FF5090C81F18}"/>
              </a:ext>
            </a:extLst>
          </p:cNvPr>
          <p:cNvSpPr txBox="1"/>
          <p:nvPr/>
        </p:nvSpPr>
        <p:spPr>
          <a:xfrm>
            <a:off x="1331944" y="1302274"/>
            <a:ext cx="9528111" cy="4524315"/>
          </a:xfrm>
          <a:prstGeom prst="rect">
            <a:avLst/>
          </a:prstGeom>
          <a:noFill/>
        </p:spPr>
        <p:txBody>
          <a:bodyPr wrap="square" rtlCol="0">
            <a:spAutoFit/>
          </a:bodyPr>
          <a:lstStyle/>
          <a:p>
            <a:r>
              <a:rPr lang="zh-CN" altLang="en-US" dirty="0"/>
              <a:t>本次研究围绕水质参数与投药量分析，矾花形态参数与投药量分析，机器学习算法选取，模型搭建与优化，降低药耗，集成平台搭建共完成以下六项研究，详细情况如下：</a:t>
            </a:r>
            <a:endParaRPr lang="en-US" altLang="zh-CN" dirty="0"/>
          </a:p>
          <a:p>
            <a:pPr marL="342900" indent="-342900">
              <a:buAutoNum type="arabicPeriod"/>
            </a:pPr>
            <a:endParaRPr lang="en-US" altLang="zh-CN" dirty="0"/>
          </a:p>
          <a:p>
            <a:r>
              <a:rPr lang="en-US" altLang="zh-CN" dirty="0"/>
              <a:t>4.    </a:t>
            </a:r>
            <a:r>
              <a:rPr lang="zh-CN" altLang="en-US" dirty="0"/>
              <a:t>为了对模型进行优化，</a:t>
            </a:r>
            <a:r>
              <a:rPr lang="zh-CN" altLang="zh-CN" dirty="0"/>
              <a:t>创新性地构建并实施了“相对分箱→命中率导向二维标定→残差乘法校准→等渗回归→最终分段仿射微调” 这一五级校准链。该流程系统性地修正了模型在不同工况下的预测偏差，最终将前向模型的测试集±10%准确率从基线提升至89.81%，同时保证了预测区间（5%-95%）高达0.882的覆盖率，使模型不仅有点</a:t>
            </a:r>
            <a:r>
              <a:rPr lang="zh-CN" altLang="en-US" dirty="0"/>
              <a:t>预测</a:t>
            </a:r>
            <a:r>
              <a:rPr lang="zh-CN" altLang="zh-CN" dirty="0"/>
              <a:t>精度，更具备了可靠的置信区间评估能力。</a:t>
            </a:r>
            <a:endParaRPr lang="en-US" altLang="zh-CN" dirty="0"/>
          </a:p>
          <a:p>
            <a:pPr marL="342900" indent="-342900">
              <a:buAutoNum type="arabicPeriod"/>
            </a:pPr>
            <a:endParaRPr lang="en-US" altLang="zh-CN" dirty="0"/>
          </a:p>
          <a:p>
            <a:r>
              <a:rPr lang="en-US" altLang="zh-CN" dirty="0"/>
              <a:t>5.    </a:t>
            </a:r>
            <a:r>
              <a:rPr lang="zh-CN" altLang="zh-CN" dirty="0"/>
              <a:t>通过“最小达标</a:t>
            </a:r>
            <a:r>
              <a:rPr lang="en-US" altLang="zh-CN" dirty="0"/>
              <a:t>PAC</a:t>
            </a:r>
            <a:r>
              <a:rPr lang="zh-CN" altLang="zh-CN" dirty="0"/>
              <a:t>”的离线分析</a:t>
            </a:r>
            <a:r>
              <a:rPr lang="zh-CN" altLang="en-US" dirty="0"/>
              <a:t>以及对加药预测区间的判断</a:t>
            </a:r>
            <a:r>
              <a:rPr lang="zh-CN" altLang="zh-CN" dirty="0"/>
              <a:t>，在历史数据上量化了模型的节药潜力：在</a:t>
            </a:r>
            <a:r>
              <a:rPr lang="en-US" altLang="zh-CN" dirty="0"/>
              <a:t>72.62%</a:t>
            </a:r>
            <a:r>
              <a:rPr lang="zh-CN" altLang="zh-CN" dirty="0"/>
              <a:t>的运行时段存在投加冗余，理论平均节药比例达</a:t>
            </a:r>
            <a:r>
              <a:rPr lang="en-US" altLang="zh-CN" dirty="0"/>
              <a:t>23.97%</a:t>
            </a:r>
            <a:r>
              <a:rPr lang="zh-CN" altLang="zh-CN" dirty="0"/>
              <a:t>，整体药耗净节省空间约</a:t>
            </a:r>
            <a:r>
              <a:rPr lang="en-US" altLang="zh-CN" dirty="0"/>
              <a:t>14.3%</a:t>
            </a:r>
            <a:r>
              <a:rPr lang="zh-CN" altLang="zh-CN" dirty="0"/>
              <a:t>。</a:t>
            </a:r>
            <a:endParaRPr lang="en-US" altLang="zh-CN" dirty="0"/>
          </a:p>
          <a:p>
            <a:pPr marL="342900" indent="-342900">
              <a:buAutoNum type="arabicPeriod"/>
            </a:pPr>
            <a:endParaRPr lang="en-US" altLang="zh-CN" dirty="0"/>
          </a:p>
          <a:p>
            <a:r>
              <a:rPr lang="en-US" altLang="zh-CN" dirty="0"/>
              <a:t>6.    </a:t>
            </a:r>
            <a:r>
              <a:rPr lang="zh-CN" altLang="zh-CN" dirty="0"/>
              <a:t>基于</a:t>
            </a:r>
            <a:r>
              <a:rPr lang="en-US" altLang="zh-CN" dirty="0" err="1"/>
              <a:t>Streamlit</a:t>
            </a:r>
            <a:r>
              <a:rPr lang="zh-CN" altLang="zh-CN" dirty="0"/>
              <a:t>开发的交互式平台，集成了前向预测、反向给药与前向搜索三大功能，将复杂的机器学习模型封装为水厂操作人员易于使用的决策支持工具，实现了研究成果的初步产品化。</a:t>
            </a:r>
            <a:endParaRPr lang="zh-CN" altLang="en-US" dirty="0"/>
          </a:p>
        </p:txBody>
      </p:sp>
    </p:spTree>
    <p:extLst>
      <p:ext uri="{BB962C8B-B14F-4D97-AF65-F5344CB8AC3E}">
        <p14:creationId xmlns:p14="http://schemas.microsoft.com/office/powerpoint/2010/main" val="3682323086"/>
      </p:ext>
    </p:extLst>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3">
            <a:extLst>
              <a:ext uri="{28A0092B-C50C-407E-A947-70E740481C1C}">
                <a14:useLocalDpi xmlns:a14="http://schemas.microsoft.com/office/drawing/2010/main" val="0"/>
              </a:ext>
            </a:extLst>
          </a:blip>
          <a:srcRect l="4394" r="7885"/>
          <a:stretch>
            <a:fillRect/>
          </a:stretch>
        </p:blipFill>
        <p:spPr>
          <a:xfrm>
            <a:off x="0" y="-2097"/>
            <a:ext cx="6096000" cy="6851228"/>
          </a:xfrm>
          <a:prstGeom prst="rect">
            <a:avLst/>
          </a:prstGeom>
        </p:spPr>
      </p:pic>
      <p:sp>
        <p:nvSpPr>
          <p:cNvPr id="43" name="矩形 42"/>
          <p:cNvSpPr/>
          <p:nvPr/>
        </p:nvSpPr>
        <p:spPr>
          <a:xfrm>
            <a:off x="4893546" y="0"/>
            <a:ext cx="729845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386"/>
            <a:ext cx="4893547" cy="685122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066442" y="1720840"/>
            <a:ext cx="760663"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汇报目录</a:t>
            </a:r>
          </a:p>
        </p:txBody>
      </p:sp>
      <p:grpSp>
        <p:nvGrpSpPr>
          <p:cNvPr id="61" name="组合 60"/>
          <p:cNvGrpSpPr/>
          <p:nvPr>
            <p:custDataLst>
              <p:tags r:id="rId1"/>
            </p:custDataLst>
          </p:nvPr>
        </p:nvGrpSpPr>
        <p:grpSpPr>
          <a:xfrm>
            <a:off x="5879370" y="1083295"/>
            <a:ext cx="5195030" cy="720969"/>
            <a:chOff x="5879370" y="608315"/>
            <a:chExt cx="5195030" cy="720969"/>
          </a:xfrm>
        </p:grpSpPr>
        <p:grpSp>
          <p:nvGrpSpPr>
            <p:cNvPr id="62" name="组合 61"/>
            <p:cNvGrpSpPr/>
            <p:nvPr/>
          </p:nvGrpSpPr>
          <p:grpSpPr>
            <a:xfrm>
              <a:off x="6463210" y="707240"/>
              <a:ext cx="4611190" cy="568369"/>
              <a:chOff x="5969724" y="1809726"/>
              <a:chExt cx="3852000" cy="568369"/>
            </a:xfrm>
          </p:grpSpPr>
          <p:sp>
            <p:nvSpPr>
              <p:cNvPr id="63" name="矩形 62"/>
              <p:cNvSpPr/>
              <p:nvPr>
                <p:custDataLst>
                  <p:tags r:id="rId19"/>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4" name="矩形 63"/>
              <p:cNvSpPr/>
              <p:nvPr>
                <p:custDataLst>
                  <p:tags r:id="rId20"/>
                </p:custDataLst>
              </p:nvPr>
            </p:nvSpPr>
            <p:spPr>
              <a:xfrm>
                <a:off x="6155956" y="1816911"/>
                <a:ext cx="3046681"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mn-cs"/>
                  </a:rPr>
                  <a:t>项目背景介绍</a:t>
                </a:r>
              </a:p>
            </p:txBody>
          </p:sp>
        </p:grpSp>
        <p:sp>
          <p:nvSpPr>
            <p:cNvPr id="65" name="椭圆 64"/>
            <p:cNvSpPr/>
            <p:nvPr>
              <p:custDataLst>
                <p:tags r:id="rId18"/>
              </p:custDataLst>
            </p:nvPr>
          </p:nvSpPr>
          <p:spPr>
            <a:xfrm>
              <a:off x="5879370" y="608315"/>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一</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2"/>
            </p:custDataLst>
          </p:nvPr>
        </p:nvGrpSpPr>
        <p:grpSpPr>
          <a:xfrm>
            <a:off x="5879370" y="2000318"/>
            <a:ext cx="5195028" cy="720969"/>
            <a:chOff x="5879370" y="1525338"/>
            <a:chExt cx="5195028" cy="720969"/>
          </a:xfrm>
        </p:grpSpPr>
        <p:grpSp>
          <p:nvGrpSpPr>
            <p:cNvPr id="67" name="组合 66"/>
            <p:cNvGrpSpPr/>
            <p:nvPr/>
          </p:nvGrpSpPr>
          <p:grpSpPr>
            <a:xfrm>
              <a:off x="6463209" y="1645681"/>
              <a:ext cx="4611189" cy="568369"/>
              <a:chOff x="5969724" y="1809726"/>
              <a:chExt cx="3852000" cy="568369"/>
            </a:xfrm>
          </p:grpSpPr>
          <p:sp>
            <p:nvSpPr>
              <p:cNvPr id="68" name="矩形 67"/>
              <p:cNvSpPr/>
              <p:nvPr>
                <p:custDataLst>
                  <p:tags r:id="rId16"/>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9" name="矩形 68"/>
              <p:cNvSpPr/>
              <p:nvPr>
                <p:custDataLst>
                  <p:tags r:id="rId17"/>
                </p:custDataLst>
              </p:nvPr>
            </p:nvSpPr>
            <p:spPr>
              <a:xfrm>
                <a:off x="6155957" y="1816911"/>
                <a:ext cx="1340986"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实施方案</a:t>
                </a:r>
              </a:p>
            </p:txBody>
          </p:sp>
        </p:grpSp>
        <p:sp>
          <p:nvSpPr>
            <p:cNvPr id="70" name="椭圆 69"/>
            <p:cNvSpPr/>
            <p:nvPr>
              <p:custDataLst>
                <p:tags r:id="rId15"/>
              </p:custDataLst>
            </p:nvPr>
          </p:nvSpPr>
          <p:spPr>
            <a:xfrm>
              <a:off x="5879370" y="152533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二</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custDataLst>
              <p:tags r:id="rId3"/>
            </p:custDataLst>
          </p:nvPr>
        </p:nvGrpSpPr>
        <p:grpSpPr>
          <a:xfrm>
            <a:off x="5879370" y="2944178"/>
            <a:ext cx="5195028" cy="720969"/>
            <a:chOff x="5879370" y="2469198"/>
            <a:chExt cx="5195028" cy="720969"/>
          </a:xfrm>
        </p:grpSpPr>
        <p:grpSp>
          <p:nvGrpSpPr>
            <p:cNvPr id="72" name="组合 71"/>
            <p:cNvGrpSpPr/>
            <p:nvPr/>
          </p:nvGrpSpPr>
          <p:grpSpPr>
            <a:xfrm>
              <a:off x="6463212" y="2584122"/>
              <a:ext cx="4611186" cy="568369"/>
              <a:chOff x="5969726" y="1809726"/>
              <a:chExt cx="3852000" cy="568369"/>
            </a:xfrm>
          </p:grpSpPr>
          <p:sp>
            <p:nvSpPr>
              <p:cNvPr id="73" name="矩形 72"/>
              <p:cNvSpPr/>
              <p:nvPr>
                <p:custDataLst>
                  <p:tags r:id="rId13"/>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custDataLst>
                  <p:tags r:id="rId14"/>
                </p:custDataLst>
              </p:nvPr>
            </p:nvSpPr>
            <p:spPr>
              <a:xfrm>
                <a:off x="6155957" y="1816911"/>
                <a:ext cx="2826257"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总体进展与取得成果</a:t>
                </a:r>
              </a:p>
            </p:txBody>
          </p:sp>
        </p:grpSp>
        <p:sp>
          <p:nvSpPr>
            <p:cNvPr id="75" name="椭圆 74"/>
            <p:cNvSpPr/>
            <p:nvPr>
              <p:custDataLst>
                <p:tags r:id="rId12"/>
              </p:custDataLst>
            </p:nvPr>
          </p:nvSpPr>
          <p:spPr>
            <a:xfrm>
              <a:off x="5879370" y="246919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三</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6" name="组合 75"/>
          <p:cNvGrpSpPr/>
          <p:nvPr>
            <p:custDataLst>
              <p:tags r:id="rId4"/>
            </p:custDataLst>
          </p:nvPr>
        </p:nvGrpSpPr>
        <p:grpSpPr>
          <a:xfrm>
            <a:off x="5879370" y="3861204"/>
            <a:ext cx="5195027" cy="720969"/>
            <a:chOff x="5879370" y="3386224"/>
            <a:chExt cx="5195027" cy="720969"/>
          </a:xfrm>
        </p:grpSpPr>
        <p:grpSp>
          <p:nvGrpSpPr>
            <p:cNvPr id="77" name="组合 76"/>
            <p:cNvGrpSpPr/>
            <p:nvPr/>
          </p:nvGrpSpPr>
          <p:grpSpPr>
            <a:xfrm>
              <a:off x="6463212" y="3522563"/>
              <a:ext cx="4611185" cy="568369"/>
              <a:chOff x="5969726" y="1809726"/>
              <a:chExt cx="3852000" cy="568369"/>
            </a:xfrm>
          </p:grpSpPr>
          <p:sp>
            <p:nvSpPr>
              <p:cNvPr id="78" name="矩形 77"/>
              <p:cNvSpPr/>
              <p:nvPr>
                <p:custDataLst>
                  <p:tags r:id="rId10"/>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矩形 78"/>
              <p:cNvSpPr/>
              <p:nvPr>
                <p:custDataLst>
                  <p:tags r:id="rId11"/>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组织实施情况</a:t>
                </a:r>
              </a:p>
            </p:txBody>
          </p:sp>
        </p:grpSp>
        <p:sp>
          <p:nvSpPr>
            <p:cNvPr id="80" name="椭圆 79"/>
            <p:cNvSpPr/>
            <p:nvPr>
              <p:custDataLst>
                <p:tags r:id="rId9"/>
              </p:custDataLst>
            </p:nvPr>
          </p:nvSpPr>
          <p:spPr>
            <a:xfrm>
              <a:off x="5879370" y="3386224"/>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C00000"/>
                  </a:solidFill>
                  <a:latin typeface="微软雅黑" panose="020B0503020204020204" pitchFamily="34" charset="-122"/>
                  <a:ea typeface="微软雅黑" panose="020B0503020204020204" pitchFamily="34" charset="-122"/>
                  <a:cs typeface="+mn-ea"/>
                  <a:sym typeface="+mn-lt"/>
                </a:rPr>
                <a:t>四</a:t>
              </a:r>
              <a:endParaRPr lang="zh-CN" altLang="en-US" sz="28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81" name="组合 80"/>
          <p:cNvGrpSpPr/>
          <p:nvPr>
            <p:custDataLst>
              <p:tags r:id="rId5"/>
            </p:custDataLst>
          </p:nvPr>
        </p:nvGrpSpPr>
        <p:grpSpPr>
          <a:xfrm>
            <a:off x="5879370" y="4815906"/>
            <a:ext cx="5195026" cy="720969"/>
            <a:chOff x="5879370" y="4340926"/>
            <a:chExt cx="5195026" cy="720969"/>
          </a:xfrm>
        </p:grpSpPr>
        <p:grpSp>
          <p:nvGrpSpPr>
            <p:cNvPr id="82" name="组合 81"/>
            <p:cNvGrpSpPr/>
            <p:nvPr/>
          </p:nvGrpSpPr>
          <p:grpSpPr>
            <a:xfrm>
              <a:off x="6463212" y="4461004"/>
              <a:ext cx="4611184" cy="568369"/>
              <a:chOff x="5969726" y="1809726"/>
              <a:chExt cx="3852000" cy="568369"/>
            </a:xfrm>
          </p:grpSpPr>
          <p:sp>
            <p:nvSpPr>
              <p:cNvPr id="83" name="矩形 82"/>
              <p:cNvSpPr/>
              <p:nvPr>
                <p:custDataLst>
                  <p:tags r:id="rId7"/>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4" name="矩形 83"/>
              <p:cNvSpPr/>
              <p:nvPr>
                <p:custDataLst>
                  <p:tags r:id="rId8"/>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经费执行情况</a:t>
                </a:r>
              </a:p>
            </p:txBody>
          </p:sp>
        </p:grpSp>
        <p:sp>
          <p:nvSpPr>
            <p:cNvPr id="85" name="椭圆 84"/>
            <p:cNvSpPr/>
            <p:nvPr>
              <p:custDataLst>
                <p:tags r:id="rId6"/>
              </p:custDataLst>
            </p:nvPr>
          </p:nvSpPr>
          <p:spPr>
            <a:xfrm>
              <a:off x="5879370" y="4340926"/>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五</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59</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4.1 </a:t>
            </a:r>
            <a:r>
              <a:rPr sz="2400" b="1" dirty="0">
                <a:solidFill>
                  <a:srgbClr val="002060"/>
                </a:solidFill>
                <a:latin typeface="微软雅黑" panose="020B0503020204020204" pitchFamily="34" charset="-122"/>
                <a:ea typeface="微软雅黑" panose="020B0503020204020204" pitchFamily="34" charset="-122"/>
              </a:rPr>
              <a:t>项目承担单位</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60</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4.2 </a:t>
            </a:r>
            <a:r>
              <a:rPr sz="2400" b="1" dirty="0">
                <a:solidFill>
                  <a:srgbClr val="002060"/>
                </a:solidFill>
                <a:latin typeface="微软雅黑" panose="020B0503020204020204" pitchFamily="34" charset="-122"/>
                <a:ea typeface="微软雅黑" panose="020B0503020204020204" pitchFamily="34" charset="-122"/>
              </a:rPr>
              <a:t>项目协作单位</a:t>
            </a:r>
            <a:endParaRPr sz="2400" b="1" spc="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3">
            <a:extLst>
              <a:ext uri="{28A0092B-C50C-407E-A947-70E740481C1C}">
                <a14:useLocalDpi xmlns:a14="http://schemas.microsoft.com/office/drawing/2010/main" val="0"/>
              </a:ext>
            </a:extLst>
          </a:blip>
          <a:srcRect l="4394" r="7885"/>
          <a:stretch>
            <a:fillRect/>
          </a:stretch>
        </p:blipFill>
        <p:spPr>
          <a:xfrm>
            <a:off x="0" y="-2097"/>
            <a:ext cx="6096000" cy="6851228"/>
          </a:xfrm>
          <a:prstGeom prst="rect">
            <a:avLst/>
          </a:prstGeom>
        </p:spPr>
      </p:pic>
      <p:sp>
        <p:nvSpPr>
          <p:cNvPr id="43" name="矩形 42"/>
          <p:cNvSpPr/>
          <p:nvPr/>
        </p:nvSpPr>
        <p:spPr>
          <a:xfrm>
            <a:off x="4893546" y="0"/>
            <a:ext cx="729845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386"/>
            <a:ext cx="4893547" cy="685122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066442" y="1720840"/>
            <a:ext cx="760663"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汇报目录</a:t>
            </a:r>
          </a:p>
        </p:txBody>
      </p:sp>
      <p:grpSp>
        <p:nvGrpSpPr>
          <p:cNvPr id="61" name="组合 60"/>
          <p:cNvGrpSpPr/>
          <p:nvPr>
            <p:custDataLst>
              <p:tags r:id="rId1"/>
            </p:custDataLst>
          </p:nvPr>
        </p:nvGrpSpPr>
        <p:grpSpPr>
          <a:xfrm>
            <a:off x="5879370" y="1083295"/>
            <a:ext cx="5195030" cy="720969"/>
            <a:chOff x="5879370" y="608315"/>
            <a:chExt cx="5195030" cy="720969"/>
          </a:xfrm>
        </p:grpSpPr>
        <p:grpSp>
          <p:nvGrpSpPr>
            <p:cNvPr id="62" name="组合 61"/>
            <p:cNvGrpSpPr/>
            <p:nvPr/>
          </p:nvGrpSpPr>
          <p:grpSpPr>
            <a:xfrm>
              <a:off x="6463210" y="707240"/>
              <a:ext cx="4611190" cy="568369"/>
              <a:chOff x="5969724" y="1809726"/>
              <a:chExt cx="3852000" cy="568369"/>
            </a:xfrm>
          </p:grpSpPr>
          <p:sp>
            <p:nvSpPr>
              <p:cNvPr id="63" name="矩形 62"/>
              <p:cNvSpPr/>
              <p:nvPr>
                <p:custDataLst>
                  <p:tags r:id="rId19"/>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4" name="矩形 63"/>
              <p:cNvSpPr/>
              <p:nvPr>
                <p:custDataLst>
                  <p:tags r:id="rId20"/>
                </p:custDataLst>
              </p:nvPr>
            </p:nvSpPr>
            <p:spPr>
              <a:xfrm>
                <a:off x="6155956" y="1816911"/>
                <a:ext cx="3046681"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mn-cs"/>
                  </a:rPr>
                  <a:t>项目背景介绍</a:t>
                </a:r>
              </a:p>
            </p:txBody>
          </p:sp>
        </p:grpSp>
        <p:sp>
          <p:nvSpPr>
            <p:cNvPr id="65" name="椭圆 64"/>
            <p:cNvSpPr/>
            <p:nvPr>
              <p:custDataLst>
                <p:tags r:id="rId18"/>
              </p:custDataLst>
            </p:nvPr>
          </p:nvSpPr>
          <p:spPr>
            <a:xfrm>
              <a:off x="5879370" y="608315"/>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一</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2"/>
            </p:custDataLst>
          </p:nvPr>
        </p:nvGrpSpPr>
        <p:grpSpPr>
          <a:xfrm>
            <a:off x="5879370" y="2000318"/>
            <a:ext cx="5195028" cy="720969"/>
            <a:chOff x="5879370" y="1525338"/>
            <a:chExt cx="5195028" cy="720969"/>
          </a:xfrm>
        </p:grpSpPr>
        <p:grpSp>
          <p:nvGrpSpPr>
            <p:cNvPr id="67" name="组合 66"/>
            <p:cNvGrpSpPr/>
            <p:nvPr/>
          </p:nvGrpSpPr>
          <p:grpSpPr>
            <a:xfrm>
              <a:off x="6463209" y="1645681"/>
              <a:ext cx="4611189" cy="568369"/>
              <a:chOff x="5969724" y="1809726"/>
              <a:chExt cx="3852000" cy="568369"/>
            </a:xfrm>
          </p:grpSpPr>
          <p:sp>
            <p:nvSpPr>
              <p:cNvPr id="68" name="矩形 67"/>
              <p:cNvSpPr/>
              <p:nvPr>
                <p:custDataLst>
                  <p:tags r:id="rId16"/>
                </p:custDataLst>
              </p:nvPr>
            </p:nvSpPr>
            <p:spPr>
              <a:xfrm>
                <a:off x="5969724"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9" name="矩形 68"/>
              <p:cNvSpPr/>
              <p:nvPr>
                <p:custDataLst>
                  <p:tags r:id="rId17"/>
                </p:custDataLst>
              </p:nvPr>
            </p:nvSpPr>
            <p:spPr>
              <a:xfrm>
                <a:off x="6155957" y="1816911"/>
                <a:ext cx="1340986"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实施方案</a:t>
                </a:r>
              </a:p>
            </p:txBody>
          </p:sp>
        </p:grpSp>
        <p:sp>
          <p:nvSpPr>
            <p:cNvPr id="70" name="椭圆 69"/>
            <p:cNvSpPr/>
            <p:nvPr>
              <p:custDataLst>
                <p:tags r:id="rId15"/>
              </p:custDataLst>
            </p:nvPr>
          </p:nvSpPr>
          <p:spPr>
            <a:xfrm>
              <a:off x="5879370" y="152533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二</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custDataLst>
              <p:tags r:id="rId3"/>
            </p:custDataLst>
          </p:nvPr>
        </p:nvGrpSpPr>
        <p:grpSpPr>
          <a:xfrm>
            <a:off x="5879370" y="2944178"/>
            <a:ext cx="5195028" cy="720969"/>
            <a:chOff x="5879370" y="2469198"/>
            <a:chExt cx="5195028" cy="720969"/>
          </a:xfrm>
        </p:grpSpPr>
        <p:grpSp>
          <p:nvGrpSpPr>
            <p:cNvPr id="72" name="组合 71"/>
            <p:cNvGrpSpPr/>
            <p:nvPr/>
          </p:nvGrpSpPr>
          <p:grpSpPr>
            <a:xfrm>
              <a:off x="6463212" y="2584122"/>
              <a:ext cx="4611186" cy="568369"/>
              <a:chOff x="5969726" y="1809726"/>
              <a:chExt cx="3852000" cy="568369"/>
            </a:xfrm>
          </p:grpSpPr>
          <p:sp>
            <p:nvSpPr>
              <p:cNvPr id="73" name="矩形 72"/>
              <p:cNvSpPr/>
              <p:nvPr>
                <p:custDataLst>
                  <p:tags r:id="rId13"/>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4" name="矩形 73"/>
              <p:cNvSpPr/>
              <p:nvPr>
                <p:custDataLst>
                  <p:tags r:id="rId14"/>
                </p:custDataLst>
              </p:nvPr>
            </p:nvSpPr>
            <p:spPr>
              <a:xfrm>
                <a:off x="6155957" y="1816911"/>
                <a:ext cx="2826257"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总体进展与取得成果</a:t>
                </a:r>
              </a:p>
            </p:txBody>
          </p:sp>
        </p:grpSp>
        <p:sp>
          <p:nvSpPr>
            <p:cNvPr id="75" name="椭圆 74"/>
            <p:cNvSpPr/>
            <p:nvPr>
              <p:custDataLst>
                <p:tags r:id="rId12"/>
              </p:custDataLst>
            </p:nvPr>
          </p:nvSpPr>
          <p:spPr>
            <a:xfrm>
              <a:off x="5879370" y="2469198"/>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三</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76" name="组合 75"/>
          <p:cNvGrpSpPr/>
          <p:nvPr>
            <p:custDataLst>
              <p:tags r:id="rId4"/>
            </p:custDataLst>
          </p:nvPr>
        </p:nvGrpSpPr>
        <p:grpSpPr>
          <a:xfrm>
            <a:off x="5879370" y="3861204"/>
            <a:ext cx="5195027" cy="720969"/>
            <a:chOff x="5879370" y="3386224"/>
            <a:chExt cx="5195027" cy="720969"/>
          </a:xfrm>
        </p:grpSpPr>
        <p:grpSp>
          <p:nvGrpSpPr>
            <p:cNvPr id="77" name="组合 76"/>
            <p:cNvGrpSpPr/>
            <p:nvPr/>
          </p:nvGrpSpPr>
          <p:grpSpPr>
            <a:xfrm>
              <a:off x="6463212" y="3522563"/>
              <a:ext cx="4611185" cy="568369"/>
              <a:chOff x="5969726" y="1809726"/>
              <a:chExt cx="3852000" cy="568369"/>
            </a:xfrm>
          </p:grpSpPr>
          <p:sp>
            <p:nvSpPr>
              <p:cNvPr id="78" name="矩形 77"/>
              <p:cNvSpPr/>
              <p:nvPr>
                <p:custDataLst>
                  <p:tags r:id="rId10"/>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9" name="矩形 78"/>
              <p:cNvSpPr/>
              <p:nvPr>
                <p:custDataLst>
                  <p:tags r:id="rId11"/>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组织实施情况</a:t>
                </a:r>
              </a:p>
            </p:txBody>
          </p:sp>
        </p:grpSp>
        <p:sp>
          <p:nvSpPr>
            <p:cNvPr id="80" name="椭圆 79"/>
            <p:cNvSpPr/>
            <p:nvPr>
              <p:custDataLst>
                <p:tags r:id="rId9"/>
              </p:custDataLst>
            </p:nvPr>
          </p:nvSpPr>
          <p:spPr>
            <a:xfrm>
              <a:off x="5879370" y="3386224"/>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002060"/>
                  </a:solidFill>
                  <a:latin typeface="微软雅黑" panose="020B0503020204020204" pitchFamily="34" charset="-122"/>
                  <a:ea typeface="微软雅黑" panose="020B0503020204020204" pitchFamily="34" charset="-122"/>
                  <a:cs typeface="+mn-ea"/>
                  <a:sym typeface="+mn-lt"/>
                </a:rPr>
                <a:t>四</a:t>
              </a:r>
              <a:endParaRPr lang="zh-CN" altLang="en-US" sz="2800" b="1" dirty="0">
                <a:solidFill>
                  <a:srgbClr val="002060"/>
                </a:solidFill>
                <a:latin typeface="微软雅黑" panose="020B0503020204020204" pitchFamily="34" charset="-122"/>
                <a:ea typeface="微软雅黑" panose="020B0503020204020204" pitchFamily="34" charset="-122"/>
                <a:cs typeface="+mn-ea"/>
                <a:sym typeface="+mn-lt"/>
              </a:endParaRPr>
            </a:p>
          </p:txBody>
        </p:sp>
      </p:grpSp>
      <p:grpSp>
        <p:nvGrpSpPr>
          <p:cNvPr id="81" name="组合 80"/>
          <p:cNvGrpSpPr/>
          <p:nvPr>
            <p:custDataLst>
              <p:tags r:id="rId5"/>
            </p:custDataLst>
          </p:nvPr>
        </p:nvGrpSpPr>
        <p:grpSpPr>
          <a:xfrm>
            <a:off x="5879370" y="4815906"/>
            <a:ext cx="5195026" cy="720969"/>
            <a:chOff x="5879370" y="4340926"/>
            <a:chExt cx="5195026" cy="720969"/>
          </a:xfrm>
        </p:grpSpPr>
        <p:grpSp>
          <p:nvGrpSpPr>
            <p:cNvPr id="82" name="组合 81"/>
            <p:cNvGrpSpPr/>
            <p:nvPr/>
          </p:nvGrpSpPr>
          <p:grpSpPr>
            <a:xfrm>
              <a:off x="6463212" y="4461004"/>
              <a:ext cx="4611184" cy="568369"/>
              <a:chOff x="5969726" y="1809726"/>
              <a:chExt cx="3852000" cy="568369"/>
            </a:xfrm>
          </p:grpSpPr>
          <p:sp>
            <p:nvSpPr>
              <p:cNvPr id="83" name="矩形 82"/>
              <p:cNvSpPr/>
              <p:nvPr>
                <p:custDataLst>
                  <p:tags r:id="rId7"/>
                </p:custDataLst>
              </p:nvPr>
            </p:nvSpPr>
            <p:spPr>
              <a:xfrm>
                <a:off x="5969726" y="1809726"/>
                <a:ext cx="3852000" cy="56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4" name="矩形 83"/>
              <p:cNvSpPr/>
              <p:nvPr>
                <p:custDataLst>
                  <p:tags r:id="rId8"/>
                </p:custDataLst>
              </p:nvPr>
            </p:nvSpPr>
            <p:spPr>
              <a:xfrm>
                <a:off x="6155957" y="1816911"/>
                <a:ext cx="1935095"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经费执行情况</a:t>
                </a:r>
              </a:p>
            </p:txBody>
          </p:sp>
        </p:grpSp>
        <p:sp>
          <p:nvSpPr>
            <p:cNvPr id="85" name="椭圆 84"/>
            <p:cNvSpPr/>
            <p:nvPr>
              <p:custDataLst>
                <p:tags r:id="rId6"/>
              </p:custDataLst>
            </p:nvPr>
          </p:nvSpPr>
          <p:spPr>
            <a:xfrm>
              <a:off x="5879370" y="4340926"/>
              <a:ext cx="720969" cy="720969"/>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sz="2800" b="1">
                  <a:solidFill>
                    <a:srgbClr val="C00000"/>
                  </a:solidFill>
                  <a:latin typeface="微软雅黑" panose="020B0503020204020204" pitchFamily="34" charset="-122"/>
                  <a:ea typeface="微软雅黑" panose="020B0503020204020204" pitchFamily="34" charset="-122"/>
                  <a:cs typeface="+mn-ea"/>
                  <a:sym typeface="+mn-lt"/>
                </a:rPr>
                <a:t>五</a:t>
              </a:r>
              <a:endParaRPr lang="zh-CN" altLang="en-US" sz="28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梯形 35"/>
          <p:cNvSpPr/>
          <p:nvPr/>
        </p:nvSpPr>
        <p:spPr>
          <a:xfrm>
            <a:off x="11823121" y="6648553"/>
            <a:ext cx="322751" cy="163444"/>
          </a:xfrm>
          <a:prstGeom prst="trapezoi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7" name="Slide Number Placeholder 5"/>
          <p:cNvSpPr txBox="1"/>
          <p:nvPr/>
        </p:nvSpPr>
        <p:spPr>
          <a:xfrm>
            <a:off x="11862960" y="6653826"/>
            <a:ext cx="243070" cy="185126"/>
          </a:xfrm>
          <a:prstGeom prst="rect">
            <a:avLst/>
          </a:prstGeom>
        </p:spPr>
        <p:txBody>
          <a:bodyPr lIns="0" tIns="0" r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fld id="{EB98E537-25EF-43DC-B8D6-11C85BFF54C2}" type="slidenum">
              <a:rPr lang="zh-CN" altLang="en-US" sz="1200" b="1"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62</a:t>
            </a:fld>
            <a:endPar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11" name="ïṧ1íḍé"/>
          <p:cNvSpPr>
            <a:spLocks noGrp="1"/>
          </p:cNvSpPr>
          <p:nvPr>
            <p:custDataLst>
              <p:tags r:id="rId1"/>
            </p:custDataLst>
          </p:nvPr>
        </p:nvSpPr>
        <p:spPr>
          <a:xfrm>
            <a:off x="141633" y="-28574"/>
            <a:ext cx="11331417" cy="7395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3000" b="1" kern="1200">
                <a:solidFill>
                  <a:sysClr val="window" lastClr="FFFFFF"/>
                </a:solidFill>
                <a:latin typeface="+mn-ea"/>
                <a:ea typeface="+mn-ea"/>
                <a:cs typeface="+mj-cs"/>
              </a:defRPr>
            </a:lvl1pPr>
          </a:lstStyle>
          <a:p>
            <a:pPr marR="0" lvl="0" algn="just" fontAlgn="auto">
              <a:lnSpc>
                <a:spcPct val="100000"/>
              </a:lnSpc>
              <a:spcBef>
                <a:spcPts val="0"/>
              </a:spcBef>
              <a:spcAft>
                <a:spcPts val="0"/>
              </a:spcAft>
              <a:buClrTx/>
              <a:buSzTx/>
              <a:buFontTx/>
              <a:buNone/>
              <a:defRPr/>
            </a:pPr>
            <a:r>
              <a:rPr lang="en-US" altLang="zh-CN" sz="2400" b="1" dirty="0">
                <a:solidFill>
                  <a:srgbClr val="002060"/>
                </a:solidFill>
                <a:latin typeface="微软雅黑" panose="020B0503020204020204" pitchFamily="34" charset="-122"/>
                <a:ea typeface="微软雅黑" panose="020B0503020204020204" pitchFamily="34" charset="-122"/>
              </a:rPr>
              <a:t>5.1 </a:t>
            </a:r>
            <a:r>
              <a:rPr sz="2400" b="1" dirty="0">
                <a:solidFill>
                  <a:srgbClr val="002060"/>
                </a:solidFill>
                <a:latin typeface="微软雅黑" panose="020B0503020204020204" pitchFamily="34" charset="-122"/>
                <a:ea typeface="微软雅黑" panose="020B0503020204020204" pitchFamily="34" charset="-122"/>
              </a:rPr>
              <a:t>经费执行情况</a:t>
            </a:r>
            <a:endParaRPr sz="2400" b="1" spc="200" dirty="0">
              <a:solidFill>
                <a:srgbClr val="002060"/>
              </a:solidFill>
              <a:latin typeface="微软雅黑" panose="020B0503020204020204" pitchFamily="34" charset="-122"/>
              <a:ea typeface="微软雅黑" panose="020B0503020204020204" pitchFamily="34" charset="-122"/>
            </a:endParaRPr>
          </a:p>
        </p:txBody>
      </p:sp>
      <p:graphicFrame>
        <p:nvGraphicFramePr>
          <p:cNvPr id="3" name="表格 2"/>
          <p:cNvGraphicFramePr/>
          <p:nvPr/>
        </p:nvGraphicFramePr>
        <p:xfrm>
          <a:off x="1582420" y="1017270"/>
          <a:ext cx="8798091" cy="5539740"/>
        </p:xfrm>
        <a:graphic>
          <a:graphicData uri="http://schemas.openxmlformats.org/drawingml/2006/table">
            <a:tbl>
              <a:tblPr/>
              <a:tblGrid>
                <a:gridCol w="1818075">
                  <a:extLst>
                    <a:ext uri="{9D8B030D-6E8A-4147-A177-3AD203B41FA5}">
                      <a16:colId xmlns:a16="http://schemas.microsoft.com/office/drawing/2014/main" val="20000"/>
                    </a:ext>
                  </a:extLst>
                </a:gridCol>
                <a:gridCol w="1450345">
                  <a:extLst>
                    <a:ext uri="{9D8B030D-6E8A-4147-A177-3AD203B41FA5}">
                      <a16:colId xmlns:a16="http://schemas.microsoft.com/office/drawing/2014/main" val="20001"/>
                    </a:ext>
                  </a:extLst>
                </a:gridCol>
                <a:gridCol w="1521570">
                  <a:extLst>
                    <a:ext uri="{9D8B030D-6E8A-4147-A177-3AD203B41FA5}">
                      <a16:colId xmlns:a16="http://schemas.microsoft.com/office/drawing/2014/main" val="20002"/>
                    </a:ext>
                  </a:extLst>
                </a:gridCol>
                <a:gridCol w="2277110">
                  <a:extLst>
                    <a:ext uri="{9D8B030D-6E8A-4147-A177-3AD203B41FA5}">
                      <a16:colId xmlns:a16="http://schemas.microsoft.com/office/drawing/2014/main" val="20003"/>
                    </a:ext>
                  </a:extLst>
                </a:gridCol>
                <a:gridCol w="1730991">
                  <a:extLst>
                    <a:ext uri="{9D8B030D-6E8A-4147-A177-3AD203B41FA5}">
                      <a16:colId xmlns:a16="http://schemas.microsoft.com/office/drawing/2014/main" val="20004"/>
                    </a:ext>
                  </a:extLst>
                </a:gridCol>
              </a:tblGrid>
              <a:tr h="491490">
                <a:tc>
                  <a:txBody>
                    <a:bodyPr/>
                    <a:lstStyle/>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rPr>
                        <a:t>研发经费项目</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rPr>
                        <a:t>预算金额（万元）</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buNone/>
                      </a:pPr>
                      <a:r>
                        <a:rPr lang="zh-CN" altLang="en-US" sz="1200" b="1">
                          <a:latin typeface="Times New Roman" panose="02020603050405020304" pitchFamily="18" charset="0"/>
                          <a:ea typeface="宋体" panose="02010600030101010101" pitchFamily="2" charset="-122"/>
                        </a:rPr>
                        <a:t>结算金额（万元）</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cs typeface="Times New Roman" panose="02020603050405020304" pitchFamily="18" charset="0"/>
                        </a:rPr>
                        <a:t>结算金额占研发经费合计</a:t>
                      </a:r>
                    </a:p>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cs typeface="Times New Roman" panose="02020603050405020304" pitchFamily="18" charset="0"/>
                        </a:rPr>
                        <a:t>的比例（</a:t>
                      </a:r>
                      <a:r>
                        <a:rPr lang="en-US" altLang="zh-CN" sz="1200" b="1">
                          <a:latin typeface="Times New Roman" panose="02020603050405020304" pitchFamily="18" charset="0"/>
                          <a:ea typeface="Times New Roman" panose="02020603050405020304"/>
                          <a:cs typeface="Times New Roman" panose="02020603050405020304" pitchFamily="18" charset="0"/>
                        </a:rPr>
                        <a:t>%</a:t>
                      </a:r>
                      <a:r>
                        <a:rPr lang="zh-CN" sz="1200" b="1">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rPr>
                        <a:t>简要说明</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500380">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1</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latin typeface="Times New Roman" panose="02020603050405020304" pitchFamily="18" charset="0"/>
                          <a:ea typeface="宋体" panose="02010600030101010101" pitchFamily="2" charset="-122"/>
                          <a:cs typeface="Times New Roman" panose="02020603050405020304" pitchFamily="18" charset="0"/>
                        </a:rPr>
                        <a:t>人员人工费用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01015">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2</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latin typeface="Times New Roman" panose="02020603050405020304" pitchFamily="18" charset="0"/>
                          <a:ea typeface="宋体" panose="02010600030101010101" pitchFamily="2" charset="-122"/>
                          <a:cs typeface="Times New Roman" panose="02020603050405020304" pitchFamily="18" charset="0"/>
                        </a:rPr>
                        <a:t>直接投入费用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499745">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3</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latin typeface="Times New Roman" panose="02020603050405020304" pitchFamily="18" charset="0"/>
                          <a:ea typeface="宋体" panose="02010600030101010101" pitchFamily="2" charset="-122"/>
                          <a:cs typeface="Times New Roman" panose="02020603050405020304" pitchFamily="18" charset="0"/>
                        </a:rPr>
                        <a:t>折旧费用与长期待摊费用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520065">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4</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latin typeface="Times New Roman" panose="02020603050405020304" pitchFamily="18" charset="0"/>
                          <a:ea typeface="宋体" panose="02010600030101010101" pitchFamily="2" charset="-122"/>
                          <a:cs typeface="Times New Roman" panose="02020603050405020304" pitchFamily="18" charset="0"/>
                        </a:rPr>
                        <a:t>无形资产摊销费用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500380">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5</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设计费用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499745">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6</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装备调试费用与试验费用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501015">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7</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委托外部研究开发费用</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500380">
                <a:tc>
                  <a:txBody>
                    <a:bodyPr/>
                    <a:lstStyle/>
                    <a:p>
                      <a:pPr marL="0" indent="0" algn="l">
                        <a:lnSpc>
                          <a:spcPct val="150000"/>
                        </a:lnSpc>
                        <a:spcBef>
                          <a:spcPct val="0"/>
                        </a:spcBef>
                        <a:spcAft>
                          <a:spcPct val="0"/>
                        </a:spcAft>
                      </a:pPr>
                      <a:r>
                        <a:rPr lang="en-US" altLang="zh-CN" sz="1200" b="1">
                          <a:latin typeface="Times New Roman" panose="02020603050405020304" pitchFamily="18" charset="0"/>
                          <a:ea typeface="宋体" panose="02010600030101010101" pitchFamily="2" charset="-122"/>
                          <a:cs typeface="Times New Roman" panose="02020603050405020304" pitchFamily="18" charset="0"/>
                        </a:rPr>
                        <a:t>8</a:t>
                      </a:r>
                      <a:r>
                        <a:rPr lang="zh-CN" altLang="en-US" sz="1200" b="1">
                          <a:latin typeface="Times New Roman" panose="02020603050405020304" pitchFamily="18" charset="0"/>
                          <a:ea typeface="宋体" panose="02010600030101010101" pitchFamily="2" charset="-122"/>
                          <a:cs typeface="Times New Roman" panose="02020603050405020304" pitchFamily="18" charset="0"/>
                        </a:rPr>
                        <a:t>、</a:t>
                      </a:r>
                      <a:r>
                        <a:rPr lang="zh-CN" sz="12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其他费用（包括论文、知识产权申请费，科技成果评价费等）</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r h="500380">
                <a:tc>
                  <a:txBody>
                    <a:bodyPr/>
                    <a:lstStyle/>
                    <a:p>
                      <a:pPr marL="0" indent="0" algn="ctr">
                        <a:lnSpc>
                          <a:spcPct val="150000"/>
                        </a:lnSpc>
                        <a:spcBef>
                          <a:spcPct val="0"/>
                        </a:spcBef>
                        <a:spcAft>
                          <a:spcPct val="0"/>
                        </a:spcAft>
                      </a:pPr>
                      <a:r>
                        <a:rPr lang="zh-CN" sz="1200" b="1">
                          <a:latin typeface="Times New Roman" panose="02020603050405020304" pitchFamily="18" charset="0"/>
                          <a:ea typeface="宋体" panose="02010600030101010101" pitchFamily="2" charset="-122"/>
                        </a:rPr>
                        <a:t>研发经费合计</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buNone/>
                      </a:pPr>
                      <a:endParaRPr lang="en-US" altLang="zh-CN" sz="1200" b="1">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304800" algn="just">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ct val="150000"/>
                        </a:lnSpc>
                        <a:spcBef>
                          <a:spcPct val="0"/>
                        </a:spcBef>
                        <a:spcAft>
                          <a:spcPct val="0"/>
                        </a:spcAft>
                      </a:pPr>
                      <a:r>
                        <a:rPr lang="en-US" altLang="zh-CN" sz="1200" b="1">
                          <a:latin typeface="Times New Roman" panose="02020603050405020304"/>
                          <a:ea typeface="Times New Roman" panose="02020603050405020304"/>
                        </a:rPr>
                        <a:t>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advTm="5000">
        <p:blinds dir="vert"/>
      </p:transition>
    </mc:Choice>
    <mc:Fallback xmlns="">
      <p:transition spd="slow" advTm="5000">
        <p:blinds dir="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电路,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t="15432" b="28468"/>
          <a:stretch>
            <a:fillRect/>
          </a:stretch>
        </p:blipFill>
        <p:spPr>
          <a:xfrm>
            <a:off x="0" y="5945"/>
            <a:ext cx="12192000" cy="2792458"/>
          </a:xfrm>
          <a:prstGeom prst="rect">
            <a:avLst/>
          </a:prstGeom>
        </p:spPr>
      </p:pic>
      <p:sp>
        <p:nvSpPr>
          <p:cNvPr id="39" name="矩形 38"/>
          <p:cNvSpPr/>
          <p:nvPr/>
        </p:nvSpPr>
        <p:spPr>
          <a:xfrm rot="10800000" flipV="1">
            <a:off x="0" y="0"/>
            <a:ext cx="12192000" cy="2798403"/>
          </a:xfrm>
          <a:prstGeom prst="rect">
            <a:avLst/>
          </a:prstGeom>
          <a:gradFill>
            <a:gsLst>
              <a:gs pos="34000">
                <a:srgbClr val="14818A">
                  <a:alpha val="50000"/>
                </a:srgbClr>
              </a:gs>
              <a:gs pos="85000">
                <a:srgbClr val="2163B0">
                  <a:alpha val="80000"/>
                </a:srgbClr>
              </a:gs>
              <a:gs pos="0">
                <a:srgbClr val="00B050">
                  <a:alpha val="28000"/>
                </a:srgbClr>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1" name="矩形 50"/>
          <p:cNvSpPr/>
          <p:nvPr/>
        </p:nvSpPr>
        <p:spPr>
          <a:xfrm flipH="1">
            <a:off x="0" y="2705100"/>
            <a:ext cx="12192000" cy="93303"/>
          </a:xfrm>
          <a:prstGeom prst="rect">
            <a:avLst/>
          </a:prstGeom>
          <a:gradFill>
            <a:gsLst>
              <a:gs pos="19000">
                <a:srgbClr val="FFC000"/>
              </a:gs>
              <a:gs pos="92000">
                <a:srgbClr val="FFC000">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048000" y="4434300"/>
            <a:ext cx="6374617" cy="706755"/>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dist" defTabSz="457200" rtl="0" eaLnBrk="1" fontAlgn="auto" latinLnBrk="0" hangingPunct="1">
              <a:lnSpc>
                <a:spcPct val="100000"/>
              </a:lnSpc>
              <a:spcBef>
                <a:spcPts val="0"/>
              </a:spcBef>
              <a:spcAft>
                <a:spcPts val="0"/>
              </a:spcAft>
              <a:buClrTx/>
              <a:buSzTx/>
              <a:buFontTx/>
              <a:buNone/>
              <a:defRPr/>
            </a:pPr>
            <a:r>
              <a:rPr lang="zh-CN" altLang="en-US" sz="4000" b="1" dirty="0">
                <a:solidFill>
                  <a:srgbClr val="0070C0"/>
                </a:solidFill>
                <a:effectLst>
                  <a:glow rad="63500">
                    <a:schemeClr val="bg1"/>
                  </a:glow>
                </a:effectLst>
                <a:latin typeface="微软雅黑" panose="020B0503020204020204" pitchFamily="34" charset="-122"/>
                <a:ea typeface="微软雅黑" panose="020B0503020204020204" pitchFamily="34" charset="-122"/>
              </a:rPr>
              <a:t>敬请各位批评指正！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Q0NjI2ODQzN2U3OTYyNGQ0NTcyYmMxZDdjNWNhYW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50.67559055118113,&quot;left&quot;:462.94251968503943,&quot;top&quot;:85.2988188976378,&quot;width&quot;:409.05748031496057}"/>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302mdey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756</TotalTime>
  <Words>5613</Words>
  <Application>Microsoft Office PowerPoint</Application>
  <PresentationFormat>宽屏</PresentationFormat>
  <Paragraphs>640</Paragraphs>
  <Slides>63</Slides>
  <Notes>63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63</vt:i4>
      </vt:variant>
    </vt:vector>
  </HeadingPairs>
  <TitlesOfParts>
    <vt:vector size="74" baseType="lpstr">
      <vt:lpstr>等线</vt:lpstr>
      <vt:lpstr>黑体</vt:lpstr>
      <vt:lpstr>微软雅黑</vt:lpstr>
      <vt:lpstr>Arial</vt:lpstr>
      <vt:lpstr>Calibri</vt:lpstr>
      <vt:lpstr>Calibri Light</vt:lpstr>
      <vt:lpstr>Cambria Math</vt:lpstr>
      <vt:lpstr>Times New Roman</vt:lpstr>
      <vt:lpstr>Wingdings</vt:lpstr>
      <vt:lpstr>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A1385</dc:creator>
  <cp:lastModifiedBy>bo hua</cp:lastModifiedBy>
  <cp:revision>1056</cp:revision>
  <dcterms:created xsi:type="dcterms:W3CDTF">2021-11-12T02:21:00Z</dcterms:created>
  <dcterms:modified xsi:type="dcterms:W3CDTF">2025-11-19T02:09:23Z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23CF2886CDDE4F708CD6E779C95F5ECA_13</vt:lpwstr>
  </property>
  <property fmtid="{D5CDD505-2E9C-101B-9397-08002B2CF9AE}" pid="3" name="KSOProductBuildVer">
    <vt:lpwstr>2052-12.1.0.23125</vt:lpwstr>
  </property>
</Properties>
</file>